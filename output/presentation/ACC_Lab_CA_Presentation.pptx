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Marcellus" panose="020B0604020202020204" charset="0"/>
      <p:regular r:id="rId21"/>
    </p:embeddedFont>
  </p:embeddedFontLst>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73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Presenter: Parth</a:t>
            </a:r>
          </a:p>
          <a:p>
            <a:pPr marL="0" lvl="0" indent="0" algn="l">
              <a:lnSpc>
                <a:spcPct val="100000"/>
              </a:lnSpc>
              <a:spcBef>
                <a:spcPts val="0"/>
              </a:spcBef>
              <a:spcAft>
                <a:spcPts val="0"/>
              </a:spcAft>
              <a:buSzPts val="1100"/>
              <a:buNone/>
            </a:pPr>
            <a:r>
              <a:t>Suggested time: 15 seconds</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We built an ML-based predictive cloud resource manager. This presentation replaces the live walkthrough with captured execution evidence and measured comparisons. The approved title is ML-Based Predictive Cloud Resource Management with SLA-Aware Auto-Scaling, Cost Optimization, and Adaptive Workload Handling.</a:t>
            </a:r>
          </a:p>
          <a:p>
            <a:pPr marL="0" lvl="0" indent="0" algn="l">
              <a:lnSpc>
                <a:spcPct val="100000"/>
              </a:lnSpc>
              <a:spcBef>
                <a:spcPts val="0"/>
              </a:spcBef>
              <a:spcAft>
                <a:spcPts val="0"/>
              </a:spcAft>
              <a:buSzPts val="1100"/>
              <a:buNone/>
            </a:pPr>
            <a:endParaRPr/>
          </a:p>
          <a:p>
            <a:pPr marL="0" lvl="0" indent="0" algn="l">
              <a:lnSpc>
                <a:spcPct val="100000"/>
              </a:lnSpc>
              <a:spcBef>
                <a:spcPts val="0"/>
              </a:spcBef>
              <a:spcAft>
                <a:spcPts val="0"/>
              </a:spcAft>
              <a:buSzPts val="1100"/>
              <a:buNone/>
            </a:pPr>
            <a:r>
              <a:t>Evidence sources:</a:t>
            </a:r>
          </a:p>
          <a:p>
            <a:pPr marL="0" lvl="0" indent="0" algn="l">
              <a:lnSpc>
                <a:spcPct val="100000"/>
              </a:lnSpc>
              <a:spcBef>
                <a:spcPts val="0"/>
              </a:spcBef>
              <a:spcAft>
                <a:spcPts val="0"/>
              </a:spcAft>
              <a:buSzPts val="1100"/>
              <a:buNone/>
            </a:pPr>
            <a:r>
              <a:t>Repository: https://github.com/parth1056/accml</a:t>
            </a:r>
          </a:p>
          <a:p>
            <a:pPr marL="0" lvl="0" indent="0" algn="l">
              <a:lnSpc>
                <a:spcPct val="100000"/>
              </a:lnSpc>
              <a:spcBef>
                <a:spcPts val="0"/>
              </a:spcBef>
              <a:spcAft>
                <a:spcPts val="0"/>
              </a:spcAft>
              <a:buSzPts val="1100"/>
              <a:buNone/>
            </a:pPr>
            <a:r>
              <a:t>Core code at commit 64f7a68. Main benchmark records retain their original source/model fingerprints.</a:t>
            </a:r>
          </a:p>
          <a:p>
            <a:pPr marL="0" lvl="0" indent="0" algn="l">
              <a:lnSpc>
                <a:spcPct val="100000"/>
              </a:lnSpc>
              <a:spcBef>
                <a:spcPts val="0"/>
              </a:spcBef>
              <a:spcAft>
                <a:spcPts val="0"/>
              </a:spcAft>
              <a:buSzPts val="1100"/>
              <a:buNone/>
            </a:pPr>
            <a:r>
              <a:t>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Parth</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Our target is a p95 latency of at most 250 milliseconds and at least 99 percent successful requests. Prediction helps because workers need time to become ready. The controller also limits allocation and responds when its prediction is wrong. These are project targets rather than an external cloud service guarantee.</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scaler/policy.py</a:t>
            </a:r>
          </a:p>
          <a:p>
            <a:pPr marL="0" lvl="0" indent="0" algn="l">
              <a:spcBef>
                <a:spcPts val="0"/>
              </a:spcBef>
              <a:spcAft>
                <a:spcPts val="0"/>
              </a:spcAft>
              <a:buNone/>
            </a:pPr>
            <a:r>
              <a:t>scaler/experiment.py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Parth</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Docker Desktop runs a dedicated Minikube cluster. A host load generator sends real HTTP traffic through the gateway to ready worker pods. The controller collects demand and latency, forecasts future workload, and updates the worker deployment. The final box represents the feedback controller. This scales application replicas on one local node, not physical cloud servers.</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scaler/fleet.py</a:t>
            </a:r>
          </a:p>
          <a:p>
            <a:pPr marL="0" lvl="0" indent="0" algn="l">
              <a:spcBef>
                <a:spcPts val="0"/>
              </a:spcBef>
              <a:spcAft>
                <a:spcPts val="0"/>
              </a:spcAft>
              <a:buNone/>
            </a:pPr>
            <a:r>
              <a:t>scaler/gateway.py</a:t>
            </a:r>
          </a:p>
          <a:p>
            <a:pPr marL="0" lvl="0" indent="0" algn="l">
              <a:spcBef>
                <a:spcPts val="0"/>
              </a:spcBef>
              <a:spcAft>
                <a:spcPts val="0"/>
              </a:spcAft>
              <a:buNone/>
            </a:pPr>
            <a:r>
              <a:t>scaler/worker.py</a:t>
            </a:r>
          </a:p>
          <a:p>
            <a:pPr marL="0" lvl="0" indent="0" algn="l">
              <a:spcBef>
                <a:spcPts val="0"/>
              </a:spcBef>
              <a:spcAft>
                <a:spcPts val="0"/>
              </a:spcAft>
              <a:buNone/>
            </a:pPr>
            <a:r>
              <a:t>k8s/application.yaml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Parth</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There are ten input features: six completed demand windows plus their mean, standard deviation, maximum and slope. Offered demand comes from actual sends, including requests still in flight. Latency and pod readiness guide the controller but are not model features. The target is the maximum offered rate over the following three windows, so the feature window never includes future demand.</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planning_pilot/pilot.py:features and supervised</a:t>
            </a:r>
          </a:p>
          <a:p>
            <a:pPr marL="0" lvl="0" indent="0" algn="l">
              <a:spcBef>
                <a:spcPts val="0"/>
              </a:spcBef>
              <a:spcAft>
                <a:spcPts val="0"/>
              </a:spcAft>
              <a:buNone/>
            </a:pPr>
            <a:r>
              <a:t>scaler/traffic.py:Load.window</a:t>
            </a:r>
          </a:p>
          <a:p>
            <a:pPr marL="0" lvl="0" indent="0" algn="l">
              <a:spcBef>
                <a:spcPts val="0"/>
              </a:spcBef>
              <a:spcAft>
                <a:spcPts val="0"/>
              </a:spcAft>
              <a:buNone/>
            </a:pPr>
            <a:r>
              <a:t>scaler/experiment.py:run_once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Parth</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We use standardized Ridge regression because inference is fast and its coefficients can be inspected. Synthetic training, validation and test traces use separate seeds. Validation selects alpha ten and an underprediction buffer. The saved model supplies online predictions. The two test settings must be distinguished: Ridge beats persistence on the synthetic holdout, but persistence has lower MAE across the 64 recorded replay targets. The controller therefore needs its observed-demand and SLA safeguards.</a:t>
            </a:r>
          </a:p>
          <a:p>
            <a:pPr marL="0" lvl="0" indent="0" algn="l">
              <a:spcBef>
                <a:spcPts val="0"/>
              </a:spcBef>
              <a:spcAft>
                <a:spcPts val="0"/>
              </a:spcAft>
              <a:buNone/>
            </a:pPr>
            <a:endParaRPr/>
          </a:p>
          <a:p>
            <a:pPr marL="0" lvl="0" indent="0" algn="l">
              <a:spcBef>
                <a:spcPts val="0"/>
              </a:spcBef>
              <a:spcAft>
                <a:spcPts val="0"/>
              </a:spcAft>
              <a:buNone/>
            </a:pPr>
            <a:r>
              <a:t>Sources: scaler/forecast.py; output/training_evaluation.json; output/evaluation/forecast_diagnostics.json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Parth</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Before scaling, we calibrate the real CPU workload. Eighteen requests per second passed repeated one-worker checks, so a twenty-percent reserve gives a safe rate of fourteen point four. The controller takes the larger of observed demand and forecast plus buffer, divides by safe capacity, and rounds up. It adds latency or error rescue when no previous scale-out is pending. Downscale waits for stability and removes capacity gradually. Bounds and a hard budget cap always constrain allocation.</a:t>
            </a:r>
          </a:p>
          <a:p>
            <a:pPr marL="0" lvl="0" indent="0" algn="l">
              <a:spcBef>
                <a:spcPts val="0"/>
              </a:spcBef>
              <a:spcAft>
                <a:spcPts val="0"/>
              </a:spcAft>
              <a:buNone/>
            </a:pPr>
            <a:endParaRPr/>
          </a:p>
          <a:p>
            <a:pPr marL="0" lvl="0" indent="0" algn="l">
              <a:spcBef>
                <a:spcPts val="0"/>
              </a:spcBef>
              <a:spcAft>
                <a:spcPts val="0"/>
              </a:spcAft>
              <a:buNone/>
            </a:pPr>
            <a:r>
              <a:t>Sources: output/live/calibration-kubernetes.json; scaler/policy.py; k8s/application.yaml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Purab</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Both gateway and worker are ready before a demonstration begins. The CPU workload performs sixty thousand PBKDF2 iterations per request and each worker has a quarter-core CPU limit. A host load generator sends real HTTP requests. The controller uses the saved model, while a read-only dashboard displays the measurements. The next screenshots follow one four-minute flash-demand demonstration. Its first minute is warm-up, and it is separate from the frozen comparison suite.</a:t>
            </a:r>
          </a:p>
          <a:p>
            <a:pPr marL="0" lvl="0" indent="0" algn="l">
              <a:spcBef>
                <a:spcPts val="0"/>
              </a:spcBef>
              <a:spcAft>
                <a:spcPts val="0"/>
              </a:spcAft>
              <a:buNone/>
            </a:pPr>
            <a:endParaRPr/>
          </a:p>
          <a:p>
            <a:pPr marL="0" lvl="0" indent="0" algn="l">
              <a:spcBef>
                <a:spcPts val="0"/>
              </a:spcBef>
              <a:spcAft>
                <a:spcPts val="0"/>
              </a:spcAft>
              <a:buNone/>
            </a:pPr>
            <a:r>
              <a:t>Sources: k8s/application.yaml; scaler/worker.py; output/evidence/presentation/cluster-ready.txt; output/live/20261024T231509Z-kubernetes-flash-guarded_predictive-5ae1/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Purab</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20 seconds</a:t>
            </a:r>
          </a:p>
          <a:p>
            <a:pPr marL="0" lvl="0" indent="0" algn="l">
              <a:spcBef>
                <a:spcPts val="0"/>
              </a:spcBef>
              <a:spcAft>
                <a:spcPts val="0"/>
              </a:spcAft>
              <a:buNone/>
            </a:pPr>
            <a:r>
              <a:t>Target: 2 workers The model needs six windows.</a:t>
            </a:r>
          </a:p>
          <a:p>
            <a:pPr marL="0" lvl="0" indent="0" algn="l">
              <a:spcBef>
                <a:spcPts val="0"/>
              </a:spcBef>
              <a:spcAft>
                <a:spcPts val="0"/>
              </a:spcAft>
              <a:buNone/>
            </a:pPr>
            <a:endParaRPr/>
          </a:p>
          <a:p>
            <a:pPr marL="0" lvl="0" indent="0" algn="l">
              <a:spcBef>
                <a:spcPts val="0"/>
              </a:spcBef>
              <a:spcAft>
                <a:spcPts val="0"/>
              </a:spcAft>
              <a:buNone/>
            </a:pPr>
            <a:r>
              <a:t>Observed demand already exceeds one worker’s safe rate.</a:t>
            </a:r>
          </a:p>
          <a:p>
            <a:pPr marL="0" lvl="0" indent="0" algn="l">
              <a:spcBef>
                <a:spcPts val="0"/>
              </a:spcBef>
              <a:spcAft>
                <a:spcPts val="0"/>
              </a:spcAft>
              <a:buNone/>
            </a:pPr>
            <a:endParaRPr/>
          </a:p>
          <a:p>
            <a:pPr marL="0" lvl="0" indent="0" algn="l">
              <a:spcBef>
                <a:spcPts val="0"/>
              </a:spcBef>
              <a:spcAft>
                <a:spcPts val="0"/>
              </a:spcAft>
              <a:buNone/>
            </a:pPr>
            <a:r>
              <a:t>The cards show state before the latest decision.</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output/live/20261024T231509Z-kubernetes-flash-guarded_predictive-5ae1/decisions.csv</a:t>
            </a:r>
          </a:p>
          <a:p>
            <a:pPr marL="0" lvl="0" indent="0" algn="l">
              <a:spcBef>
                <a:spcPts val="0"/>
              </a:spcBef>
              <a:spcAft>
                <a:spcPts val="0"/>
              </a:spcAft>
              <a:buNone/>
            </a:pPr>
            <a:r>
              <a:t>runtime/slides/demo-start.png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Purab</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39.4 RPS observed</a:t>
            </a:r>
          </a:p>
          <a:p>
            <a:pPr marL="0" lvl="0" indent="0" algn="l">
              <a:spcBef>
                <a:spcPts val="0"/>
              </a:spcBef>
              <a:spcAft>
                <a:spcPts val="0"/>
              </a:spcAft>
              <a:buNone/>
            </a:pPr>
            <a:r>
              <a:t>47.7 RPS forecast Four workers are ready.</a:t>
            </a:r>
          </a:p>
          <a:p>
            <a:pPr marL="0" lvl="0" indent="0" algn="l">
              <a:spcBef>
                <a:spcPts val="0"/>
              </a:spcBef>
              <a:spcAft>
                <a:spcPts val="0"/>
              </a:spcAft>
              <a:buNone/>
            </a:pPr>
            <a:endParaRPr/>
          </a:p>
          <a:p>
            <a:pPr marL="0" lvl="0" indent="0" algn="l">
              <a:spcBef>
                <a:spcPts val="0"/>
              </a:spcBef>
              <a:spcAft>
                <a:spcPts val="0"/>
              </a:spcAft>
              <a:buNone/>
            </a:pPr>
            <a:r>
              <a:t>p95 is 64.3 ms in this window.</a:t>
            </a:r>
          </a:p>
          <a:p>
            <a:pPr marL="0" lvl="0" indent="0" algn="l">
              <a:spcBef>
                <a:spcPts val="0"/>
              </a:spcBef>
              <a:spcAft>
                <a:spcPts val="0"/>
              </a:spcAft>
              <a:buNone/>
            </a:pPr>
            <a:endParaRPr/>
          </a:p>
          <a:p>
            <a:pPr marL="0" lvl="0" indent="0" algn="l">
              <a:spcBef>
                <a:spcPts val="0"/>
              </a:spcBef>
              <a:spcAft>
                <a:spcPts val="0"/>
              </a:spcAft>
              <a:buNone/>
            </a:pPr>
            <a:r>
              <a:t>The trend shows earlier real scale-out actions.</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output/live/20261024T231509Z-kubernetes-flash-guarded_predictive-5ae1/decisions.csv</a:t>
            </a:r>
          </a:p>
          <a:p>
            <a:pPr marL="0" lvl="0" indent="0" algn="l">
              <a:spcBef>
                <a:spcPts val="0"/>
              </a:spcBef>
              <a:spcAft>
                <a:spcPts val="0"/>
              </a:spcAft>
              <a:buNone/>
            </a:pPr>
            <a:r>
              <a:t>runtime/slides/demo-forecast.png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Purab</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110 seconds</a:t>
            </a:r>
          </a:p>
          <a:p>
            <a:pPr marL="0" lvl="0" indent="0" algn="l">
              <a:spcBef>
                <a:spcPts val="0"/>
              </a:spcBef>
              <a:spcAft>
                <a:spcPts val="0"/>
              </a:spcAft>
              <a:buNone/>
            </a:pPr>
            <a:r>
              <a:t>Target: 3 workers Demand falls to 15.3 RPS.</a:t>
            </a:r>
          </a:p>
          <a:p>
            <a:pPr marL="0" lvl="0" indent="0" algn="l">
              <a:spcBef>
                <a:spcPts val="0"/>
              </a:spcBef>
              <a:spcAft>
                <a:spcPts val="0"/>
              </a:spcAft>
              <a:buNone/>
            </a:pPr>
            <a:endParaRPr/>
          </a:p>
          <a:p>
            <a:pPr marL="0" lvl="0" indent="0" algn="l">
              <a:spcBef>
                <a:spcPts val="0"/>
              </a:spcBef>
              <a:spcAft>
                <a:spcPts val="0"/>
              </a:spcAft>
              <a:buNone/>
            </a:pPr>
            <a:r>
              <a:t>The controller waits before scaling down.</a:t>
            </a:r>
          </a:p>
          <a:p>
            <a:pPr marL="0" lvl="0" indent="0" algn="l">
              <a:spcBef>
                <a:spcPts val="0"/>
              </a:spcBef>
              <a:spcAft>
                <a:spcPts val="0"/>
              </a:spcAft>
              <a:buNone/>
            </a:pPr>
            <a:endParaRPr/>
          </a:p>
          <a:p>
            <a:pPr marL="0" lvl="0" indent="0" algn="l">
              <a:spcBef>
                <a:spcPts val="0"/>
              </a:spcBef>
              <a:spcAft>
                <a:spcPts val="0"/>
              </a:spcAft>
              <a:buNone/>
            </a:pPr>
            <a:r>
              <a:t>Ready / desired still shows 4 / 4 before applying the new target.</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output/live/20261024T231509Z-kubernetes-flash-guarded_predictive-5ae1/decisions.csv</a:t>
            </a:r>
          </a:p>
          <a:p>
            <a:pPr marL="0" lvl="0" indent="0" algn="l">
              <a:spcBef>
                <a:spcPts val="0"/>
              </a:spcBef>
              <a:spcAft>
                <a:spcPts val="0"/>
              </a:spcAft>
              <a:buNone/>
            </a:pPr>
            <a:r>
              <a:t>runtime/slides/demo-downscale.png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Purab</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Completed run</a:t>
            </a:r>
          </a:p>
          <a:p>
            <a:pPr marL="0" lvl="0" indent="0" algn="l">
              <a:spcBef>
                <a:spcPts val="0"/>
              </a:spcBef>
              <a:spcAft>
                <a:spcPts val="0"/>
              </a:spcAft>
              <a:buNone/>
            </a:pPr>
            <a:r>
              <a:t>Ceiling: 4 workers The graph records the burst and recovery.</a:t>
            </a:r>
          </a:p>
          <a:p>
            <a:pPr marL="0" lvl="0" indent="0" algn="l">
              <a:spcBef>
                <a:spcPts val="0"/>
              </a:spcBef>
              <a:spcAft>
                <a:spcPts val="0"/>
              </a:spcAft>
              <a:buNone/>
            </a:pPr>
            <a:endParaRPr/>
          </a:p>
          <a:p>
            <a:pPr marL="0" lvl="0" indent="0" algn="l">
              <a:spcBef>
                <a:spcPts val="0"/>
              </a:spcBef>
              <a:spcAft>
                <a:spcPts val="0"/>
              </a:spcAft>
              <a:buNone/>
            </a:pPr>
            <a:r>
              <a:t>The deployment never exceeds four workers.</a:t>
            </a:r>
          </a:p>
          <a:p>
            <a:pPr marL="0" lvl="0" indent="0" algn="l">
              <a:spcBef>
                <a:spcPts val="0"/>
              </a:spcBef>
              <a:spcAft>
                <a:spcPts val="0"/>
              </a:spcAft>
              <a:buNone/>
            </a:pPr>
            <a:endParaRPr/>
          </a:p>
          <a:p>
            <a:pPr marL="0" lvl="0" indent="0" algn="l">
              <a:spcBef>
                <a:spcPts val="0"/>
              </a:spcBef>
              <a:spcAft>
                <a:spcPts val="0"/>
              </a:spcAft>
              <a:buNone/>
            </a:pPr>
            <a:r>
              <a:t>The cards show the final recorded window.</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output/live/20261024T231509Z-kubernetes-flash-guarded_predictive-5ae1/decisions.csv</a:t>
            </a:r>
          </a:p>
          <a:p>
            <a:pPr marL="0" lvl="0" indent="0" algn="l">
              <a:spcBef>
                <a:spcPts val="0"/>
              </a:spcBef>
              <a:spcAft>
                <a:spcPts val="0"/>
              </a:spcAft>
              <a:buNone/>
            </a:pPr>
            <a:r>
              <a:t>runtime/slides/demo-burst.png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Purab</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The twelve-run suite holds planned arrivals, model, code and service configuration constant within the comparison. Warm-up is excluded from scored results. All requests succeeded in the main suite. Guarded prediction has no violating scored windows in its four runs. It saves ten point seven percent allocation versus fixed maximum capacity in periodic demand and two percent in flash demand. Reactive uses less allocation, but one periodic repeat reaches about five hundred four milliseconds p95. This is a cost and service-quality trade-off.</a:t>
            </a:r>
          </a:p>
          <a:p>
            <a:pPr marL="0" lvl="0" indent="0" algn="l">
              <a:spcBef>
                <a:spcPts val="0"/>
              </a:spcBef>
              <a:spcAft>
                <a:spcPts val="0"/>
              </a:spcAft>
              <a:buNone/>
            </a:pPr>
            <a:endParaRPr/>
          </a:p>
          <a:p>
            <a:pPr marL="0" lvl="0" indent="0" algn="l">
              <a:spcBef>
                <a:spcPts val="0"/>
              </a:spcBef>
              <a:spcAft>
                <a:spcPts val="0"/>
              </a:spcAft>
              <a:buNone/>
            </a:pPr>
            <a:r>
              <a:t>Sources: output/live/matrix.json; output/evaluation/audit.json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Pushkar</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This table reports periodic-demand averages across two repeats. Reactive has higher utilization because it runs fewer workers. Guarded keeps more headroom and therefore costs more than reactive. Cost multiplies allocated replica-hours by an illustrative rate. Energy combines assumed idle power with measured worker CPU time. Gateway, host and fixed infrastructure overhead are excluded, so these are relative proxies rather than a bill or physical power measurement.</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output/evaluation/audit.json</a:t>
            </a:r>
          </a:p>
          <a:p>
            <a:pPr marL="0" lvl="0" indent="0" algn="l">
              <a:spcBef>
                <a:spcPts val="0"/>
              </a:spcBef>
              <a:spcAft>
                <a:spcPts val="0"/>
              </a:spcAft>
              <a:buNone/>
            </a:pPr>
            <a:r>
              <a:t>scaler/experiment.py:summarize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Pushkar</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13.35% failures</a:t>
            </a:r>
          </a:p>
          <a:p>
            <a:pPr marL="0" lvl="0" indent="0" algn="l">
              <a:spcBef>
                <a:spcPts val="0"/>
              </a:spcBef>
              <a:spcAft>
                <a:spcPts val="0"/>
              </a:spcAft>
              <a:buNone/>
            </a:pPr>
            <a:r>
              <a:t>1,547.7 ms run p95 The predictor deliberately returns zero.</a:t>
            </a:r>
          </a:p>
          <a:p>
            <a:pPr marL="0" lvl="0" indent="0" algn="l">
              <a:spcBef>
                <a:spcPts val="0"/>
              </a:spcBef>
              <a:spcAft>
                <a:spcPts val="0"/>
              </a:spcAft>
              <a:buNone/>
            </a:pPr>
            <a:endParaRPr/>
          </a:p>
          <a:p>
            <a:pPr marL="0" lvl="0" indent="0" algn="l">
              <a:spcBef>
                <a:spcPts val="0"/>
              </a:spcBef>
              <a:spcAft>
                <a:spcPts val="0"/>
              </a:spcAft>
              <a:buNone/>
            </a:pPr>
            <a:r>
              <a:t>Plain prediction removes capacity despite rising demand.</a:t>
            </a:r>
          </a:p>
          <a:p>
            <a:pPr marL="0" lvl="0" indent="0" algn="l">
              <a:spcBef>
                <a:spcPts val="0"/>
              </a:spcBef>
              <a:spcAft>
                <a:spcPts val="0"/>
              </a:spcAft>
              <a:buNone/>
            </a:pPr>
            <a:endParaRPr/>
          </a:p>
          <a:p>
            <a:pPr marL="0" lvl="0" indent="0" algn="l">
              <a:spcBef>
                <a:spcPts val="0"/>
              </a:spcBef>
              <a:spcAft>
                <a:spcPts val="0"/>
              </a:spcAft>
              <a:buNone/>
            </a:pPr>
            <a:r>
              <a:t>The screenshot shows one overloaded window.</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output/evaluation/fault_checks.json</a:t>
            </a:r>
          </a:p>
          <a:p>
            <a:pPr marL="0" lvl="0" indent="0" algn="l">
              <a:spcBef>
                <a:spcPts val="0"/>
              </a:spcBef>
              <a:spcAft>
                <a:spcPts val="0"/>
              </a:spcAft>
              <a:buNone/>
            </a:pPr>
            <a:r>
              <a:t>output/evidence/zero_forecast_plain.png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Pushkar</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0% failures</a:t>
            </a:r>
          </a:p>
          <a:p>
            <a:pPr marL="0" lvl="0" indent="0" algn="l">
              <a:spcBef>
                <a:spcPts val="0"/>
              </a:spcBef>
              <a:spcAft>
                <a:spcPts val="0"/>
              </a:spcAft>
              <a:buNone/>
            </a:pPr>
            <a:r>
              <a:t>215.1 ms run p95 Same planned workload and zero forecast.</a:t>
            </a:r>
          </a:p>
          <a:p>
            <a:pPr marL="0" lvl="0" indent="0" algn="l">
              <a:spcBef>
                <a:spcPts val="0"/>
              </a:spcBef>
              <a:spcAft>
                <a:spcPts val="0"/>
              </a:spcAft>
              <a:buNone/>
            </a:pPr>
            <a:endParaRPr/>
          </a:p>
          <a:p>
            <a:pPr marL="0" lvl="0" indent="0" algn="l">
              <a:spcBef>
                <a:spcPts val="0"/>
              </a:spcBef>
              <a:spcAft>
                <a:spcPts val="0"/>
              </a:spcAft>
              <a:buNone/>
            </a:pPr>
            <a:r>
              <a:t>Guarded scaling adds capacity using observed demand and SLA signals.</a:t>
            </a:r>
          </a:p>
          <a:p>
            <a:pPr marL="0" lvl="0" indent="0" algn="l">
              <a:spcBef>
                <a:spcPts val="0"/>
              </a:spcBef>
              <a:spcAft>
                <a:spcPts val="0"/>
              </a:spcAft>
              <a:buNone/>
            </a:pPr>
            <a:endParaRPr/>
          </a:p>
          <a:p>
            <a:pPr marL="0" lvl="0" indent="0" algn="l">
              <a:spcBef>
                <a:spcPts val="0"/>
              </a:spcBef>
              <a:spcAft>
                <a:spcPts val="0"/>
              </a:spcAft>
              <a:buNone/>
            </a:pPr>
            <a:r>
              <a:t>One scored window still violates the target.</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output/evaluation/fault_checks.json</a:t>
            </a:r>
          </a:p>
          <a:p>
            <a:pPr marL="0" lvl="0" indent="0" algn="l">
              <a:spcBef>
                <a:spcPts val="0"/>
              </a:spcBef>
              <a:spcAft>
                <a:spcPts val="0"/>
              </a:spcAft>
              <a:buNone/>
            </a:pPr>
            <a:r>
              <a:t>output/evidence/zero_forecast_guarded.png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Pushkar</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The separate budget stress test limits allocation to one worker. The controller obeys that bound, but latency and errors increase when demand needs more capacity. This is a real resource trade-off: a strict budget and a strict latency objective may conflict. The run records the capacity limit so an operator can explain the service degradation.</a:t>
            </a:r>
          </a:p>
          <a:p>
            <a:pPr marL="0" lvl="0" indent="0" algn="l">
              <a:spcBef>
                <a:spcPts val="0"/>
              </a:spcBef>
              <a:spcAft>
                <a:spcPts val="0"/>
              </a:spcAft>
              <a:buNone/>
            </a:pPr>
            <a:endParaRPr/>
          </a:p>
          <a:p>
            <a:pPr marL="0" lvl="0" indent="0" algn="l">
              <a:spcBef>
                <a:spcPts val="0"/>
              </a:spcBef>
              <a:spcAft>
                <a:spcPts val="0"/>
              </a:spcAft>
              <a:buNone/>
            </a:pPr>
            <a:r>
              <a:t>Evidence sources:</a:t>
            </a:r>
          </a:p>
          <a:p>
            <a:pPr marL="0" lvl="0" indent="0" algn="l">
              <a:spcBef>
                <a:spcPts val="0"/>
              </a:spcBef>
              <a:spcAft>
                <a:spcPts val="0"/>
              </a:spcAft>
              <a:buNone/>
            </a:pPr>
            <a:r>
              <a:t>Repository: https://github.com/parth1056/accml</a:t>
            </a:r>
          </a:p>
          <a:p>
            <a:pPr marL="0" lvl="0" indent="0" algn="l">
              <a:spcBef>
                <a:spcPts val="0"/>
              </a:spcBef>
              <a:spcAft>
                <a:spcPts val="0"/>
              </a:spcAft>
              <a:buNone/>
            </a:pPr>
            <a:r>
              <a:t>Core code at commit 64f7a68. Main benchmark records retain their original source/model fingerprints.</a:t>
            </a:r>
          </a:p>
          <a:p>
            <a:pPr marL="0" lvl="0" indent="0" algn="l">
              <a:spcBef>
                <a:spcPts val="0"/>
              </a:spcBef>
              <a:spcAft>
                <a:spcPts val="0"/>
              </a:spcAft>
              <a:buNone/>
            </a:pPr>
            <a:r>
              <a:t>output/evaluation/fault_checks.json</a:t>
            </a:r>
          </a:p>
          <a:p>
            <a:pPr marL="0" lvl="0" indent="0" algn="l">
              <a:spcBef>
                <a:spcPts val="0"/>
              </a:spcBef>
              <a:spcAft>
                <a:spcPts val="0"/>
              </a:spcAft>
              <a:buNone/>
            </a:pPr>
            <a:r>
              <a:t>scaler/policy.py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Pushkar</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This is an implemented local Kubernetes prototype. Latency, request failures, worker CPU and actual replica actions are measured. Arrivals are synthetic, all pods share one laptop, and adding replicas does not add physical cloud machines. Cost and energy are explicit proxies rather than a cloud bill or a physical power measurement. We have also shown that forecast quality varies by workload. These boundaries make the results interpretable and identify what needs validation before deployment on a real cloud service.</a:t>
            </a:r>
          </a:p>
          <a:p>
            <a:pPr marL="0" lvl="0" indent="0" algn="l">
              <a:spcBef>
                <a:spcPts val="0"/>
              </a:spcBef>
              <a:spcAft>
                <a:spcPts val="0"/>
              </a:spcAft>
              <a:buNone/>
            </a:pPr>
            <a:endParaRPr/>
          </a:p>
          <a:p>
            <a:pPr marL="0" lvl="0" indent="0" algn="l">
              <a:spcBef>
                <a:spcPts val="0"/>
              </a:spcBef>
              <a:spcAft>
                <a:spcPts val="0"/>
              </a:spcAft>
              <a:buNone/>
            </a:pPr>
            <a:r>
              <a:t>Sources: scaler/experiment.py; output/evaluation/audit.json; output/evaluation/forecast_diagnostics.json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Presenter: Pushkar</a:t>
            </a:r>
          </a:p>
          <a:p>
            <a:pPr marL="0" lvl="0" indent="0" algn="l">
              <a:spcBef>
                <a:spcPts val="0"/>
              </a:spcBef>
              <a:spcAft>
                <a:spcPts val="0"/>
              </a:spcAft>
              <a:buNone/>
            </a:pPr>
            <a:r>
              <a:t>Suggested time: 25 seconds</a:t>
            </a:r>
          </a:p>
          <a:p>
            <a:pPr marL="0" lvl="0" indent="0" algn="l">
              <a:spcBef>
                <a:spcPts val="0"/>
              </a:spcBef>
              <a:spcAft>
                <a:spcPts val="0"/>
              </a:spcAft>
              <a:buNone/>
            </a:pPr>
            <a:endParaRPr/>
          </a:p>
          <a:p>
            <a:pPr marL="0" lvl="0" indent="0" algn="l">
              <a:spcBef>
                <a:spcPts val="0"/>
              </a:spcBef>
              <a:spcAft>
                <a:spcPts val="0"/>
              </a:spcAft>
              <a:buNone/>
            </a:pPr>
            <a:r>
              <a:t>The complete system combines a trained workload predictor with an SLA-aware allocation policy and real Kubernetes control. The strongest result is its guarded behaviour, especially when a forecast fails. It trades some headroom for stable latency and reduces allocation compared with always keeping maximum capacity. The next step is broader forecast validation followed by fresh matched controller experiments. This completes the demonstration.</a:t>
            </a:r>
          </a:p>
          <a:p>
            <a:pPr marL="0" lvl="0" indent="0" algn="l">
              <a:spcBef>
                <a:spcPts val="0"/>
              </a:spcBef>
              <a:spcAft>
                <a:spcPts val="0"/>
              </a:spcAft>
              <a:buNone/>
            </a:pPr>
            <a:endParaRPr/>
          </a:p>
          <a:p>
            <a:pPr marL="0" lvl="0" indent="0" algn="l">
              <a:spcBef>
                <a:spcPts val="0"/>
              </a:spcBef>
              <a:spcAft>
                <a:spcPts val="0"/>
              </a:spcAft>
              <a:buNone/>
            </a:pPr>
            <a:r>
              <a:t>Sources: README.md; output/evaluation/audit.json; output/evaluation/fault_checks.json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12" name="Google Shape;12;p2">
            <a:extLst>
              <a:ext uri="{FF2B5EF4-FFF2-40B4-BE49-F238E27FC236}">
                <a16:creationId xmlns:a16="http://schemas.microsoft.com/office/drawing/2014/main" id="{6A9CCA8C-9665-4D4D-BD37-A37447FF6BFC}"/>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3" name="Google Shape;13;p2">
            <a:extLst>
              <a:ext uri="{FF2B5EF4-FFF2-40B4-BE49-F238E27FC236}">
                <a16:creationId xmlns:a16="http://schemas.microsoft.com/office/drawing/2014/main" id="{2564BBF4-0E63-4D0F-84CE-32552658BA87}"/>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4" name="Google Shape;14;p2">
            <a:extLst>
              <a:ext uri="{FF2B5EF4-FFF2-40B4-BE49-F238E27FC236}">
                <a16:creationId xmlns:a16="http://schemas.microsoft.com/office/drawing/2014/main" id="{052AC077-5A4D-4932-9914-D56DAA7BDEB3}"/>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16" name="Google Shape;16;p3">
            <a:extLst>
              <a:ext uri="{FF2B5EF4-FFF2-40B4-BE49-F238E27FC236}">
                <a16:creationId xmlns:a16="http://schemas.microsoft.com/office/drawing/2014/main" id="{A92BDCCF-C5B1-4FB6-9898-9866F2ABC9FF}"/>
              </a:ext>
            </a:extLst>
          </p:cNvPr>
          <p:cNvSpPr>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7" name="Google Shape;17;p3">
            <a:extLst>
              <a:ext uri="{FF2B5EF4-FFF2-40B4-BE49-F238E27FC236}">
                <a16:creationId xmlns:a16="http://schemas.microsoft.com/office/drawing/2014/main" id="{2632272A-C468-4118-BBC7-AEA9E959F768}"/>
              </a:ext>
            </a:extLst>
          </p:cNvPr>
          <p:cNvSpPr>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ormAutofit/>
          </a:bodyPr>
          <a:lstStyle>
            <a:lvl1pPr algn="ctr">
              <a:lnSpc>
                <a:spcPct val="100000"/>
              </a:lnSpc>
              <a:spcBef>
                <a:spcPts val="640"/>
              </a:spcBef>
              <a:spcAft>
                <a:spcPts val="0"/>
              </a:spcAft>
              <a:buClr>
                <a:srgbClr val="888888"/>
              </a:buClr>
              <a:buSzPts val="3200"/>
              <a:buNone/>
              <a:defRPr>
                <a:solidFill>
                  <a:srgbClr val="888888"/>
                </a:solidFill>
              </a:defRPr>
            </a:lvl1pPr>
            <a:lvl2pPr algn="ctr">
              <a:lnSpc>
                <a:spcPct val="100000"/>
              </a:lnSpc>
              <a:spcBef>
                <a:spcPts val="560"/>
              </a:spcBef>
              <a:spcAft>
                <a:spcPts val="0"/>
              </a:spcAft>
              <a:buClr>
                <a:srgbClr val="888888"/>
              </a:buClr>
              <a:buSzPts val="2800"/>
              <a:buNone/>
              <a:defRPr>
                <a:solidFill>
                  <a:srgbClr val="888888"/>
                </a:solidFill>
              </a:defRPr>
            </a:lvl2pPr>
            <a:lvl3pPr algn="ctr">
              <a:lnSpc>
                <a:spcPct val="100000"/>
              </a:lnSpc>
              <a:spcBef>
                <a:spcPts val="480"/>
              </a:spcBef>
              <a:spcAft>
                <a:spcPts val="0"/>
              </a:spcAft>
              <a:buClr>
                <a:srgbClr val="888888"/>
              </a:buClr>
              <a:buSzPts val="2400"/>
              <a:buNone/>
              <a:defRPr>
                <a:solidFill>
                  <a:srgbClr val="888888"/>
                </a:solidFill>
              </a:defRPr>
            </a:lvl3pPr>
            <a:lvl4pPr algn="ctr">
              <a:lnSpc>
                <a:spcPct val="100000"/>
              </a:lnSpc>
              <a:spcBef>
                <a:spcPts val="400"/>
              </a:spcBef>
              <a:spcAft>
                <a:spcPts val="0"/>
              </a:spcAft>
              <a:buClr>
                <a:srgbClr val="888888"/>
              </a:buClr>
              <a:buSzPts val="2000"/>
              <a:buNone/>
              <a:defRPr>
                <a:solidFill>
                  <a:srgbClr val="888888"/>
                </a:solidFill>
              </a:defRPr>
            </a:lvl4pPr>
            <a:lvl5pPr algn="ctr">
              <a:lnSpc>
                <a:spcPct val="100000"/>
              </a:lnSpc>
              <a:spcBef>
                <a:spcPts val="400"/>
              </a:spcBef>
              <a:spcAft>
                <a:spcPts val="0"/>
              </a:spcAft>
              <a:buClr>
                <a:srgbClr val="888888"/>
              </a:buClr>
              <a:buSzPts val="2000"/>
              <a:buNone/>
              <a:defRPr>
                <a:solidFill>
                  <a:srgbClr val="888888"/>
                </a:solidFill>
              </a:defRPr>
            </a:lvl5pPr>
            <a:lvl6pPr algn="ctr">
              <a:lnSpc>
                <a:spcPct val="100000"/>
              </a:lnSpc>
              <a:spcBef>
                <a:spcPts val="400"/>
              </a:spcBef>
              <a:spcAft>
                <a:spcPts val="0"/>
              </a:spcAft>
              <a:buClr>
                <a:srgbClr val="888888"/>
              </a:buClr>
              <a:buSzPts val="2000"/>
              <a:buNone/>
              <a:defRPr>
                <a:solidFill>
                  <a:srgbClr val="888888"/>
                </a:solidFill>
              </a:defRPr>
            </a:lvl6pPr>
            <a:lvl7pPr algn="ctr">
              <a:lnSpc>
                <a:spcPct val="100000"/>
              </a:lnSpc>
              <a:spcBef>
                <a:spcPts val="400"/>
              </a:spcBef>
              <a:spcAft>
                <a:spcPts val="0"/>
              </a:spcAft>
              <a:buClr>
                <a:srgbClr val="888888"/>
              </a:buClr>
              <a:buSzPts val="2000"/>
              <a:buNone/>
              <a:defRPr>
                <a:solidFill>
                  <a:srgbClr val="888888"/>
                </a:solidFill>
              </a:defRPr>
            </a:lvl7pPr>
            <a:lvl8pPr algn="ctr">
              <a:lnSpc>
                <a:spcPct val="100000"/>
              </a:lnSpc>
              <a:spcBef>
                <a:spcPts val="400"/>
              </a:spcBef>
              <a:spcAft>
                <a:spcPts val="0"/>
              </a:spcAft>
              <a:buClr>
                <a:srgbClr val="888888"/>
              </a:buClr>
              <a:buSzPts val="2000"/>
              <a:buNone/>
              <a:defRPr>
                <a:solidFill>
                  <a:srgbClr val="888888"/>
                </a:solidFill>
              </a:defRPr>
            </a:lvl8pPr>
            <a:lvl9pPr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3">
            <a:extLst>
              <a:ext uri="{FF2B5EF4-FFF2-40B4-BE49-F238E27FC236}">
                <a16:creationId xmlns:a16="http://schemas.microsoft.com/office/drawing/2014/main" id="{7F641535-7F1C-462B-821C-CB9F6616F6A9}"/>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9" name="Google Shape;19;p3">
            <a:extLst>
              <a:ext uri="{FF2B5EF4-FFF2-40B4-BE49-F238E27FC236}">
                <a16:creationId xmlns:a16="http://schemas.microsoft.com/office/drawing/2014/main" id="{4A42D94A-F698-45FB-B426-C7A8B23DCEA3}"/>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0" name="Google Shape;20;p3">
            <a:extLst>
              <a:ext uri="{FF2B5EF4-FFF2-40B4-BE49-F238E27FC236}">
                <a16:creationId xmlns:a16="http://schemas.microsoft.com/office/drawing/2014/main" id="{F00BD52B-60D1-4944-ABE1-A4C489DDBFB3}"/>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
        <p:cNvGrpSpPr/>
        <p:nvPr/>
      </p:nvGrpSpPr>
      <p:grpSpPr>
        <a:xfrm>
          <a:off x="0" y="0"/>
          <a:ext cx="0" cy="0"/>
          <a:chOff x="0" y="0"/>
          <a:chExt cx="0" cy="0"/>
        </a:xfrm>
      </p:grpSpPr>
      <p:sp>
        <p:nvSpPr>
          <p:cNvPr id="22" name="Google Shape;22;p4">
            <a:extLst>
              <a:ext uri="{FF2B5EF4-FFF2-40B4-BE49-F238E27FC236}">
                <a16:creationId xmlns:a16="http://schemas.microsoft.com/office/drawing/2014/main" id="{323CCEE0-7192-4B3A-81C4-9237168F06AB}"/>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3" name="Google Shape;23;p4">
            <a:extLst>
              <a:ext uri="{FF2B5EF4-FFF2-40B4-BE49-F238E27FC236}">
                <a16:creationId xmlns:a16="http://schemas.microsoft.com/office/drawing/2014/main" id="{E7246952-CFA9-4CA5-B5FC-9832EE99294C}"/>
              </a:ext>
            </a:extLst>
          </p:cNvPr>
          <p:cNvSpPr>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ormAutofit/>
          </a:bodyPr>
          <a:lstStyle>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a:endParaRPr/>
          </a:p>
        </p:txBody>
      </p:sp>
      <p:sp>
        <p:nvSpPr>
          <p:cNvPr id="24" name="Google Shape;24;p4">
            <a:extLst>
              <a:ext uri="{FF2B5EF4-FFF2-40B4-BE49-F238E27FC236}">
                <a16:creationId xmlns:a16="http://schemas.microsoft.com/office/drawing/2014/main" id="{162B1513-7E1F-43F8-A5F1-209B4AE93381}"/>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5" name="Google Shape;25;p4">
            <a:extLst>
              <a:ext uri="{FF2B5EF4-FFF2-40B4-BE49-F238E27FC236}">
                <a16:creationId xmlns:a16="http://schemas.microsoft.com/office/drawing/2014/main" id="{A80BA1DD-C539-41AE-A0C7-7EF8E5928604}"/>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6" name="Google Shape;26;p4">
            <a:extLst>
              <a:ext uri="{FF2B5EF4-FFF2-40B4-BE49-F238E27FC236}">
                <a16:creationId xmlns:a16="http://schemas.microsoft.com/office/drawing/2014/main" id="{675B90E8-9A79-4B6A-B67D-65EF0FEEED42}"/>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28" name="Google Shape;28;p5">
            <a:extLst>
              <a:ext uri="{FF2B5EF4-FFF2-40B4-BE49-F238E27FC236}">
                <a16:creationId xmlns:a16="http://schemas.microsoft.com/office/drawing/2014/main" id="{CD8DCCED-6C4F-410C-9A8A-48C63A59DC43}"/>
              </a:ext>
            </a:extLst>
          </p:cNvPr>
          <p:cNvSpPr>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ormAutofit/>
          </a:bodyPr>
          <a:lstStyle>
            <a:lvl1pPr algn="l">
              <a:lnSpc>
                <a:spcPct val="100000"/>
              </a:lnSpc>
              <a:spcBef>
                <a:spcPts val="0"/>
              </a:spcBef>
              <a:spcAft>
                <a:spcPts val="0"/>
              </a:spcAft>
              <a:buClr>
                <a:schemeClr val="dk1"/>
              </a:buClr>
              <a:buSzPts val="4000"/>
              <a:buFont typeface="Calibri"/>
              <a:buNone/>
              <a:defRPr sz="4000" b="1"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9" name="Google Shape;29;p5">
            <a:extLst>
              <a:ext uri="{FF2B5EF4-FFF2-40B4-BE49-F238E27FC236}">
                <a16:creationId xmlns:a16="http://schemas.microsoft.com/office/drawing/2014/main" id="{1D019A84-96BB-4EC6-9A05-8C9FA869536F}"/>
              </a:ext>
            </a:extLst>
          </p:cNvPr>
          <p:cNvSpPr>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ormAutofit/>
          </a:bodyPr>
          <a:lstStyle>
            <a:lvl1pPr marL="457200" indent="-228600" algn="l">
              <a:lnSpc>
                <a:spcPct val="100000"/>
              </a:lnSpc>
              <a:spcBef>
                <a:spcPts val="400"/>
              </a:spcBef>
              <a:spcAft>
                <a:spcPts val="0"/>
              </a:spcAft>
              <a:buClr>
                <a:srgbClr val="888888"/>
              </a:buClr>
              <a:buSzPts val="2000"/>
              <a:buNone/>
              <a:defRPr sz="2000">
                <a:solidFill>
                  <a:srgbClr val="888888"/>
                </a:solidFill>
              </a:defRPr>
            </a:lvl1pPr>
            <a:lvl2pPr marL="914400" indent="-228600" algn="l">
              <a:lnSpc>
                <a:spcPct val="100000"/>
              </a:lnSpc>
              <a:spcBef>
                <a:spcPts val="360"/>
              </a:spcBef>
              <a:spcAft>
                <a:spcPts val="0"/>
              </a:spcAft>
              <a:buClr>
                <a:srgbClr val="888888"/>
              </a:buClr>
              <a:buSzPts val="1800"/>
              <a:buNone/>
              <a:defRPr sz="1800">
                <a:solidFill>
                  <a:srgbClr val="888888"/>
                </a:solidFill>
              </a:defRPr>
            </a:lvl2pPr>
            <a:lvl3pPr marL="1371600" indent="-228600" algn="l">
              <a:lnSpc>
                <a:spcPct val="100000"/>
              </a:lnSpc>
              <a:spcBef>
                <a:spcPts val="320"/>
              </a:spcBef>
              <a:spcAft>
                <a:spcPts val="0"/>
              </a:spcAft>
              <a:buClr>
                <a:srgbClr val="888888"/>
              </a:buClr>
              <a:buSzPts val="1600"/>
              <a:buNone/>
              <a:defRPr sz="1600">
                <a:solidFill>
                  <a:srgbClr val="888888"/>
                </a:solidFill>
              </a:defRPr>
            </a:lvl3pPr>
            <a:lvl4pPr marL="1828800" indent="-228600" algn="l">
              <a:lnSpc>
                <a:spcPct val="100000"/>
              </a:lnSpc>
              <a:spcBef>
                <a:spcPts val="280"/>
              </a:spcBef>
              <a:spcAft>
                <a:spcPts val="0"/>
              </a:spcAft>
              <a:buClr>
                <a:srgbClr val="888888"/>
              </a:buClr>
              <a:buSzPts val="1400"/>
              <a:buNone/>
              <a:defRPr sz="1400">
                <a:solidFill>
                  <a:srgbClr val="888888"/>
                </a:solidFill>
              </a:defRPr>
            </a:lvl4pPr>
            <a:lvl5pPr marL="2286000" indent="-228600" algn="l">
              <a:lnSpc>
                <a:spcPct val="100000"/>
              </a:lnSpc>
              <a:spcBef>
                <a:spcPts val="280"/>
              </a:spcBef>
              <a:spcAft>
                <a:spcPts val="0"/>
              </a:spcAft>
              <a:buClr>
                <a:srgbClr val="888888"/>
              </a:buClr>
              <a:buSzPts val="1400"/>
              <a:buNone/>
              <a:defRPr sz="1400">
                <a:solidFill>
                  <a:srgbClr val="888888"/>
                </a:solidFill>
              </a:defRPr>
            </a:lvl5pPr>
            <a:lvl6pPr marL="2743200" indent="-228600" algn="l">
              <a:lnSpc>
                <a:spcPct val="100000"/>
              </a:lnSpc>
              <a:spcBef>
                <a:spcPts val="280"/>
              </a:spcBef>
              <a:spcAft>
                <a:spcPts val="0"/>
              </a:spcAft>
              <a:buClr>
                <a:srgbClr val="888888"/>
              </a:buClr>
              <a:buSzPts val="1400"/>
              <a:buNone/>
              <a:defRPr sz="1400">
                <a:solidFill>
                  <a:srgbClr val="888888"/>
                </a:solidFill>
              </a:defRPr>
            </a:lvl6pPr>
            <a:lvl7pPr marL="3200400" indent="-228600" algn="l">
              <a:lnSpc>
                <a:spcPct val="100000"/>
              </a:lnSpc>
              <a:spcBef>
                <a:spcPts val="280"/>
              </a:spcBef>
              <a:spcAft>
                <a:spcPts val="0"/>
              </a:spcAft>
              <a:buClr>
                <a:srgbClr val="888888"/>
              </a:buClr>
              <a:buSzPts val="1400"/>
              <a:buNone/>
              <a:defRPr sz="1400">
                <a:solidFill>
                  <a:srgbClr val="888888"/>
                </a:solidFill>
              </a:defRPr>
            </a:lvl7pPr>
            <a:lvl8pPr marL="3657600" indent="-228600" algn="l">
              <a:lnSpc>
                <a:spcPct val="100000"/>
              </a:lnSpc>
              <a:spcBef>
                <a:spcPts val="280"/>
              </a:spcBef>
              <a:spcAft>
                <a:spcPts val="0"/>
              </a:spcAft>
              <a:buClr>
                <a:srgbClr val="888888"/>
              </a:buClr>
              <a:buSzPts val="1400"/>
              <a:buNone/>
              <a:defRPr sz="1400">
                <a:solidFill>
                  <a:srgbClr val="888888"/>
                </a:solidFill>
              </a:defRPr>
            </a:lvl8pPr>
            <a:lvl9pPr marL="4114800"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5">
            <a:extLst>
              <a:ext uri="{FF2B5EF4-FFF2-40B4-BE49-F238E27FC236}">
                <a16:creationId xmlns:a16="http://schemas.microsoft.com/office/drawing/2014/main" id="{08DB70E6-7A62-4B4C-B5AB-71EA5A3EC096}"/>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1" name="Google Shape;31;p5">
            <a:extLst>
              <a:ext uri="{FF2B5EF4-FFF2-40B4-BE49-F238E27FC236}">
                <a16:creationId xmlns:a16="http://schemas.microsoft.com/office/drawing/2014/main" id="{4A185E17-F641-43C8-8652-5E88878BA183}"/>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2" name="Google Shape;32;p5">
            <a:extLst>
              <a:ext uri="{FF2B5EF4-FFF2-40B4-BE49-F238E27FC236}">
                <a16:creationId xmlns:a16="http://schemas.microsoft.com/office/drawing/2014/main" id="{66ABE4FF-6D37-4670-9253-1824AFC03F8F}"/>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
        <p:cNvGrpSpPr/>
        <p:nvPr/>
      </p:nvGrpSpPr>
      <p:grpSpPr>
        <a:xfrm>
          <a:off x="0" y="0"/>
          <a:ext cx="0" cy="0"/>
          <a:chOff x="0" y="0"/>
          <a:chExt cx="0" cy="0"/>
        </a:xfrm>
      </p:grpSpPr>
      <p:sp>
        <p:nvSpPr>
          <p:cNvPr id="34" name="Google Shape;34;p6">
            <a:extLst>
              <a:ext uri="{FF2B5EF4-FFF2-40B4-BE49-F238E27FC236}">
                <a16:creationId xmlns:a16="http://schemas.microsoft.com/office/drawing/2014/main" id="{534814F0-BEC4-461C-BD89-447A548E4E60}"/>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5" name="Google Shape;35;p6">
            <a:extLst>
              <a:ext uri="{FF2B5EF4-FFF2-40B4-BE49-F238E27FC236}">
                <a16:creationId xmlns:a16="http://schemas.microsoft.com/office/drawing/2014/main" id="{318B0FAC-0A6E-4E70-8B57-AB3F82E96C2F}"/>
              </a:ext>
            </a:extLst>
          </p:cNvPr>
          <p:cNvSpPr>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ormAutofit/>
          </a:bodyPr>
          <a:lstStyle>
            <a:lvl1pPr marL="457200" indent="-406400" algn="l">
              <a:lnSpc>
                <a:spcPct val="100000"/>
              </a:lnSpc>
              <a:spcBef>
                <a:spcPts val="560"/>
              </a:spcBef>
              <a:spcAft>
                <a:spcPts val="0"/>
              </a:spcAft>
              <a:buClr>
                <a:schemeClr val="dk1"/>
              </a:buClr>
              <a:buSzPts val="2800"/>
              <a:buChar char="•"/>
              <a:defRPr sz="2800"/>
            </a:lvl1pPr>
            <a:lvl2pPr marL="914400" indent="-381000" algn="l">
              <a:lnSpc>
                <a:spcPct val="100000"/>
              </a:lnSpc>
              <a:spcBef>
                <a:spcPts val="480"/>
              </a:spcBef>
              <a:spcAft>
                <a:spcPts val="0"/>
              </a:spcAft>
              <a:buClr>
                <a:schemeClr val="dk1"/>
              </a:buClr>
              <a:buSzPts val="2400"/>
              <a:buChar char="–"/>
              <a:defRPr sz="2400"/>
            </a:lvl2pPr>
            <a:lvl3pPr marL="1371600" indent="-355600" algn="l">
              <a:lnSpc>
                <a:spcPct val="100000"/>
              </a:lnSpc>
              <a:spcBef>
                <a:spcPts val="400"/>
              </a:spcBef>
              <a:spcAft>
                <a:spcPts val="0"/>
              </a:spcAft>
              <a:buClr>
                <a:schemeClr val="dk1"/>
              </a:buClr>
              <a:buSzPts val="2000"/>
              <a:buChar char="•"/>
              <a:defRPr sz="2000"/>
            </a:lvl3pPr>
            <a:lvl4pPr marL="1828800" indent="-342900" algn="l">
              <a:lnSpc>
                <a:spcPct val="100000"/>
              </a:lnSpc>
              <a:spcBef>
                <a:spcPts val="360"/>
              </a:spcBef>
              <a:spcAft>
                <a:spcPts val="0"/>
              </a:spcAft>
              <a:buClr>
                <a:schemeClr val="dk1"/>
              </a:buClr>
              <a:buSzPts val="1800"/>
              <a:buChar char="–"/>
              <a:defRPr sz="1800"/>
            </a:lvl4pPr>
            <a:lvl5pPr marL="2286000" indent="-342900" algn="l">
              <a:lnSpc>
                <a:spcPct val="100000"/>
              </a:lnSpc>
              <a:spcBef>
                <a:spcPts val="360"/>
              </a:spcBef>
              <a:spcAft>
                <a:spcPts val="0"/>
              </a:spcAft>
              <a:buClr>
                <a:schemeClr val="dk1"/>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6">
            <a:extLst>
              <a:ext uri="{FF2B5EF4-FFF2-40B4-BE49-F238E27FC236}">
                <a16:creationId xmlns:a16="http://schemas.microsoft.com/office/drawing/2014/main" id="{52202E9D-35FB-4E77-9BA9-2B34BAF2EB7B}"/>
              </a:ext>
            </a:extLst>
          </p:cNvPr>
          <p:cNvSpPr>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ormAutofit/>
          </a:bodyPr>
          <a:lstStyle>
            <a:lvl1pPr marL="457200" indent="-406400" algn="l">
              <a:lnSpc>
                <a:spcPct val="100000"/>
              </a:lnSpc>
              <a:spcBef>
                <a:spcPts val="560"/>
              </a:spcBef>
              <a:spcAft>
                <a:spcPts val="0"/>
              </a:spcAft>
              <a:buClr>
                <a:schemeClr val="dk1"/>
              </a:buClr>
              <a:buSzPts val="2800"/>
              <a:buChar char="•"/>
              <a:defRPr sz="2800"/>
            </a:lvl1pPr>
            <a:lvl2pPr marL="914400" indent="-381000" algn="l">
              <a:lnSpc>
                <a:spcPct val="100000"/>
              </a:lnSpc>
              <a:spcBef>
                <a:spcPts val="480"/>
              </a:spcBef>
              <a:spcAft>
                <a:spcPts val="0"/>
              </a:spcAft>
              <a:buClr>
                <a:schemeClr val="dk1"/>
              </a:buClr>
              <a:buSzPts val="2400"/>
              <a:buChar char="–"/>
              <a:defRPr sz="2400"/>
            </a:lvl2pPr>
            <a:lvl3pPr marL="1371600" indent="-355600" algn="l">
              <a:lnSpc>
                <a:spcPct val="100000"/>
              </a:lnSpc>
              <a:spcBef>
                <a:spcPts val="400"/>
              </a:spcBef>
              <a:spcAft>
                <a:spcPts val="0"/>
              </a:spcAft>
              <a:buClr>
                <a:schemeClr val="dk1"/>
              </a:buClr>
              <a:buSzPts val="2000"/>
              <a:buChar char="•"/>
              <a:defRPr sz="2000"/>
            </a:lvl3pPr>
            <a:lvl4pPr marL="1828800" indent="-342900" algn="l">
              <a:lnSpc>
                <a:spcPct val="100000"/>
              </a:lnSpc>
              <a:spcBef>
                <a:spcPts val="360"/>
              </a:spcBef>
              <a:spcAft>
                <a:spcPts val="0"/>
              </a:spcAft>
              <a:buClr>
                <a:schemeClr val="dk1"/>
              </a:buClr>
              <a:buSzPts val="1800"/>
              <a:buChar char="–"/>
              <a:defRPr sz="1800"/>
            </a:lvl4pPr>
            <a:lvl5pPr marL="2286000" indent="-342900" algn="l">
              <a:lnSpc>
                <a:spcPct val="100000"/>
              </a:lnSpc>
              <a:spcBef>
                <a:spcPts val="360"/>
              </a:spcBef>
              <a:spcAft>
                <a:spcPts val="0"/>
              </a:spcAft>
              <a:buClr>
                <a:schemeClr val="dk1"/>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6">
            <a:extLst>
              <a:ext uri="{FF2B5EF4-FFF2-40B4-BE49-F238E27FC236}">
                <a16:creationId xmlns:a16="http://schemas.microsoft.com/office/drawing/2014/main" id="{5D3CC808-DF3E-48DB-A6C1-B52E0E944AC9}"/>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8" name="Google Shape;38;p6">
            <a:extLst>
              <a:ext uri="{FF2B5EF4-FFF2-40B4-BE49-F238E27FC236}">
                <a16:creationId xmlns:a16="http://schemas.microsoft.com/office/drawing/2014/main" id="{5CD45BCD-E47C-442F-BB7E-9B55D95426B1}"/>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9" name="Google Shape;39;p6">
            <a:extLst>
              <a:ext uri="{FF2B5EF4-FFF2-40B4-BE49-F238E27FC236}">
                <a16:creationId xmlns:a16="http://schemas.microsoft.com/office/drawing/2014/main" id="{F01E5BC2-0E83-4BD4-BACD-193240644F05}"/>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
        <p:cNvGrpSpPr/>
        <p:nvPr/>
      </p:nvGrpSpPr>
      <p:grpSpPr>
        <a:xfrm>
          <a:off x="0" y="0"/>
          <a:ext cx="0" cy="0"/>
          <a:chOff x="0" y="0"/>
          <a:chExt cx="0" cy="0"/>
        </a:xfrm>
      </p:grpSpPr>
      <p:sp>
        <p:nvSpPr>
          <p:cNvPr id="41" name="Google Shape;41;p7">
            <a:extLst>
              <a:ext uri="{FF2B5EF4-FFF2-40B4-BE49-F238E27FC236}">
                <a16:creationId xmlns:a16="http://schemas.microsoft.com/office/drawing/2014/main" id="{DB8C0CE9-8D4B-4BC8-BCF8-A1B9EE8FBB56}"/>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4400"/>
              <a:buFont typeface="Calibri"/>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2" name="Google Shape;42;p7">
            <a:extLst>
              <a:ext uri="{FF2B5EF4-FFF2-40B4-BE49-F238E27FC236}">
                <a16:creationId xmlns:a16="http://schemas.microsoft.com/office/drawing/2014/main" id="{72B2C5C8-7D46-4250-8746-750E150E38D5}"/>
              </a:ext>
            </a:extLst>
          </p:cNvPr>
          <p:cNvSpPr>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ormAutofit/>
          </a:bodyPr>
          <a:lstStyle>
            <a:lvl1pPr marL="457200" indent="-228600" algn="l">
              <a:lnSpc>
                <a:spcPct val="100000"/>
              </a:lnSpc>
              <a:spcBef>
                <a:spcPts val="480"/>
              </a:spcBef>
              <a:spcAft>
                <a:spcPts val="0"/>
              </a:spcAft>
              <a:buClr>
                <a:schemeClr val="dk1"/>
              </a:buClr>
              <a:buSzPts val="2400"/>
              <a:buNone/>
              <a:defRPr sz="2400" b="1"/>
            </a:lvl1pPr>
            <a:lvl2pPr marL="914400" indent="-228600" algn="l">
              <a:lnSpc>
                <a:spcPct val="100000"/>
              </a:lnSpc>
              <a:spcBef>
                <a:spcPts val="400"/>
              </a:spcBef>
              <a:spcAft>
                <a:spcPts val="0"/>
              </a:spcAft>
              <a:buClr>
                <a:schemeClr val="dk1"/>
              </a:buClr>
              <a:buSzPts val="2000"/>
              <a:buNone/>
              <a:defRPr sz="2000" b="1"/>
            </a:lvl2pPr>
            <a:lvl3pPr marL="1371600" indent="-228600" algn="l">
              <a:lnSpc>
                <a:spcPct val="100000"/>
              </a:lnSpc>
              <a:spcBef>
                <a:spcPts val="360"/>
              </a:spcBef>
              <a:spcAft>
                <a:spcPts val="0"/>
              </a:spcAft>
              <a:buClr>
                <a:schemeClr val="dk1"/>
              </a:buClr>
              <a:buSzPts val="1800"/>
              <a:buNone/>
              <a:defRPr sz="1800" b="1"/>
            </a:lvl3pPr>
            <a:lvl4pPr marL="1828800" indent="-228600" algn="l">
              <a:lnSpc>
                <a:spcPct val="100000"/>
              </a:lnSpc>
              <a:spcBef>
                <a:spcPts val="320"/>
              </a:spcBef>
              <a:spcAft>
                <a:spcPts val="0"/>
              </a:spcAft>
              <a:buClr>
                <a:schemeClr val="dk1"/>
              </a:buClr>
              <a:buSzPts val="1600"/>
              <a:buNone/>
              <a:defRPr sz="1600" b="1"/>
            </a:lvl4pPr>
            <a:lvl5pPr marL="2286000" indent="-228600" algn="l">
              <a:lnSpc>
                <a:spcPct val="100000"/>
              </a:lnSpc>
              <a:spcBef>
                <a:spcPts val="320"/>
              </a:spcBef>
              <a:spcAft>
                <a:spcPts val="0"/>
              </a:spcAft>
              <a:buClr>
                <a:schemeClr val="dk1"/>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a:endParaRPr/>
          </a:p>
        </p:txBody>
      </p:sp>
      <p:sp>
        <p:nvSpPr>
          <p:cNvPr id="43" name="Google Shape;43;p7">
            <a:extLst>
              <a:ext uri="{FF2B5EF4-FFF2-40B4-BE49-F238E27FC236}">
                <a16:creationId xmlns:a16="http://schemas.microsoft.com/office/drawing/2014/main" id="{9E85196B-BD17-416B-8F25-57BAF87625B0}"/>
              </a:ext>
            </a:extLst>
          </p:cNvPr>
          <p:cNvSpPr>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ormAutofit/>
          </a:bodyPr>
          <a:lstStyle>
            <a:lvl1pPr marL="457200" indent="-381000" algn="l">
              <a:lnSpc>
                <a:spcPct val="100000"/>
              </a:lnSpc>
              <a:spcBef>
                <a:spcPts val="480"/>
              </a:spcBef>
              <a:spcAft>
                <a:spcPts val="0"/>
              </a:spcAft>
              <a:buClr>
                <a:schemeClr val="dk1"/>
              </a:buClr>
              <a:buSzPts val="2400"/>
              <a:buChar char="•"/>
              <a:defRPr sz="2400"/>
            </a:lvl1pPr>
            <a:lvl2pPr marL="914400" indent="-355600" algn="l">
              <a:lnSpc>
                <a:spcPct val="100000"/>
              </a:lnSpc>
              <a:spcBef>
                <a:spcPts val="400"/>
              </a:spcBef>
              <a:spcAft>
                <a:spcPts val="0"/>
              </a:spcAft>
              <a:buClr>
                <a:schemeClr val="dk1"/>
              </a:buClr>
              <a:buSzPts val="2000"/>
              <a:buChar char="–"/>
              <a:defRPr sz="2000"/>
            </a:lvl2pPr>
            <a:lvl3pPr marL="1371600" indent="-342900" algn="l">
              <a:lnSpc>
                <a:spcPct val="100000"/>
              </a:lnSpc>
              <a:spcBef>
                <a:spcPts val="360"/>
              </a:spcBef>
              <a:spcAft>
                <a:spcPts val="0"/>
              </a:spcAft>
              <a:buClr>
                <a:schemeClr val="dk1"/>
              </a:buClr>
              <a:buSzPts val="1800"/>
              <a:buChar char="•"/>
              <a:defRPr sz="1800"/>
            </a:lvl3pPr>
            <a:lvl4pPr marL="1828800" indent="-330200" algn="l">
              <a:lnSpc>
                <a:spcPct val="100000"/>
              </a:lnSpc>
              <a:spcBef>
                <a:spcPts val="320"/>
              </a:spcBef>
              <a:spcAft>
                <a:spcPts val="0"/>
              </a:spcAft>
              <a:buClr>
                <a:schemeClr val="dk1"/>
              </a:buClr>
              <a:buSzPts val="1600"/>
              <a:buChar char="–"/>
              <a:defRPr sz="1600"/>
            </a:lvl4pPr>
            <a:lvl5pPr marL="2286000" indent="-330200" algn="l">
              <a:lnSpc>
                <a:spcPct val="100000"/>
              </a:lnSpc>
              <a:spcBef>
                <a:spcPts val="320"/>
              </a:spcBef>
              <a:spcAft>
                <a:spcPts val="0"/>
              </a:spcAft>
              <a:buClr>
                <a:schemeClr val="dk1"/>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7">
            <a:extLst>
              <a:ext uri="{FF2B5EF4-FFF2-40B4-BE49-F238E27FC236}">
                <a16:creationId xmlns:a16="http://schemas.microsoft.com/office/drawing/2014/main" id="{0F99C658-EE77-4D67-A883-EDEF5E994321}"/>
              </a:ext>
            </a:extLst>
          </p:cNvPr>
          <p:cNvSpPr>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ormAutofit/>
          </a:bodyPr>
          <a:lstStyle>
            <a:lvl1pPr marL="457200" indent="-228600" algn="l">
              <a:lnSpc>
                <a:spcPct val="100000"/>
              </a:lnSpc>
              <a:spcBef>
                <a:spcPts val="480"/>
              </a:spcBef>
              <a:spcAft>
                <a:spcPts val="0"/>
              </a:spcAft>
              <a:buClr>
                <a:schemeClr val="dk1"/>
              </a:buClr>
              <a:buSzPts val="2400"/>
              <a:buNone/>
              <a:defRPr sz="2400" b="1"/>
            </a:lvl1pPr>
            <a:lvl2pPr marL="914400" indent="-228600" algn="l">
              <a:lnSpc>
                <a:spcPct val="100000"/>
              </a:lnSpc>
              <a:spcBef>
                <a:spcPts val="400"/>
              </a:spcBef>
              <a:spcAft>
                <a:spcPts val="0"/>
              </a:spcAft>
              <a:buClr>
                <a:schemeClr val="dk1"/>
              </a:buClr>
              <a:buSzPts val="2000"/>
              <a:buNone/>
              <a:defRPr sz="2000" b="1"/>
            </a:lvl2pPr>
            <a:lvl3pPr marL="1371600" indent="-228600" algn="l">
              <a:lnSpc>
                <a:spcPct val="100000"/>
              </a:lnSpc>
              <a:spcBef>
                <a:spcPts val="360"/>
              </a:spcBef>
              <a:spcAft>
                <a:spcPts val="0"/>
              </a:spcAft>
              <a:buClr>
                <a:schemeClr val="dk1"/>
              </a:buClr>
              <a:buSzPts val="1800"/>
              <a:buNone/>
              <a:defRPr sz="1800" b="1"/>
            </a:lvl3pPr>
            <a:lvl4pPr marL="1828800" indent="-228600" algn="l">
              <a:lnSpc>
                <a:spcPct val="100000"/>
              </a:lnSpc>
              <a:spcBef>
                <a:spcPts val="320"/>
              </a:spcBef>
              <a:spcAft>
                <a:spcPts val="0"/>
              </a:spcAft>
              <a:buClr>
                <a:schemeClr val="dk1"/>
              </a:buClr>
              <a:buSzPts val="1600"/>
              <a:buNone/>
              <a:defRPr sz="1600" b="1"/>
            </a:lvl4pPr>
            <a:lvl5pPr marL="2286000" indent="-228600" algn="l">
              <a:lnSpc>
                <a:spcPct val="100000"/>
              </a:lnSpc>
              <a:spcBef>
                <a:spcPts val="320"/>
              </a:spcBef>
              <a:spcAft>
                <a:spcPts val="0"/>
              </a:spcAft>
              <a:buClr>
                <a:schemeClr val="dk1"/>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a:endParaRPr/>
          </a:p>
        </p:txBody>
      </p:sp>
      <p:sp>
        <p:nvSpPr>
          <p:cNvPr id="45" name="Google Shape;45;p7">
            <a:extLst>
              <a:ext uri="{FF2B5EF4-FFF2-40B4-BE49-F238E27FC236}">
                <a16:creationId xmlns:a16="http://schemas.microsoft.com/office/drawing/2014/main" id="{F108A0F9-3540-4A8F-98EF-6857F28E584F}"/>
              </a:ext>
            </a:extLst>
          </p:cNvPr>
          <p:cNvSpPr>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ormAutofit/>
          </a:bodyPr>
          <a:lstStyle>
            <a:lvl1pPr marL="457200" indent="-381000" algn="l">
              <a:lnSpc>
                <a:spcPct val="100000"/>
              </a:lnSpc>
              <a:spcBef>
                <a:spcPts val="480"/>
              </a:spcBef>
              <a:spcAft>
                <a:spcPts val="0"/>
              </a:spcAft>
              <a:buClr>
                <a:schemeClr val="dk1"/>
              </a:buClr>
              <a:buSzPts val="2400"/>
              <a:buChar char="•"/>
              <a:defRPr sz="2400"/>
            </a:lvl1pPr>
            <a:lvl2pPr marL="914400" indent="-355600" algn="l">
              <a:lnSpc>
                <a:spcPct val="100000"/>
              </a:lnSpc>
              <a:spcBef>
                <a:spcPts val="400"/>
              </a:spcBef>
              <a:spcAft>
                <a:spcPts val="0"/>
              </a:spcAft>
              <a:buClr>
                <a:schemeClr val="dk1"/>
              </a:buClr>
              <a:buSzPts val="2000"/>
              <a:buChar char="–"/>
              <a:defRPr sz="2000"/>
            </a:lvl2pPr>
            <a:lvl3pPr marL="1371600" indent="-342900" algn="l">
              <a:lnSpc>
                <a:spcPct val="100000"/>
              </a:lnSpc>
              <a:spcBef>
                <a:spcPts val="360"/>
              </a:spcBef>
              <a:spcAft>
                <a:spcPts val="0"/>
              </a:spcAft>
              <a:buClr>
                <a:schemeClr val="dk1"/>
              </a:buClr>
              <a:buSzPts val="1800"/>
              <a:buChar char="•"/>
              <a:defRPr sz="1800"/>
            </a:lvl3pPr>
            <a:lvl4pPr marL="1828800" indent="-330200" algn="l">
              <a:lnSpc>
                <a:spcPct val="100000"/>
              </a:lnSpc>
              <a:spcBef>
                <a:spcPts val="320"/>
              </a:spcBef>
              <a:spcAft>
                <a:spcPts val="0"/>
              </a:spcAft>
              <a:buClr>
                <a:schemeClr val="dk1"/>
              </a:buClr>
              <a:buSzPts val="1600"/>
              <a:buChar char="–"/>
              <a:defRPr sz="1600"/>
            </a:lvl4pPr>
            <a:lvl5pPr marL="2286000" indent="-330200" algn="l">
              <a:lnSpc>
                <a:spcPct val="100000"/>
              </a:lnSpc>
              <a:spcBef>
                <a:spcPts val="320"/>
              </a:spcBef>
              <a:spcAft>
                <a:spcPts val="0"/>
              </a:spcAft>
              <a:buClr>
                <a:schemeClr val="dk1"/>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7">
            <a:extLst>
              <a:ext uri="{FF2B5EF4-FFF2-40B4-BE49-F238E27FC236}">
                <a16:creationId xmlns:a16="http://schemas.microsoft.com/office/drawing/2014/main" id="{C21D7C1F-871E-4290-899D-D6219F7A29D9}"/>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7" name="Google Shape;47;p7">
            <a:extLst>
              <a:ext uri="{FF2B5EF4-FFF2-40B4-BE49-F238E27FC236}">
                <a16:creationId xmlns:a16="http://schemas.microsoft.com/office/drawing/2014/main" id="{C7B26269-1BDF-4C7E-97CE-B064704ED65A}"/>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8" name="Google Shape;48;p7">
            <a:extLst>
              <a:ext uri="{FF2B5EF4-FFF2-40B4-BE49-F238E27FC236}">
                <a16:creationId xmlns:a16="http://schemas.microsoft.com/office/drawing/2014/main" id="{893F032F-FFEB-4ED0-B44D-E7059FF99590}"/>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50" name="Google Shape;50;p8">
            <a:extLst>
              <a:ext uri="{FF2B5EF4-FFF2-40B4-BE49-F238E27FC236}">
                <a16:creationId xmlns:a16="http://schemas.microsoft.com/office/drawing/2014/main" id="{6055BD97-E313-4F79-9C3B-00A7660716FA}"/>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1" name="Google Shape;51;p8">
            <a:extLst>
              <a:ext uri="{FF2B5EF4-FFF2-40B4-BE49-F238E27FC236}">
                <a16:creationId xmlns:a16="http://schemas.microsoft.com/office/drawing/2014/main" id="{3182D993-37B1-4956-99C4-824EAFACE124}"/>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2" name="Google Shape;52;p8">
            <a:extLst>
              <a:ext uri="{FF2B5EF4-FFF2-40B4-BE49-F238E27FC236}">
                <a16:creationId xmlns:a16="http://schemas.microsoft.com/office/drawing/2014/main" id="{4B0A2EB4-03C3-4BB1-B2EC-EAB7E7E60FFB}"/>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3" name="Google Shape;53;p8">
            <a:extLst>
              <a:ext uri="{FF2B5EF4-FFF2-40B4-BE49-F238E27FC236}">
                <a16:creationId xmlns:a16="http://schemas.microsoft.com/office/drawing/2014/main" id="{482D9934-62CD-485D-8854-523A8EE1ACBF}"/>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
        <p:cNvGrpSpPr/>
        <p:nvPr/>
      </p:nvGrpSpPr>
      <p:grpSpPr>
        <a:xfrm>
          <a:off x="0" y="0"/>
          <a:ext cx="0" cy="0"/>
          <a:chOff x="0" y="0"/>
          <a:chExt cx="0" cy="0"/>
        </a:xfrm>
      </p:grpSpPr>
      <p:sp>
        <p:nvSpPr>
          <p:cNvPr id="55" name="Google Shape;55;p9">
            <a:extLst>
              <a:ext uri="{FF2B5EF4-FFF2-40B4-BE49-F238E27FC236}">
                <a16:creationId xmlns:a16="http://schemas.microsoft.com/office/drawing/2014/main" id="{A1A12169-87C3-40F7-A5EF-E71F757BA44A}"/>
              </a:ext>
            </a:extLst>
          </p:cNvPr>
          <p:cNvSpPr>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ormAutofit/>
          </a:bodyPr>
          <a:lstStyle>
            <a:lvl1pPr algn="l">
              <a:lnSpc>
                <a:spcPct val="100000"/>
              </a:lnSpc>
              <a:spcBef>
                <a:spcPts val="0"/>
              </a:spcBef>
              <a:spcAft>
                <a:spcPts val="0"/>
              </a:spcAft>
              <a:buClr>
                <a:schemeClr val="dk1"/>
              </a:buClr>
              <a:buSzPts val="2000"/>
              <a:buFont typeface="Calibri"/>
              <a:buNone/>
              <a:defRPr sz="2000"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6" name="Google Shape;56;p9">
            <a:extLst>
              <a:ext uri="{FF2B5EF4-FFF2-40B4-BE49-F238E27FC236}">
                <a16:creationId xmlns:a16="http://schemas.microsoft.com/office/drawing/2014/main" id="{2566126E-A0C7-45B2-9B45-3454367A3206}"/>
              </a:ext>
            </a:extLst>
          </p:cNvPr>
          <p:cNvSpPr>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ormAutofit/>
          </a:bodyPr>
          <a:lstStyle>
            <a:lvl1pPr marL="457200" indent="-431800" algn="l">
              <a:lnSpc>
                <a:spcPct val="100000"/>
              </a:lnSpc>
              <a:spcBef>
                <a:spcPts val="640"/>
              </a:spcBef>
              <a:spcAft>
                <a:spcPts val="0"/>
              </a:spcAft>
              <a:buClr>
                <a:schemeClr val="dk1"/>
              </a:buClr>
              <a:buSzPts val="3200"/>
              <a:buChar char="•"/>
              <a:defRPr sz="3200"/>
            </a:lvl1pPr>
            <a:lvl2pPr marL="914400" indent="-406400" algn="l">
              <a:lnSpc>
                <a:spcPct val="100000"/>
              </a:lnSpc>
              <a:spcBef>
                <a:spcPts val="560"/>
              </a:spcBef>
              <a:spcAft>
                <a:spcPts val="0"/>
              </a:spcAft>
              <a:buClr>
                <a:schemeClr val="dk1"/>
              </a:buClr>
              <a:buSzPts val="2800"/>
              <a:buChar char="–"/>
              <a:defRPr sz="2800"/>
            </a:lvl2pPr>
            <a:lvl3pPr marL="1371600" indent="-381000" algn="l">
              <a:lnSpc>
                <a:spcPct val="100000"/>
              </a:lnSpc>
              <a:spcBef>
                <a:spcPts val="480"/>
              </a:spcBef>
              <a:spcAft>
                <a:spcPts val="0"/>
              </a:spcAft>
              <a:buClr>
                <a:schemeClr val="dk1"/>
              </a:buClr>
              <a:buSzPts val="2400"/>
              <a:buChar char="•"/>
              <a:defRPr sz="2400"/>
            </a:lvl3pPr>
            <a:lvl4pPr marL="1828800" indent="-355600" algn="l">
              <a:lnSpc>
                <a:spcPct val="100000"/>
              </a:lnSpc>
              <a:spcBef>
                <a:spcPts val="400"/>
              </a:spcBef>
              <a:spcAft>
                <a:spcPts val="0"/>
              </a:spcAft>
              <a:buClr>
                <a:schemeClr val="dk1"/>
              </a:buClr>
              <a:buSzPts val="2000"/>
              <a:buChar char="–"/>
              <a:defRPr sz="2000"/>
            </a:lvl4pPr>
            <a:lvl5pPr marL="2286000" indent="-355600" algn="l">
              <a:lnSpc>
                <a:spcPct val="100000"/>
              </a:lnSpc>
              <a:spcBef>
                <a:spcPts val="400"/>
              </a:spcBef>
              <a:spcAft>
                <a:spcPts val="0"/>
              </a:spcAft>
              <a:buClr>
                <a:schemeClr val="dk1"/>
              </a:buClr>
              <a:buSzPts val="2000"/>
              <a:buChar char="»"/>
              <a:defRPr sz="2000"/>
            </a:lvl5pPr>
            <a:lvl6pPr marL="2743200" indent="-355600" algn="l">
              <a:lnSpc>
                <a:spcPct val="100000"/>
              </a:lnSpc>
              <a:spcBef>
                <a:spcPts val="400"/>
              </a:spcBef>
              <a:spcAft>
                <a:spcPts val="0"/>
              </a:spcAft>
              <a:buClr>
                <a:schemeClr val="dk1"/>
              </a:buClr>
              <a:buSzPts val="2000"/>
              <a:buChar char="•"/>
              <a:defRPr sz="2000"/>
            </a:lvl6pPr>
            <a:lvl7pPr marL="3200400" indent="-355600" algn="l">
              <a:lnSpc>
                <a:spcPct val="100000"/>
              </a:lnSpc>
              <a:spcBef>
                <a:spcPts val="400"/>
              </a:spcBef>
              <a:spcAft>
                <a:spcPts val="0"/>
              </a:spcAft>
              <a:buClr>
                <a:schemeClr val="dk1"/>
              </a:buClr>
              <a:buSzPts val="2000"/>
              <a:buChar char="•"/>
              <a:defRPr sz="2000"/>
            </a:lvl7pPr>
            <a:lvl8pPr marL="3657600" indent="-355600" algn="l">
              <a:lnSpc>
                <a:spcPct val="100000"/>
              </a:lnSpc>
              <a:spcBef>
                <a:spcPts val="400"/>
              </a:spcBef>
              <a:spcAft>
                <a:spcPts val="0"/>
              </a:spcAft>
              <a:buClr>
                <a:schemeClr val="dk1"/>
              </a:buClr>
              <a:buSzPts val="2000"/>
              <a:buChar char="•"/>
              <a:defRPr sz="2000"/>
            </a:lvl8pPr>
            <a:lvl9pPr marL="4114800"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9">
            <a:extLst>
              <a:ext uri="{FF2B5EF4-FFF2-40B4-BE49-F238E27FC236}">
                <a16:creationId xmlns:a16="http://schemas.microsoft.com/office/drawing/2014/main" id="{664DA8B0-DF3C-4FD9-BC8C-096C41B24F2B}"/>
              </a:ext>
            </a:extLst>
          </p:cNvPr>
          <p:cNvSpPr>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ormAutofit/>
          </a:bodyPr>
          <a:lstStyle>
            <a:lvl1pPr marL="457200" indent="-228600" algn="l">
              <a:lnSpc>
                <a:spcPct val="100000"/>
              </a:lnSpc>
              <a:spcBef>
                <a:spcPts val="280"/>
              </a:spcBef>
              <a:spcAft>
                <a:spcPts val="0"/>
              </a:spcAft>
              <a:buClr>
                <a:schemeClr val="dk1"/>
              </a:buClr>
              <a:buSzPts val="1400"/>
              <a:buNone/>
              <a:defRPr sz="1400"/>
            </a:lvl1pPr>
            <a:lvl2pPr marL="914400" indent="-228600" algn="l">
              <a:lnSpc>
                <a:spcPct val="100000"/>
              </a:lnSpc>
              <a:spcBef>
                <a:spcPts val="240"/>
              </a:spcBef>
              <a:spcAft>
                <a:spcPts val="0"/>
              </a:spcAft>
              <a:buClr>
                <a:schemeClr val="dk1"/>
              </a:buClr>
              <a:buSzPts val="1200"/>
              <a:buNone/>
              <a:defRPr sz="1200"/>
            </a:lvl2pPr>
            <a:lvl3pPr marL="1371600" indent="-228600" algn="l">
              <a:lnSpc>
                <a:spcPct val="100000"/>
              </a:lnSpc>
              <a:spcBef>
                <a:spcPts val="200"/>
              </a:spcBef>
              <a:spcAft>
                <a:spcPts val="0"/>
              </a:spcAft>
              <a:buClr>
                <a:schemeClr val="dk1"/>
              </a:buClr>
              <a:buSzPts val="1000"/>
              <a:buNone/>
              <a:defRPr sz="1000"/>
            </a:lvl3pPr>
            <a:lvl4pPr marL="1828800" indent="-228600" algn="l">
              <a:lnSpc>
                <a:spcPct val="100000"/>
              </a:lnSpc>
              <a:spcBef>
                <a:spcPts val="180"/>
              </a:spcBef>
              <a:spcAft>
                <a:spcPts val="0"/>
              </a:spcAft>
              <a:buClr>
                <a:schemeClr val="dk1"/>
              </a:buClr>
              <a:buSzPts val="900"/>
              <a:buNone/>
              <a:defRPr sz="900"/>
            </a:lvl4pPr>
            <a:lvl5pPr marL="2286000" indent="-228600" algn="l">
              <a:lnSpc>
                <a:spcPct val="100000"/>
              </a:lnSpc>
              <a:spcBef>
                <a:spcPts val="180"/>
              </a:spcBef>
              <a:spcAft>
                <a:spcPts val="0"/>
              </a:spcAft>
              <a:buClr>
                <a:schemeClr val="dk1"/>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a:endParaRPr/>
          </a:p>
        </p:txBody>
      </p:sp>
      <p:sp>
        <p:nvSpPr>
          <p:cNvPr id="58" name="Google Shape;58;p9">
            <a:extLst>
              <a:ext uri="{FF2B5EF4-FFF2-40B4-BE49-F238E27FC236}">
                <a16:creationId xmlns:a16="http://schemas.microsoft.com/office/drawing/2014/main" id="{3E9094FF-9438-43D5-B450-6250127D0B64}"/>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9" name="Google Shape;59;p9">
            <a:extLst>
              <a:ext uri="{FF2B5EF4-FFF2-40B4-BE49-F238E27FC236}">
                <a16:creationId xmlns:a16="http://schemas.microsoft.com/office/drawing/2014/main" id="{3F3188A7-BCD3-4950-849A-C82F3D3B5E1A}"/>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0" name="Google Shape;60;p9">
            <a:extLst>
              <a:ext uri="{FF2B5EF4-FFF2-40B4-BE49-F238E27FC236}">
                <a16:creationId xmlns:a16="http://schemas.microsoft.com/office/drawing/2014/main" id="{3CEFFFFC-03E6-4438-8FA0-E6B7D5E590E1}"/>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
        <p:cNvGrpSpPr/>
        <p:nvPr/>
      </p:nvGrpSpPr>
      <p:grpSpPr>
        <a:xfrm>
          <a:off x="0" y="0"/>
          <a:ext cx="0" cy="0"/>
          <a:chOff x="0" y="0"/>
          <a:chExt cx="0" cy="0"/>
        </a:xfrm>
      </p:grpSpPr>
      <p:sp>
        <p:nvSpPr>
          <p:cNvPr id="62" name="Google Shape;62;p10">
            <a:extLst>
              <a:ext uri="{FF2B5EF4-FFF2-40B4-BE49-F238E27FC236}">
                <a16:creationId xmlns:a16="http://schemas.microsoft.com/office/drawing/2014/main" id="{731508DE-C3C7-4685-80B5-9FC5AB7B6C22}"/>
              </a:ext>
            </a:extLst>
          </p:cNvPr>
          <p:cNvSpPr>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ormAutofit/>
          </a:bodyPr>
          <a:lstStyle>
            <a:lvl1pPr algn="l">
              <a:lnSpc>
                <a:spcPct val="100000"/>
              </a:lnSpc>
              <a:spcBef>
                <a:spcPts val="0"/>
              </a:spcBef>
              <a:spcAft>
                <a:spcPts val="0"/>
              </a:spcAft>
              <a:buClr>
                <a:schemeClr val="dk1"/>
              </a:buClr>
              <a:buSzPts val="2000"/>
              <a:buFont typeface="Calibri"/>
              <a:buNone/>
              <a:defRPr sz="2000"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3" name="Google Shape;63;p10">
            <a:extLst>
              <a:ext uri="{FF2B5EF4-FFF2-40B4-BE49-F238E27FC236}">
                <a16:creationId xmlns:a16="http://schemas.microsoft.com/office/drawing/2014/main" id="{12B218B2-91A1-4BED-8A81-E6ACCA09C4ED}"/>
              </a:ext>
            </a:extLst>
          </p:cNvPr>
          <p:cNvSpPr>
            <a:spLocks noGrp="1"/>
          </p:cNvSpPr>
          <p:nvPr>
            <p:ph type="pic" idx="2"/>
          </p:nvPr>
        </p:nvSpPr>
        <p:spPr>
          <a:xfrm>
            <a:off x="1792288" y="612775"/>
            <a:ext cx="5486400" cy="4114800"/>
          </a:xfrm>
          <a:prstGeom prst="rect">
            <a:avLst/>
          </a:prstGeom>
          <a:noFill/>
          <a:ln>
            <a:noFill/>
          </a:ln>
        </p:spPr>
      </p:sp>
      <p:sp>
        <p:nvSpPr>
          <p:cNvPr id="64" name="Google Shape;64;p10">
            <a:extLst>
              <a:ext uri="{FF2B5EF4-FFF2-40B4-BE49-F238E27FC236}">
                <a16:creationId xmlns:a16="http://schemas.microsoft.com/office/drawing/2014/main" id="{BA4DCA5B-BEE4-4F69-87CF-60E8E1E4779E}"/>
              </a:ext>
            </a:extLst>
          </p:cNvPr>
          <p:cNvSpPr>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ormAutofit/>
          </a:bodyPr>
          <a:lstStyle>
            <a:lvl1pPr marL="457200" indent="-228600" algn="l">
              <a:lnSpc>
                <a:spcPct val="100000"/>
              </a:lnSpc>
              <a:spcBef>
                <a:spcPts val="280"/>
              </a:spcBef>
              <a:spcAft>
                <a:spcPts val="0"/>
              </a:spcAft>
              <a:buClr>
                <a:schemeClr val="dk1"/>
              </a:buClr>
              <a:buSzPts val="1400"/>
              <a:buNone/>
              <a:defRPr sz="1400"/>
            </a:lvl1pPr>
            <a:lvl2pPr marL="914400" indent="-228600" algn="l">
              <a:lnSpc>
                <a:spcPct val="100000"/>
              </a:lnSpc>
              <a:spcBef>
                <a:spcPts val="240"/>
              </a:spcBef>
              <a:spcAft>
                <a:spcPts val="0"/>
              </a:spcAft>
              <a:buClr>
                <a:schemeClr val="dk1"/>
              </a:buClr>
              <a:buSzPts val="1200"/>
              <a:buNone/>
              <a:defRPr sz="1200"/>
            </a:lvl2pPr>
            <a:lvl3pPr marL="1371600" indent="-228600" algn="l">
              <a:lnSpc>
                <a:spcPct val="100000"/>
              </a:lnSpc>
              <a:spcBef>
                <a:spcPts val="200"/>
              </a:spcBef>
              <a:spcAft>
                <a:spcPts val="0"/>
              </a:spcAft>
              <a:buClr>
                <a:schemeClr val="dk1"/>
              </a:buClr>
              <a:buSzPts val="1000"/>
              <a:buNone/>
              <a:defRPr sz="1000"/>
            </a:lvl3pPr>
            <a:lvl4pPr marL="1828800" indent="-228600" algn="l">
              <a:lnSpc>
                <a:spcPct val="100000"/>
              </a:lnSpc>
              <a:spcBef>
                <a:spcPts val="180"/>
              </a:spcBef>
              <a:spcAft>
                <a:spcPts val="0"/>
              </a:spcAft>
              <a:buClr>
                <a:schemeClr val="dk1"/>
              </a:buClr>
              <a:buSzPts val="900"/>
              <a:buNone/>
              <a:defRPr sz="900"/>
            </a:lvl4pPr>
            <a:lvl5pPr marL="2286000" indent="-228600" algn="l">
              <a:lnSpc>
                <a:spcPct val="100000"/>
              </a:lnSpc>
              <a:spcBef>
                <a:spcPts val="180"/>
              </a:spcBef>
              <a:spcAft>
                <a:spcPts val="0"/>
              </a:spcAft>
              <a:buClr>
                <a:schemeClr val="dk1"/>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a:endParaRPr/>
          </a:p>
        </p:txBody>
      </p:sp>
      <p:sp>
        <p:nvSpPr>
          <p:cNvPr id="65" name="Google Shape;65;p10">
            <a:extLst>
              <a:ext uri="{FF2B5EF4-FFF2-40B4-BE49-F238E27FC236}">
                <a16:creationId xmlns:a16="http://schemas.microsoft.com/office/drawing/2014/main" id="{721FF511-C042-420C-B5BF-3546BC8D44C0}"/>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6" name="Google Shape;66;p10">
            <a:extLst>
              <a:ext uri="{FF2B5EF4-FFF2-40B4-BE49-F238E27FC236}">
                <a16:creationId xmlns:a16="http://schemas.microsoft.com/office/drawing/2014/main" id="{190001A4-6A52-4284-83E6-030ADF500CF5}"/>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7" name="Google Shape;67;p10">
            <a:extLst>
              <a:ext uri="{FF2B5EF4-FFF2-40B4-BE49-F238E27FC236}">
                <a16:creationId xmlns:a16="http://schemas.microsoft.com/office/drawing/2014/main" id="{A089D862-2F38-4D94-BF64-2B1C9E7D2381}"/>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
        <p:cNvGrpSpPr/>
        <p:nvPr/>
      </p:nvGrpSpPr>
      <p:grpSpPr>
        <a:xfrm>
          <a:off x="0" y="0"/>
          <a:ext cx="0" cy="0"/>
          <a:chOff x="0" y="0"/>
          <a:chExt cx="0" cy="0"/>
        </a:xfrm>
      </p:grpSpPr>
      <p:sp>
        <p:nvSpPr>
          <p:cNvPr id="69" name="Google Shape;69;p11">
            <a:extLst>
              <a:ext uri="{FF2B5EF4-FFF2-40B4-BE49-F238E27FC236}">
                <a16:creationId xmlns:a16="http://schemas.microsoft.com/office/drawing/2014/main" id="{1A7861BB-72BC-48E1-A7C4-D634673BE69A}"/>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0" name="Google Shape;70;p11">
            <a:extLst>
              <a:ext uri="{FF2B5EF4-FFF2-40B4-BE49-F238E27FC236}">
                <a16:creationId xmlns:a16="http://schemas.microsoft.com/office/drawing/2014/main" id="{EB7CA083-388E-4973-8FD0-1849FA1B3904}"/>
              </a:ext>
            </a:extLst>
          </p:cNvPr>
          <p:cNvSpPr>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ormAutofit/>
          </a:bodyPr>
          <a:lstStyle>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a:endParaRPr/>
          </a:p>
        </p:txBody>
      </p:sp>
      <p:sp>
        <p:nvSpPr>
          <p:cNvPr id="71" name="Google Shape;71;p11">
            <a:extLst>
              <a:ext uri="{FF2B5EF4-FFF2-40B4-BE49-F238E27FC236}">
                <a16:creationId xmlns:a16="http://schemas.microsoft.com/office/drawing/2014/main" id="{9D8A3DCF-F212-46B0-A23D-D76F3EAF15AE}"/>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2" name="Google Shape;72;p11">
            <a:extLst>
              <a:ext uri="{FF2B5EF4-FFF2-40B4-BE49-F238E27FC236}">
                <a16:creationId xmlns:a16="http://schemas.microsoft.com/office/drawing/2014/main" id="{4BBE2009-9D11-4B95-9156-C5F3E6BF57D0}"/>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3" name="Google Shape;73;p11">
            <a:extLst>
              <a:ext uri="{FF2B5EF4-FFF2-40B4-BE49-F238E27FC236}">
                <a16:creationId xmlns:a16="http://schemas.microsoft.com/office/drawing/2014/main" id="{5AC4420C-1BBB-4BBA-B7FB-477C07AF379E}"/>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
        <p:cNvGrpSpPr/>
        <p:nvPr/>
      </p:nvGrpSpPr>
      <p:grpSpPr>
        <a:xfrm>
          <a:off x="0" y="0"/>
          <a:ext cx="0" cy="0"/>
          <a:chOff x="0" y="0"/>
          <a:chExt cx="0" cy="0"/>
        </a:xfrm>
      </p:grpSpPr>
      <p:sp>
        <p:nvSpPr>
          <p:cNvPr id="75" name="Google Shape;75;p12">
            <a:extLst>
              <a:ext uri="{FF2B5EF4-FFF2-40B4-BE49-F238E27FC236}">
                <a16:creationId xmlns:a16="http://schemas.microsoft.com/office/drawing/2014/main" id="{2CA43F36-DE8F-418D-8778-847AD82121C1}"/>
              </a:ext>
            </a:extLst>
          </p:cNvPr>
          <p:cNvSpPr>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6" name="Google Shape;76;p12">
            <a:extLst>
              <a:ext uri="{FF2B5EF4-FFF2-40B4-BE49-F238E27FC236}">
                <a16:creationId xmlns:a16="http://schemas.microsoft.com/office/drawing/2014/main" id="{F5CF5E2C-3B13-427D-BA98-54A47B7835A8}"/>
              </a:ext>
            </a:extLst>
          </p:cNvPr>
          <p:cNvSpPr>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ormAutofit/>
          </a:bodyPr>
          <a:lstStyle>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a:endParaRPr/>
          </a:p>
        </p:txBody>
      </p:sp>
      <p:sp>
        <p:nvSpPr>
          <p:cNvPr id="77" name="Google Shape;77;p12">
            <a:extLst>
              <a:ext uri="{FF2B5EF4-FFF2-40B4-BE49-F238E27FC236}">
                <a16:creationId xmlns:a16="http://schemas.microsoft.com/office/drawing/2014/main" id="{1CA9AEE8-81D9-402E-A469-0D2338BA29A5}"/>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8" name="Google Shape;78;p12">
            <a:extLst>
              <a:ext uri="{FF2B5EF4-FFF2-40B4-BE49-F238E27FC236}">
                <a16:creationId xmlns:a16="http://schemas.microsoft.com/office/drawing/2014/main" id="{CE7478DC-B01D-47CF-AD6C-08C0F5D9F2E7}"/>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9" name="Google Shape;79;p12">
            <a:extLst>
              <a:ext uri="{FF2B5EF4-FFF2-40B4-BE49-F238E27FC236}">
                <a16:creationId xmlns:a16="http://schemas.microsoft.com/office/drawing/2014/main" id="{A7E6FF34-7F09-4023-B60E-8562E0FD476A}"/>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9FD045B6-D26E-451F-8F0E-992D8351C5B4}"/>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marR="0" algn="ctr">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9pPr>
          </a:lstStyle>
          <a:p>
            <a:endParaRPr/>
          </a:p>
        </p:txBody>
      </p:sp>
      <p:sp>
        <p:nvSpPr>
          <p:cNvPr id="7" name="Google Shape;7;p1">
            <a:extLst>
              <a:ext uri="{FF2B5EF4-FFF2-40B4-BE49-F238E27FC236}">
                <a16:creationId xmlns:a16="http://schemas.microsoft.com/office/drawing/2014/main" id="{2D670B39-532B-4A29-8D64-902EF2F71D27}"/>
              </a:ext>
            </a:extLst>
          </p:cNvPr>
          <p:cNvSpPr>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ormAutofit/>
          </a:bodyPr>
          <a:lstStyle>
            <a:lvl1pPr marL="457200" marR="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defRPr>
            </a:lvl1pPr>
            <a:lvl2pPr marL="914400" marR="0"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2pPr>
            <a:lvl3pPr marL="1371600" marR="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3pPr>
            <a:lvl4pPr marL="18288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4pPr>
            <a:lvl5pPr marL="22860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5pPr>
            <a:lvl6pPr marL="27432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6pPr>
            <a:lvl7pPr marL="32004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7pPr>
            <a:lvl8pPr marL="36576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8pPr>
            <a:lvl9pPr marL="41148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9pPr>
          </a:lstStyle>
          <a:p>
            <a:endParaRPr/>
          </a:p>
        </p:txBody>
      </p:sp>
      <p:sp>
        <p:nvSpPr>
          <p:cNvPr id="8" name="Google Shape;8;p1">
            <a:extLst>
              <a:ext uri="{FF2B5EF4-FFF2-40B4-BE49-F238E27FC236}">
                <a16:creationId xmlns:a16="http://schemas.microsoft.com/office/drawing/2014/main" id="{D8098A27-29E4-4CAF-9078-8EA6DAFF0CF6}"/>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marR="0" algn="l">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a:endParaRPr/>
          </a:p>
        </p:txBody>
      </p:sp>
      <p:sp>
        <p:nvSpPr>
          <p:cNvPr id="9" name="Google Shape;9;p1">
            <a:extLst>
              <a:ext uri="{FF2B5EF4-FFF2-40B4-BE49-F238E27FC236}">
                <a16:creationId xmlns:a16="http://schemas.microsoft.com/office/drawing/2014/main" id="{CD063249-E659-4883-8EC2-B45F49C63795}"/>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marR="0" algn="ctr">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a:endParaRPr/>
          </a:p>
        </p:txBody>
      </p:sp>
      <p:sp>
        <p:nvSpPr>
          <p:cNvPr id="10" name="Google Shape;10;p1">
            <a:extLst>
              <a:ext uri="{FF2B5EF4-FFF2-40B4-BE49-F238E27FC236}">
                <a16:creationId xmlns:a16="http://schemas.microsoft.com/office/drawing/2014/main" id="{5969EA3A-3203-4EC7-A92E-E8FEA35F4600}"/>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7.jpe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Google Shape;85;p13">
            <a:extLst>
              <a:ext uri="{FF2B5EF4-FFF2-40B4-BE49-F238E27FC236}">
                <a16:creationId xmlns:a16="http://schemas.microsoft.com/office/drawing/2014/main" id="{0630811A-4F6C-4A4A-88BD-465AD5039E9C}"/>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86" name="Google Shape;86;p13">
            <a:extLst>
              <a:ext uri="{FF2B5EF4-FFF2-40B4-BE49-F238E27FC236}">
                <a16:creationId xmlns:a16="http://schemas.microsoft.com/office/drawing/2014/main" id="{C62C8098-F725-4B2B-89C6-718C9A69D655}"/>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88" name="Google Shape;88;p13">
            <a:extLst>
              <a:ext uri="{FF2B5EF4-FFF2-40B4-BE49-F238E27FC236}">
                <a16:creationId xmlns:a16="http://schemas.microsoft.com/office/drawing/2014/main" id="{5AB63CD3-541F-44AE-B264-C787D1519CC3}"/>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89" name="Google Shape;89;p13">
            <a:extLst>
              <a:ext uri="{FF2B5EF4-FFF2-40B4-BE49-F238E27FC236}">
                <a16:creationId xmlns:a16="http://schemas.microsoft.com/office/drawing/2014/main" id="{41A97F09-A8CB-444B-BAFD-D54799058A62}"/>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90" name="Google Shape;90;p13">
            <a:extLst>
              <a:ext uri="{FF2B5EF4-FFF2-40B4-BE49-F238E27FC236}">
                <a16:creationId xmlns:a16="http://schemas.microsoft.com/office/drawing/2014/main" id="{53F4CCB9-FBAE-43F6-9C19-79764ED1931F}"/>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91" name="Google Shape;91;p13">
            <a:extLst>
              <a:ext uri="{FF2B5EF4-FFF2-40B4-BE49-F238E27FC236}">
                <a16:creationId xmlns:a16="http://schemas.microsoft.com/office/drawing/2014/main" id="{3E6AD040-102A-4727-8D5E-1F20974E6FDF}"/>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92" name="Rectangle 91">
            <a:extLst>
              <a:ext uri="{FF2B5EF4-FFF2-40B4-BE49-F238E27FC236}">
                <a16:creationId xmlns:a16="http://schemas.microsoft.com/office/drawing/2014/main" id="{5CF0D6CB-2098-455B-9D56-1969CEABE8F4}"/>
              </a:ext>
            </a:extLst>
          </p:cNvPr>
          <p:cNvSpPr>
            <a:spLocks noGrp="1"/>
          </p:cNvSpPr>
          <p:nvPr/>
        </p:nvSpPr>
        <p:spPr>
          <a:xfrm>
            <a:off x="2238375" y="1428750"/>
            <a:ext cx="13982700" cy="2190750"/>
          </a:xfrm>
          <a:prstGeom prst="rect">
            <a:avLst/>
          </a:prstGeom>
          <a:noFill/>
          <a:ln w="0">
            <a:noFill/>
          </a:ln>
        </p:spPr>
        <p:txBody>
          <a:bodyPr lIns="0" tIns="0" rIns="0" bIns="0"/>
          <a:lstStyle>
            <a:defPPr>
              <a:defRPr sz="6300" b="0">
                <a:solidFill>
                  <a:srgbClr val="A83033"/>
                </a:solidFill>
                <a:latin typeface="Marcellus"/>
                <a:ea typeface="Marcellus"/>
                <a:cs typeface="Marcellus"/>
              </a:defRPr>
            </a:defPPr>
            <a:lvl1pPr>
              <a:buNone/>
              <a:defRPr sz="6300" b="0">
                <a:solidFill>
                  <a:srgbClr val="A83033"/>
                </a:solidFill>
                <a:latin typeface="Marcellus"/>
                <a:ea typeface="Marcellus"/>
                <a:cs typeface="Marcellus"/>
              </a:defRPr>
            </a:lvl1pPr>
            <a:lvl2pPr>
              <a:buNone/>
              <a:defRPr sz="6300" b="0">
                <a:solidFill>
                  <a:srgbClr val="A83033"/>
                </a:solidFill>
                <a:latin typeface="Marcellus"/>
                <a:ea typeface="Marcellus"/>
                <a:cs typeface="Marcellus"/>
              </a:defRPr>
            </a:lvl2pPr>
            <a:lvl3pPr>
              <a:buNone/>
              <a:defRPr sz="6300" b="0">
                <a:solidFill>
                  <a:srgbClr val="A83033"/>
                </a:solidFill>
                <a:latin typeface="Marcellus"/>
                <a:ea typeface="Marcellus"/>
                <a:cs typeface="Marcellus"/>
              </a:defRPr>
            </a:lvl3pPr>
            <a:lvl4pPr>
              <a:buNone/>
              <a:defRPr sz="6300" b="0">
                <a:solidFill>
                  <a:srgbClr val="A83033"/>
                </a:solidFill>
                <a:latin typeface="Marcellus"/>
                <a:ea typeface="Marcellus"/>
                <a:cs typeface="Marcellus"/>
              </a:defRPr>
            </a:lvl4pPr>
            <a:lvl5pPr>
              <a:buNone/>
              <a:defRPr sz="6300" b="0">
                <a:solidFill>
                  <a:srgbClr val="A83033"/>
                </a:solidFill>
                <a:latin typeface="Marcellus"/>
                <a:ea typeface="Marcellus"/>
                <a:cs typeface="Marcellus"/>
              </a:defRPr>
            </a:lvl5pPr>
            <a:lvl6pPr>
              <a:buNone/>
              <a:defRPr sz="6300" b="0">
                <a:solidFill>
                  <a:srgbClr val="A83033"/>
                </a:solidFill>
                <a:latin typeface="Marcellus"/>
                <a:ea typeface="Marcellus"/>
                <a:cs typeface="Marcellus"/>
              </a:defRPr>
            </a:lvl6pPr>
            <a:lvl7pPr>
              <a:buNone/>
              <a:defRPr sz="6300" b="0">
                <a:solidFill>
                  <a:srgbClr val="A83033"/>
                </a:solidFill>
                <a:latin typeface="Marcellus"/>
                <a:ea typeface="Marcellus"/>
                <a:cs typeface="Marcellus"/>
              </a:defRPr>
            </a:lvl7pPr>
            <a:lvl8pPr>
              <a:buNone/>
              <a:defRPr sz="6300" b="0">
                <a:solidFill>
                  <a:srgbClr val="A83033"/>
                </a:solidFill>
                <a:latin typeface="Marcellus"/>
                <a:ea typeface="Marcellus"/>
                <a:cs typeface="Marcellus"/>
              </a:defRPr>
            </a:lvl8pPr>
            <a:lvl9pPr>
              <a:buNone/>
              <a:defRPr sz="6300" b="0">
                <a:solidFill>
                  <a:srgbClr val="A83033"/>
                </a:solidFill>
                <a:latin typeface="Marcellus"/>
                <a:ea typeface="Marcellus"/>
                <a:cs typeface="Marcellus"/>
              </a:defRPr>
            </a:lvl9pPr>
          </a:lstStyle>
          <a:p>
            <a:pPr>
              <a:buNone/>
              <a:defRPr sz="6300" b="0">
                <a:solidFill>
                  <a:srgbClr val="A83033"/>
                </a:solidFill>
                <a:latin typeface="Marcellus"/>
                <a:ea typeface="Marcellus"/>
                <a:cs typeface="Marcellus"/>
              </a:defRPr>
            </a:pPr>
            <a:r>
              <a:rPr sz="6300" b="0">
                <a:solidFill>
                  <a:srgbClr val="A83033"/>
                </a:solidFill>
                <a:latin typeface="Marcellus"/>
                <a:ea typeface="Marcellus"/>
                <a:cs typeface="Marcellus"/>
              </a:rPr>
              <a:t>Predictive Cloud</a:t>
            </a:r>
          </a:p>
          <a:p>
            <a:pPr>
              <a:buNone/>
              <a:defRPr sz="6300" b="0">
                <a:solidFill>
                  <a:srgbClr val="A83033"/>
                </a:solidFill>
                <a:latin typeface="Marcellus"/>
                <a:ea typeface="Marcellus"/>
                <a:cs typeface="Marcellus"/>
              </a:defRPr>
            </a:pPr>
            <a:r>
              <a:rPr sz="6300" b="0">
                <a:solidFill>
                  <a:srgbClr val="A83033"/>
                </a:solidFill>
                <a:latin typeface="Marcellus"/>
                <a:ea typeface="Marcellus"/>
                <a:cs typeface="Marcellus"/>
              </a:rPr>
              <a:t>Resource Management</a:t>
            </a:r>
          </a:p>
        </p:txBody>
      </p:sp>
      <p:sp>
        <p:nvSpPr>
          <p:cNvPr id="93" name="Rectangle 92">
            <a:extLst>
              <a:ext uri="{FF2B5EF4-FFF2-40B4-BE49-F238E27FC236}">
                <a16:creationId xmlns:a16="http://schemas.microsoft.com/office/drawing/2014/main" id="{98AAAE45-9B2E-4FF4-A45A-908E034FD964}"/>
              </a:ext>
            </a:extLst>
          </p:cNvPr>
          <p:cNvSpPr>
            <a:spLocks noGrp="1"/>
          </p:cNvSpPr>
          <p:nvPr/>
        </p:nvSpPr>
        <p:spPr>
          <a:xfrm>
            <a:off x="2238375" y="3857625"/>
            <a:ext cx="13982700" cy="857250"/>
          </a:xfrm>
          <a:prstGeom prst="rect">
            <a:avLst/>
          </a:prstGeom>
          <a:noFill/>
          <a:ln w="0">
            <a:noFill/>
          </a:ln>
        </p:spPr>
        <p:txBody>
          <a:bodyPr lIns="0" tIns="0" rIns="0" bIns="0"/>
          <a:lstStyle>
            <a:defPPr>
              <a:defRPr sz="3300" b="0">
                <a:solidFill>
                  <a:srgbClr val="A83033"/>
                </a:solidFill>
                <a:latin typeface="Calibri"/>
                <a:ea typeface="Calibri"/>
                <a:cs typeface="Calibri"/>
              </a:defRPr>
            </a:defPPr>
            <a:lvl1pPr>
              <a:buNone/>
              <a:defRPr sz="3300" b="0">
                <a:solidFill>
                  <a:srgbClr val="A83033"/>
                </a:solidFill>
                <a:latin typeface="Calibri"/>
                <a:ea typeface="Calibri"/>
                <a:cs typeface="Calibri"/>
              </a:defRPr>
            </a:lvl1pPr>
            <a:lvl2pPr>
              <a:buNone/>
              <a:defRPr sz="3300" b="0">
                <a:solidFill>
                  <a:srgbClr val="A83033"/>
                </a:solidFill>
                <a:latin typeface="Calibri"/>
                <a:ea typeface="Calibri"/>
                <a:cs typeface="Calibri"/>
              </a:defRPr>
            </a:lvl2pPr>
            <a:lvl3pPr>
              <a:buNone/>
              <a:defRPr sz="3300" b="0">
                <a:solidFill>
                  <a:srgbClr val="A83033"/>
                </a:solidFill>
                <a:latin typeface="Calibri"/>
                <a:ea typeface="Calibri"/>
                <a:cs typeface="Calibri"/>
              </a:defRPr>
            </a:lvl3pPr>
            <a:lvl4pPr>
              <a:buNone/>
              <a:defRPr sz="3300" b="0">
                <a:solidFill>
                  <a:srgbClr val="A83033"/>
                </a:solidFill>
                <a:latin typeface="Calibri"/>
                <a:ea typeface="Calibri"/>
                <a:cs typeface="Calibri"/>
              </a:defRPr>
            </a:lvl4pPr>
            <a:lvl5pPr>
              <a:buNone/>
              <a:defRPr sz="3300" b="0">
                <a:solidFill>
                  <a:srgbClr val="A83033"/>
                </a:solidFill>
                <a:latin typeface="Calibri"/>
                <a:ea typeface="Calibri"/>
                <a:cs typeface="Calibri"/>
              </a:defRPr>
            </a:lvl5pPr>
            <a:lvl6pPr>
              <a:buNone/>
              <a:defRPr sz="3300" b="0">
                <a:solidFill>
                  <a:srgbClr val="A83033"/>
                </a:solidFill>
                <a:latin typeface="Calibri"/>
                <a:ea typeface="Calibri"/>
                <a:cs typeface="Calibri"/>
              </a:defRPr>
            </a:lvl6pPr>
            <a:lvl7pPr>
              <a:buNone/>
              <a:defRPr sz="3300" b="0">
                <a:solidFill>
                  <a:srgbClr val="A83033"/>
                </a:solidFill>
                <a:latin typeface="Calibri"/>
                <a:ea typeface="Calibri"/>
                <a:cs typeface="Calibri"/>
              </a:defRPr>
            </a:lvl7pPr>
            <a:lvl8pPr>
              <a:buNone/>
              <a:defRPr sz="3300" b="0">
                <a:solidFill>
                  <a:srgbClr val="A83033"/>
                </a:solidFill>
                <a:latin typeface="Calibri"/>
                <a:ea typeface="Calibri"/>
                <a:cs typeface="Calibri"/>
              </a:defRPr>
            </a:lvl8pPr>
            <a:lvl9pPr>
              <a:buNone/>
              <a:defRPr sz="3300" b="0">
                <a:solidFill>
                  <a:srgbClr val="A83033"/>
                </a:solidFill>
                <a:latin typeface="Calibri"/>
                <a:ea typeface="Calibri"/>
                <a:cs typeface="Calibri"/>
              </a:defRPr>
            </a:lvl9pPr>
          </a:lstStyle>
          <a:p>
            <a:pPr>
              <a:buNone/>
              <a:defRPr sz="3300" b="0">
                <a:solidFill>
                  <a:srgbClr val="A83033"/>
                </a:solidFill>
                <a:latin typeface="Calibri"/>
                <a:ea typeface="Calibri"/>
                <a:cs typeface="Calibri"/>
              </a:defRPr>
            </a:pPr>
            <a:r>
              <a:rPr sz="3300" b="0">
                <a:solidFill>
                  <a:srgbClr val="A83033"/>
                </a:solidFill>
                <a:latin typeface="Calibri"/>
                <a:ea typeface="Calibri"/>
                <a:cs typeface="Calibri"/>
              </a:rPr>
              <a:t>ML-based forecasting with SLA-aware auto-scaling</a:t>
            </a:r>
          </a:p>
        </p:txBody>
      </p:sp>
      <p:sp>
        <p:nvSpPr>
          <p:cNvPr id="94" name="Rectangle 93">
            <a:extLst>
              <a:ext uri="{FF2B5EF4-FFF2-40B4-BE49-F238E27FC236}">
                <a16:creationId xmlns:a16="http://schemas.microsoft.com/office/drawing/2014/main" id="{527E6826-7895-41EC-A65A-9369EAFB3ED4}"/>
              </a:ext>
            </a:extLst>
          </p:cNvPr>
          <p:cNvSpPr>
            <a:spLocks noGrp="1"/>
          </p:cNvSpPr>
          <p:nvPr/>
        </p:nvSpPr>
        <p:spPr>
          <a:xfrm>
            <a:off x="2238375" y="5381625"/>
            <a:ext cx="5905500" cy="2190750"/>
          </a:xfrm>
          <a:prstGeom prst="rect">
            <a:avLst/>
          </a:prstGeom>
          <a:noFill/>
          <a:ln w="0">
            <a:noFill/>
          </a:ln>
        </p:spPr>
        <p:txBody>
          <a:bodyPr lIns="0" tIns="0" rIns="0" bIns="0"/>
          <a:lstStyle>
            <a:defPPr>
              <a:defRPr sz="2850" b="0">
                <a:solidFill>
                  <a:srgbClr val="333333"/>
                </a:solidFill>
                <a:latin typeface="Calibri"/>
                <a:ea typeface="Calibri"/>
                <a:cs typeface="Calibri"/>
              </a:defRPr>
            </a:defPPr>
            <a:lvl1pPr>
              <a:buNone/>
              <a:defRPr sz="2850" b="0">
                <a:solidFill>
                  <a:srgbClr val="333333"/>
                </a:solidFill>
                <a:latin typeface="Calibri"/>
                <a:ea typeface="Calibri"/>
                <a:cs typeface="Calibri"/>
              </a:defRPr>
            </a:lvl1pPr>
            <a:lvl2pPr>
              <a:buNone/>
              <a:defRPr sz="2850" b="0">
                <a:solidFill>
                  <a:srgbClr val="333333"/>
                </a:solidFill>
                <a:latin typeface="Calibri"/>
                <a:ea typeface="Calibri"/>
                <a:cs typeface="Calibri"/>
              </a:defRPr>
            </a:lvl2pPr>
            <a:lvl3pPr>
              <a:buNone/>
              <a:defRPr sz="2850" b="0">
                <a:solidFill>
                  <a:srgbClr val="333333"/>
                </a:solidFill>
                <a:latin typeface="Calibri"/>
                <a:ea typeface="Calibri"/>
                <a:cs typeface="Calibri"/>
              </a:defRPr>
            </a:lvl3pPr>
            <a:lvl4pPr>
              <a:buNone/>
              <a:defRPr sz="2850" b="0">
                <a:solidFill>
                  <a:srgbClr val="333333"/>
                </a:solidFill>
                <a:latin typeface="Calibri"/>
                <a:ea typeface="Calibri"/>
                <a:cs typeface="Calibri"/>
              </a:defRPr>
            </a:lvl4pPr>
            <a:lvl5pPr>
              <a:buNone/>
              <a:defRPr sz="2850" b="0">
                <a:solidFill>
                  <a:srgbClr val="333333"/>
                </a:solidFill>
                <a:latin typeface="Calibri"/>
                <a:ea typeface="Calibri"/>
                <a:cs typeface="Calibri"/>
              </a:defRPr>
            </a:lvl5pPr>
            <a:lvl6pPr>
              <a:buNone/>
              <a:defRPr sz="2850" b="0">
                <a:solidFill>
                  <a:srgbClr val="333333"/>
                </a:solidFill>
                <a:latin typeface="Calibri"/>
                <a:ea typeface="Calibri"/>
                <a:cs typeface="Calibri"/>
              </a:defRPr>
            </a:lvl6pPr>
            <a:lvl7pPr>
              <a:buNone/>
              <a:defRPr sz="2850" b="0">
                <a:solidFill>
                  <a:srgbClr val="333333"/>
                </a:solidFill>
                <a:latin typeface="Calibri"/>
                <a:ea typeface="Calibri"/>
                <a:cs typeface="Calibri"/>
              </a:defRPr>
            </a:lvl7pPr>
            <a:lvl8pPr>
              <a:buNone/>
              <a:defRPr sz="2850" b="0">
                <a:solidFill>
                  <a:srgbClr val="333333"/>
                </a:solidFill>
                <a:latin typeface="Calibri"/>
                <a:ea typeface="Calibri"/>
                <a:cs typeface="Calibri"/>
              </a:defRPr>
            </a:lvl8pPr>
            <a:lvl9pPr>
              <a:buNone/>
              <a:defRPr sz="2850" b="0">
                <a:solidFill>
                  <a:srgbClr val="333333"/>
                </a:solidFill>
                <a:latin typeface="Calibri"/>
                <a:ea typeface="Calibri"/>
                <a:cs typeface="Calibri"/>
              </a:defRPr>
            </a:lvl9pPr>
          </a:lstStyle>
          <a:p>
            <a:pPr>
              <a:buNone/>
              <a:defRPr sz="2850" b="0">
                <a:solidFill>
                  <a:srgbClr val="333333"/>
                </a:solidFill>
                <a:latin typeface="Calibri"/>
                <a:ea typeface="Calibri"/>
                <a:cs typeface="Calibri"/>
              </a:defRPr>
            </a:pPr>
            <a:r>
              <a:rPr sz="2850" b="0" dirty="0">
                <a:solidFill>
                  <a:srgbClr val="333333"/>
                </a:solidFill>
                <a:latin typeface="Calibri"/>
                <a:ea typeface="Calibri"/>
                <a:cs typeface="Calibri"/>
              </a:rPr>
              <a:t>Advanced Cloud Computing</a:t>
            </a:r>
          </a:p>
          <a:p>
            <a:pPr>
              <a:buNone/>
              <a:defRPr sz="2850" b="0">
                <a:solidFill>
                  <a:srgbClr val="333333"/>
                </a:solidFill>
                <a:latin typeface="Calibri"/>
                <a:ea typeface="Calibri"/>
                <a:cs typeface="Calibri"/>
              </a:defRPr>
            </a:pPr>
            <a:r>
              <a:rPr sz="2850" b="0">
                <a:solidFill>
                  <a:srgbClr val="333333"/>
                </a:solidFill>
                <a:latin typeface="Calibri"/>
                <a:ea typeface="Calibri"/>
                <a:cs typeface="Calibri"/>
              </a:rPr>
              <a:t>Lab-CA implementation</a:t>
            </a:r>
            <a:endParaRPr sz="2850" b="0" dirty="0">
              <a:solidFill>
                <a:srgbClr val="333333"/>
              </a:solidFill>
              <a:latin typeface="Calibri"/>
              <a:ea typeface="Calibri"/>
              <a:cs typeface="Calibri"/>
            </a:endParaRPr>
          </a:p>
        </p:txBody>
      </p:sp>
      <p:sp>
        <p:nvSpPr>
          <p:cNvPr id="95" name="Rectangle 94">
            <a:extLst>
              <a:ext uri="{FF2B5EF4-FFF2-40B4-BE49-F238E27FC236}">
                <a16:creationId xmlns:a16="http://schemas.microsoft.com/office/drawing/2014/main" id="{0D068165-28BE-41E2-928F-9AB1B7D51479}"/>
              </a:ext>
            </a:extLst>
          </p:cNvPr>
          <p:cNvSpPr>
            <a:spLocks noGrp="1"/>
          </p:cNvSpPr>
          <p:nvPr/>
        </p:nvSpPr>
        <p:spPr>
          <a:xfrm>
            <a:off x="9191625" y="5381625"/>
            <a:ext cx="7143750" cy="2190750"/>
          </a:xfrm>
          <a:prstGeom prst="rect">
            <a:avLst/>
          </a:prstGeom>
          <a:noFill/>
          <a:ln w="0">
            <a:noFill/>
          </a:ln>
        </p:spPr>
        <p:txBody>
          <a:bodyPr lIns="0" tIns="0" rIns="0" bIns="0"/>
          <a:lstStyle>
            <a:defPPr>
              <a:defRPr sz="2850" b="0">
                <a:solidFill>
                  <a:srgbClr val="333333"/>
                </a:solidFill>
                <a:latin typeface="Calibri"/>
                <a:ea typeface="Calibri"/>
                <a:cs typeface="Calibri"/>
              </a:defRPr>
            </a:defPPr>
            <a:lvl1pPr>
              <a:buNone/>
              <a:defRPr sz="2850" b="0">
                <a:solidFill>
                  <a:srgbClr val="333333"/>
                </a:solidFill>
                <a:latin typeface="Calibri"/>
                <a:ea typeface="Calibri"/>
                <a:cs typeface="Calibri"/>
              </a:defRPr>
            </a:lvl1pPr>
            <a:lvl2pPr>
              <a:buNone/>
              <a:defRPr sz="2850" b="0">
                <a:solidFill>
                  <a:srgbClr val="333333"/>
                </a:solidFill>
                <a:latin typeface="Calibri"/>
                <a:ea typeface="Calibri"/>
                <a:cs typeface="Calibri"/>
              </a:defRPr>
            </a:lvl2pPr>
            <a:lvl3pPr>
              <a:buNone/>
              <a:defRPr sz="2850" b="0">
                <a:solidFill>
                  <a:srgbClr val="333333"/>
                </a:solidFill>
                <a:latin typeface="Calibri"/>
                <a:ea typeface="Calibri"/>
                <a:cs typeface="Calibri"/>
              </a:defRPr>
            </a:lvl3pPr>
            <a:lvl4pPr>
              <a:buNone/>
              <a:defRPr sz="2850" b="0">
                <a:solidFill>
                  <a:srgbClr val="333333"/>
                </a:solidFill>
                <a:latin typeface="Calibri"/>
                <a:ea typeface="Calibri"/>
                <a:cs typeface="Calibri"/>
              </a:defRPr>
            </a:lvl4pPr>
            <a:lvl5pPr>
              <a:buNone/>
              <a:defRPr sz="2850" b="0">
                <a:solidFill>
                  <a:srgbClr val="333333"/>
                </a:solidFill>
                <a:latin typeface="Calibri"/>
                <a:ea typeface="Calibri"/>
                <a:cs typeface="Calibri"/>
              </a:defRPr>
            </a:lvl5pPr>
            <a:lvl6pPr>
              <a:buNone/>
              <a:defRPr sz="2850" b="0">
                <a:solidFill>
                  <a:srgbClr val="333333"/>
                </a:solidFill>
                <a:latin typeface="Calibri"/>
                <a:ea typeface="Calibri"/>
                <a:cs typeface="Calibri"/>
              </a:defRPr>
            </a:lvl6pPr>
            <a:lvl7pPr>
              <a:buNone/>
              <a:defRPr sz="2850" b="0">
                <a:solidFill>
                  <a:srgbClr val="333333"/>
                </a:solidFill>
                <a:latin typeface="Calibri"/>
                <a:ea typeface="Calibri"/>
                <a:cs typeface="Calibri"/>
              </a:defRPr>
            </a:lvl7pPr>
            <a:lvl8pPr>
              <a:buNone/>
              <a:defRPr sz="2850" b="0">
                <a:solidFill>
                  <a:srgbClr val="333333"/>
                </a:solidFill>
                <a:latin typeface="Calibri"/>
                <a:ea typeface="Calibri"/>
                <a:cs typeface="Calibri"/>
              </a:defRPr>
            </a:lvl8pPr>
            <a:lvl9pPr>
              <a:buNone/>
              <a:defRPr sz="2850" b="0">
                <a:solidFill>
                  <a:srgbClr val="333333"/>
                </a:solidFill>
                <a:latin typeface="Calibri"/>
                <a:ea typeface="Calibri"/>
                <a:cs typeface="Calibri"/>
              </a:defRPr>
            </a:lvl9pPr>
          </a:lstStyle>
          <a:p>
            <a:pPr>
              <a:buNone/>
              <a:defRPr sz="2850" b="0">
                <a:solidFill>
                  <a:srgbClr val="333333"/>
                </a:solidFill>
                <a:latin typeface="Calibri"/>
                <a:ea typeface="Calibri"/>
                <a:cs typeface="Calibri"/>
              </a:defRPr>
            </a:pPr>
            <a:r>
              <a:rPr sz="2850" b="0">
                <a:solidFill>
                  <a:srgbClr val="333333"/>
                </a:solidFill>
                <a:latin typeface="Calibri"/>
                <a:ea typeface="Calibri"/>
                <a:cs typeface="Calibri"/>
              </a:rPr>
              <a:t>Parth Dhande     16010123232</a:t>
            </a:r>
          </a:p>
          <a:p>
            <a:pPr>
              <a:buNone/>
              <a:defRPr sz="2850" b="0">
                <a:solidFill>
                  <a:srgbClr val="333333"/>
                </a:solidFill>
                <a:latin typeface="Calibri"/>
                <a:ea typeface="Calibri"/>
                <a:cs typeface="Calibri"/>
              </a:defRPr>
            </a:pPr>
            <a:r>
              <a:rPr sz="2850" b="0">
                <a:solidFill>
                  <a:srgbClr val="333333"/>
                </a:solidFill>
                <a:latin typeface="Calibri"/>
                <a:ea typeface="Calibri"/>
                <a:cs typeface="Calibri"/>
              </a:rPr>
              <a:t>Purab Madhan   16010123242</a:t>
            </a:r>
          </a:p>
          <a:p>
            <a:pPr>
              <a:buNone/>
              <a:defRPr sz="2850" b="0">
                <a:solidFill>
                  <a:srgbClr val="333333"/>
                </a:solidFill>
                <a:latin typeface="Calibri"/>
                <a:ea typeface="Calibri"/>
                <a:cs typeface="Calibri"/>
              </a:defRPr>
            </a:pPr>
            <a:r>
              <a:rPr sz="2850" b="0">
                <a:solidFill>
                  <a:srgbClr val="333333"/>
                </a:solidFill>
                <a:latin typeface="Calibri"/>
                <a:ea typeface="Calibri"/>
                <a:cs typeface="Calibri"/>
              </a:rPr>
              <a:t>Pushkar Rai       16010123243</a:t>
            </a:r>
          </a:p>
        </p:txBody>
      </p:sp>
      <p:sp>
        <p:nvSpPr>
          <p:cNvPr id="96" name="Rectangle 95">
            <a:extLst>
              <a:ext uri="{FF2B5EF4-FFF2-40B4-BE49-F238E27FC236}">
                <a16:creationId xmlns:a16="http://schemas.microsoft.com/office/drawing/2014/main" id="{5BB3C7B5-0F3E-45FD-9C1A-381FEA3B0E04}"/>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01 / 18</a:t>
            </a:r>
          </a:p>
        </p:txBody>
      </p:sp>
    </p:spTree>
    <p:extLst>
      <p:ext uri="{BB962C8B-B14F-4D97-AF65-F5344CB8AC3E}">
        <p14:creationId xmlns:p14="http://schemas.microsoft.com/office/powerpoint/2010/main" val="2128678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0F8B976D-3E6E-487C-BC9A-8308FA620506}"/>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buNone/>
              <a:defRPr sz="4000" b="0">
                <a:solidFill>
                  <a:srgbClr val="A83033"/>
                </a:solidFill>
                <a:latin typeface="Marcellus"/>
                <a:ea typeface="Marcellus"/>
                <a:cs typeface="Marcellus"/>
              </a:defRPr>
            </a:lvl1pPr>
            <a:lvl2pPr>
              <a:buNone/>
              <a:defRPr sz="4000" b="0">
                <a:solidFill>
                  <a:srgbClr val="A83033"/>
                </a:solidFill>
                <a:latin typeface="Marcellus"/>
                <a:ea typeface="Marcellus"/>
                <a:cs typeface="Marcellus"/>
              </a:defRPr>
            </a:lvl2pPr>
            <a:lvl3pPr>
              <a:buNone/>
              <a:defRPr sz="4000" b="0">
                <a:solidFill>
                  <a:srgbClr val="A83033"/>
                </a:solidFill>
                <a:latin typeface="Marcellus"/>
                <a:ea typeface="Marcellus"/>
                <a:cs typeface="Marcellus"/>
              </a:defRPr>
            </a:lvl3pPr>
            <a:lvl4pPr>
              <a:buNone/>
              <a:defRPr sz="4000" b="0">
                <a:solidFill>
                  <a:srgbClr val="A83033"/>
                </a:solidFill>
                <a:latin typeface="Marcellus"/>
                <a:ea typeface="Marcellus"/>
                <a:cs typeface="Marcellus"/>
              </a:defRPr>
            </a:lvl4pPr>
            <a:lvl5pPr>
              <a:buNone/>
              <a:defRPr sz="4000" b="0">
                <a:solidFill>
                  <a:srgbClr val="A83033"/>
                </a:solidFill>
                <a:latin typeface="Marcellus"/>
                <a:ea typeface="Marcellus"/>
                <a:cs typeface="Marcellus"/>
              </a:defRPr>
            </a:lvl5pPr>
            <a:lvl6pPr>
              <a:buNone/>
              <a:defRPr sz="4000" b="0">
                <a:solidFill>
                  <a:srgbClr val="A83033"/>
                </a:solidFill>
                <a:latin typeface="Marcellus"/>
                <a:ea typeface="Marcellus"/>
                <a:cs typeface="Marcellus"/>
              </a:defRPr>
            </a:lvl6pPr>
            <a:lvl7pPr>
              <a:buNone/>
              <a:defRPr sz="4000" b="0">
                <a:solidFill>
                  <a:srgbClr val="A83033"/>
                </a:solidFill>
                <a:latin typeface="Marcellus"/>
                <a:ea typeface="Marcellus"/>
                <a:cs typeface="Marcellus"/>
              </a:defRPr>
            </a:lvl7pPr>
            <a:lvl8pPr>
              <a:buNone/>
              <a:defRPr sz="4000" b="0">
                <a:solidFill>
                  <a:srgbClr val="A83033"/>
                </a:solidFill>
                <a:latin typeface="Marcellus"/>
                <a:ea typeface="Marcellus"/>
                <a:cs typeface="Marcellus"/>
              </a:defRPr>
            </a:lvl8pPr>
            <a:lvl9pPr>
              <a:buNone/>
              <a:defRPr sz="4000" b="0">
                <a:solidFill>
                  <a:srgbClr val="A83033"/>
                </a:solidFill>
                <a:latin typeface="Marcellus"/>
                <a:ea typeface="Marcellus"/>
                <a:cs typeface="Marcellus"/>
              </a:defRPr>
            </a:lvl9pPr>
          </a:lstStyle>
          <a:p>
            <a:pPr>
              <a:buNone/>
              <a:defRPr sz="4000" b="0">
                <a:solidFill>
                  <a:srgbClr val="A83033"/>
                </a:solidFill>
                <a:latin typeface="Marcellus"/>
                <a:ea typeface="Marcellus"/>
                <a:cs typeface="Marcellus"/>
              </a:defRPr>
            </a:pPr>
            <a:r>
              <a:rPr sz="4000" b="0">
                <a:solidFill>
                  <a:srgbClr val="A83033"/>
                </a:solidFill>
                <a:latin typeface="Marcellus"/>
                <a:ea typeface="Marcellus"/>
                <a:cs typeface="Marcellus"/>
              </a:rPr>
              <a:t>Problem and objectives</a:t>
            </a:r>
          </a:p>
        </p:txBody>
      </p:sp>
      <p:sp>
        <p:nvSpPr>
          <p:cNvPr id="108" name="Rectangle 107">
            <a:extLst>
              <a:ext uri="{FF2B5EF4-FFF2-40B4-BE49-F238E27FC236}">
                <a16:creationId xmlns:a16="http://schemas.microsoft.com/office/drawing/2014/main" id="{2B8BB7BF-7B03-4A8A-B055-890F6A94B8EE}"/>
              </a:ext>
            </a:extLst>
          </p:cNvPr>
          <p:cNvSpPr>
            <a:spLocks noGrp="1"/>
          </p:cNvSpPr>
          <p:nvPr/>
        </p:nvSpPr>
        <p:spPr>
          <a:xfrm>
            <a:off x="2238375" y="2143125"/>
            <a:ext cx="8096250" cy="4191000"/>
          </a:xfrm>
          <a:prstGeom prst="rect">
            <a:avLst/>
          </a:prstGeom>
          <a:noFill/>
          <a:ln w="0">
            <a:noFill/>
          </a:ln>
        </p:spPr>
        <p:txBody>
          <a:bodyPr lIns="0" tIns="0" rIns="0" bIns="0"/>
          <a:lstStyle>
            <a:defPPr>
              <a:defRPr sz="3225" b="0">
                <a:solidFill>
                  <a:srgbClr val="333333"/>
                </a:solidFill>
                <a:latin typeface="Calibri"/>
                <a:ea typeface="Calibri"/>
                <a:cs typeface="Calibri"/>
              </a:defRPr>
            </a:defPPr>
            <a:lvl1pPr>
              <a:buNone/>
              <a:defRPr sz="3225" b="0">
                <a:solidFill>
                  <a:srgbClr val="333333"/>
                </a:solidFill>
                <a:latin typeface="Calibri"/>
                <a:ea typeface="Calibri"/>
                <a:cs typeface="Calibri"/>
              </a:defRPr>
            </a:lvl1pPr>
            <a:lvl2pPr>
              <a:buNone/>
              <a:defRPr sz="3225" b="0">
                <a:solidFill>
                  <a:srgbClr val="333333"/>
                </a:solidFill>
                <a:latin typeface="Calibri"/>
                <a:ea typeface="Calibri"/>
                <a:cs typeface="Calibri"/>
              </a:defRPr>
            </a:lvl2pPr>
            <a:lvl3pPr>
              <a:buNone/>
              <a:defRPr sz="3225" b="0">
                <a:solidFill>
                  <a:srgbClr val="333333"/>
                </a:solidFill>
                <a:latin typeface="Calibri"/>
                <a:ea typeface="Calibri"/>
                <a:cs typeface="Calibri"/>
              </a:defRPr>
            </a:lvl3pPr>
            <a:lvl4pPr>
              <a:buNone/>
              <a:defRPr sz="3225" b="0">
                <a:solidFill>
                  <a:srgbClr val="333333"/>
                </a:solidFill>
                <a:latin typeface="Calibri"/>
                <a:ea typeface="Calibri"/>
                <a:cs typeface="Calibri"/>
              </a:defRPr>
            </a:lvl4pPr>
            <a:lvl5pPr>
              <a:buNone/>
              <a:defRPr sz="3225" b="0">
                <a:solidFill>
                  <a:srgbClr val="333333"/>
                </a:solidFill>
                <a:latin typeface="Calibri"/>
                <a:ea typeface="Calibri"/>
                <a:cs typeface="Calibri"/>
              </a:defRPr>
            </a:lvl5pPr>
            <a:lvl6pPr>
              <a:buNone/>
              <a:defRPr sz="3225" b="0">
                <a:solidFill>
                  <a:srgbClr val="333333"/>
                </a:solidFill>
                <a:latin typeface="Calibri"/>
                <a:ea typeface="Calibri"/>
                <a:cs typeface="Calibri"/>
              </a:defRPr>
            </a:lvl6pPr>
            <a:lvl7pPr>
              <a:buNone/>
              <a:defRPr sz="3225" b="0">
                <a:solidFill>
                  <a:srgbClr val="333333"/>
                </a:solidFill>
                <a:latin typeface="Calibri"/>
                <a:ea typeface="Calibri"/>
                <a:cs typeface="Calibri"/>
              </a:defRPr>
            </a:lvl7pPr>
            <a:lvl8pPr>
              <a:buNone/>
              <a:defRPr sz="3225" b="0">
                <a:solidFill>
                  <a:srgbClr val="333333"/>
                </a:solidFill>
                <a:latin typeface="Calibri"/>
                <a:ea typeface="Calibri"/>
                <a:cs typeface="Calibri"/>
              </a:defRPr>
            </a:lvl8pPr>
            <a:lvl9pPr>
              <a:buNone/>
              <a:defRPr sz="3225" b="0">
                <a:solidFill>
                  <a:srgbClr val="333333"/>
                </a:solidFill>
                <a:latin typeface="Calibri"/>
                <a:ea typeface="Calibri"/>
                <a:cs typeface="Calibri"/>
              </a:defRPr>
            </a:lvl9pPr>
          </a:lstStyle>
          <a:p>
            <a:pPr>
              <a:buNone/>
              <a:defRPr sz="3225" b="0">
                <a:solidFill>
                  <a:srgbClr val="333333"/>
                </a:solidFill>
                <a:latin typeface="Calibri"/>
                <a:ea typeface="Calibri"/>
                <a:cs typeface="Calibri"/>
              </a:defRPr>
            </a:pPr>
            <a:r>
              <a:rPr sz="3225" b="0">
                <a:solidFill>
                  <a:srgbClr val="333333"/>
                </a:solidFill>
                <a:latin typeface="Calibri"/>
                <a:ea typeface="Calibri"/>
                <a:cs typeface="Calibri"/>
              </a:rPr>
              <a:t>Demand changes faster than new workers become ready.</a:t>
            </a:r>
          </a:p>
          <a:p>
            <a:endParaRPr sz="3225" b="0">
              <a:solidFill>
                <a:srgbClr val="333333"/>
              </a:solidFill>
              <a:latin typeface="Calibri"/>
              <a:ea typeface="Calibri"/>
              <a:cs typeface="Calibri"/>
            </a:endParaRPr>
          </a:p>
          <a:p>
            <a:pPr>
              <a:buNone/>
              <a:defRPr sz="3225" b="0">
                <a:solidFill>
                  <a:srgbClr val="333333"/>
                </a:solidFill>
                <a:latin typeface="Calibri"/>
                <a:ea typeface="Calibri"/>
                <a:cs typeface="Calibri"/>
              </a:defRPr>
            </a:pPr>
            <a:r>
              <a:rPr sz="3225" b="0">
                <a:solidFill>
                  <a:srgbClr val="333333"/>
                </a:solidFill>
                <a:latin typeface="Calibri"/>
                <a:ea typeface="Calibri"/>
                <a:cs typeface="Calibri"/>
              </a:rPr>
              <a:t>Too little capacity increases latency. Keeping maximum capacity wastes resources.</a:t>
            </a:r>
          </a:p>
        </p:txBody>
      </p:sp>
      <p:sp>
        <p:nvSpPr>
          <p:cNvPr id="109" name="Rectangle 108">
            <a:extLst>
              <a:ext uri="{FF2B5EF4-FFF2-40B4-BE49-F238E27FC236}">
                <a16:creationId xmlns:a16="http://schemas.microsoft.com/office/drawing/2014/main" id="{A2F308C1-2219-4BDB-A979-29DD1D295906}"/>
              </a:ext>
            </a:extLst>
          </p:cNvPr>
          <p:cNvSpPr>
            <a:spLocks noGrp="1"/>
          </p:cNvSpPr>
          <p:nvPr/>
        </p:nvSpPr>
        <p:spPr>
          <a:xfrm>
            <a:off x="11144250" y="2143125"/>
            <a:ext cx="5076825" cy="666750"/>
          </a:xfrm>
          <a:prstGeom prst="rect">
            <a:avLst/>
          </a:prstGeom>
          <a:noFill/>
          <a:ln w="0">
            <a:noFill/>
          </a:ln>
        </p:spPr>
        <p:txBody>
          <a:bodyPr lIns="0" tIns="0" rIns="0" bIns="0"/>
          <a:lstStyle>
            <a:defPPr>
              <a:defRPr sz="3000" b="1">
                <a:solidFill>
                  <a:srgbClr val="A83033"/>
                </a:solidFill>
                <a:latin typeface="Calibri"/>
                <a:ea typeface="Calibri"/>
                <a:cs typeface="Calibri"/>
              </a:defRPr>
            </a:defPPr>
            <a:lvl1pPr>
              <a:buNone/>
              <a:defRPr sz="3000" b="1">
                <a:solidFill>
                  <a:srgbClr val="A83033"/>
                </a:solidFill>
                <a:latin typeface="Calibri"/>
                <a:ea typeface="Calibri"/>
                <a:cs typeface="Calibri"/>
              </a:defRPr>
            </a:lvl1pPr>
            <a:lvl2pPr>
              <a:buNone/>
              <a:defRPr sz="3000" b="1">
                <a:solidFill>
                  <a:srgbClr val="A83033"/>
                </a:solidFill>
                <a:latin typeface="Calibri"/>
                <a:ea typeface="Calibri"/>
                <a:cs typeface="Calibri"/>
              </a:defRPr>
            </a:lvl2pPr>
            <a:lvl3pPr>
              <a:buNone/>
              <a:defRPr sz="3000" b="1">
                <a:solidFill>
                  <a:srgbClr val="A83033"/>
                </a:solidFill>
                <a:latin typeface="Calibri"/>
                <a:ea typeface="Calibri"/>
                <a:cs typeface="Calibri"/>
              </a:defRPr>
            </a:lvl3pPr>
            <a:lvl4pPr>
              <a:buNone/>
              <a:defRPr sz="3000" b="1">
                <a:solidFill>
                  <a:srgbClr val="A83033"/>
                </a:solidFill>
                <a:latin typeface="Calibri"/>
                <a:ea typeface="Calibri"/>
                <a:cs typeface="Calibri"/>
              </a:defRPr>
            </a:lvl4pPr>
            <a:lvl5pPr>
              <a:buNone/>
              <a:defRPr sz="3000" b="1">
                <a:solidFill>
                  <a:srgbClr val="A83033"/>
                </a:solidFill>
                <a:latin typeface="Calibri"/>
                <a:ea typeface="Calibri"/>
                <a:cs typeface="Calibri"/>
              </a:defRPr>
            </a:lvl5pPr>
            <a:lvl6pPr>
              <a:buNone/>
              <a:defRPr sz="3000" b="1">
                <a:solidFill>
                  <a:srgbClr val="A83033"/>
                </a:solidFill>
                <a:latin typeface="Calibri"/>
                <a:ea typeface="Calibri"/>
                <a:cs typeface="Calibri"/>
              </a:defRPr>
            </a:lvl6pPr>
            <a:lvl7pPr>
              <a:buNone/>
              <a:defRPr sz="3000" b="1">
                <a:solidFill>
                  <a:srgbClr val="A83033"/>
                </a:solidFill>
                <a:latin typeface="Calibri"/>
                <a:ea typeface="Calibri"/>
                <a:cs typeface="Calibri"/>
              </a:defRPr>
            </a:lvl7pPr>
            <a:lvl8pPr>
              <a:buNone/>
              <a:defRPr sz="3000" b="1">
                <a:solidFill>
                  <a:srgbClr val="A83033"/>
                </a:solidFill>
                <a:latin typeface="Calibri"/>
                <a:ea typeface="Calibri"/>
                <a:cs typeface="Calibri"/>
              </a:defRPr>
            </a:lvl8pPr>
            <a:lvl9pPr>
              <a:buNone/>
              <a:defRPr sz="3000" b="1">
                <a:solidFill>
                  <a:srgbClr val="A83033"/>
                </a:solidFill>
                <a:latin typeface="Calibri"/>
                <a:ea typeface="Calibri"/>
                <a:cs typeface="Calibri"/>
              </a:defRPr>
            </a:lvl9pPr>
          </a:lstStyle>
          <a:p>
            <a:pPr>
              <a:buNone/>
              <a:defRPr sz="3000" b="1">
                <a:solidFill>
                  <a:srgbClr val="A83033"/>
                </a:solidFill>
                <a:latin typeface="Calibri"/>
                <a:ea typeface="Calibri"/>
                <a:cs typeface="Calibri"/>
              </a:defRPr>
            </a:pPr>
            <a:r>
              <a:rPr sz="3000" b="1">
                <a:solidFill>
                  <a:srgbClr val="A83033"/>
                </a:solidFill>
                <a:latin typeface="Calibri"/>
                <a:ea typeface="Calibri"/>
                <a:cs typeface="Calibri"/>
              </a:rPr>
              <a:t>Our operating target</a:t>
            </a:r>
          </a:p>
        </p:txBody>
      </p:sp>
      <p:sp>
        <p:nvSpPr>
          <p:cNvPr id="110" name="Rectangle 109">
            <a:extLst>
              <a:ext uri="{FF2B5EF4-FFF2-40B4-BE49-F238E27FC236}">
                <a16:creationId xmlns:a16="http://schemas.microsoft.com/office/drawing/2014/main" id="{F005C662-4CE0-465C-93AA-C3D80E70B705}"/>
              </a:ext>
            </a:extLst>
          </p:cNvPr>
          <p:cNvSpPr>
            <a:spLocks noGrp="1"/>
          </p:cNvSpPr>
          <p:nvPr/>
        </p:nvSpPr>
        <p:spPr>
          <a:xfrm>
            <a:off x="11144250" y="3000375"/>
            <a:ext cx="5076825" cy="4191000"/>
          </a:xfrm>
          <a:prstGeom prst="rect">
            <a:avLst/>
          </a:prstGeom>
          <a:noFill/>
          <a:ln w="0">
            <a:noFill/>
          </a:ln>
        </p:spPr>
        <p:txBody>
          <a:bodyPr lIns="0" tIns="0" rIns="0" bIns="0"/>
          <a:lstStyle>
            <a:defPPr>
              <a:defRPr sz="2850" b="0">
                <a:solidFill>
                  <a:srgbClr val="333333"/>
                </a:solidFill>
                <a:latin typeface="Calibri"/>
                <a:ea typeface="Calibri"/>
                <a:cs typeface="Calibri"/>
              </a:defRPr>
            </a:defPPr>
            <a:lvl1pPr>
              <a:buNone/>
              <a:defRPr sz="2850" b="0">
                <a:solidFill>
                  <a:srgbClr val="333333"/>
                </a:solidFill>
                <a:latin typeface="Calibri"/>
                <a:ea typeface="Calibri"/>
                <a:cs typeface="Calibri"/>
              </a:defRPr>
            </a:lvl1pPr>
            <a:lvl2pPr>
              <a:buNone/>
              <a:defRPr sz="2850" b="0">
                <a:solidFill>
                  <a:srgbClr val="333333"/>
                </a:solidFill>
                <a:latin typeface="Calibri"/>
                <a:ea typeface="Calibri"/>
                <a:cs typeface="Calibri"/>
              </a:defRPr>
            </a:lvl2pPr>
            <a:lvl3pPr>
              <a:buNone/>
              <a:defRPr sz="2850" b="0">
                <a:solidFill>
                  <a:srgbClr val="333333"/>
                </a:solidFill>
                <a:latin typeface="Calibri"/>
                <a:ea typeface="Calibri"/>
                <a:cs typeface="Calibri"/>
              </a:defRPr>
            </a:lvl3pPr>
            <a:lvl4pPr>
              <a:buNone/>
              <a:defRPr sz="2850" b="0">
                <a:solidFill>
                  <a:srgbClr val="333333"/>
                </a:solidFill>
                <a:latin typeface="Calibri"/>
                <a:ea typeface="Calibri"/>
                <a:cs typeface="Calibri"/>
              </a:defRPr>
            </a:lvl4pPr>
            <a:lvl5pPr>
              <a:buNone/>
              <a:defRPr sz="2850" b="0">
                <a:solidFill>
                  <a:srgbClr val="333333"/>
                </a:solidFill>
                <a:latin typeface="Calibri"/>
                <a:ea typeface="Calibri"/>
                <a:cs typeface="Calibri"/>
              </a:defRPr>
            </a:lvl5pPr>
            <a:lvl6pPr>
              <a:buNone/>
              <a:defRPr sz="2850" b="0">
                <a:solidFill>
                  <a:srgbClr val="333333"/>
                </a:solidFill>
                <a:latin typeface="Calibri"/>
                <a:ea typeface="Calibri"/>
                <a:cs typeface="Calibri"/>
              </a:defRPr>
            </a:lvl6pPr>
            <a:lvl7pPr>
              <a:buNone/>
              <a:defRPr sz="2850" b="0">
                <a:solidFill>
                  <a:srgbClr val="333333"/>
                </a:solidFill>
                <a:latin typeface="Calibri"/>
                <a:ea typeface="Calibri"/>
                <a:cs typeface="Calibri"/>
              </a:defRPr>
            </a:lvl7pPr>
            <a:lvl8pPr>
              <a:buNone/>
              <a:defRPr sz="2850" b="0">
                <a:solidFill>
                  <a:srgbClr val="333333"/>
                </a:solidFill>
                <a:latin typeface="Calibri"/>
                <a:ea typeface="Calibri"/>
                <a:cs typeface="Calibri"/>
              </a:defRPr>
            </a:lvl8pPr>
            <a:lvl9pPr>
              <a:buNone/>
              <a:defRPr sz="2850" b="0">
                <a:solidFill>
                  <a:srgbClr val="333333"/>
                </a:solidFill>
                <a:latin typeface="Calibri"/>
                <a:ea typeface="Calibri"/>
                <a:cs typeface="Calibri"/>
              </a:defRPr>
            </a:lvl9pPr>
          </a:lstStyle>
          <a:p>
            <a:pPr>
              <a:buNone/>
              <a:defRPr sz="2850" b="0">
                <a:solidFill>
                  <a:srgbClr val="333333"/>
                </a:solidFill>
                <a:latin typeface="Calibri"/>
                <a:ea typeface="Calibri"/>
                <a:cs typeface="Calibri"/>
              </a:defRPr>
            </a:pPr>
            <a:r>
              <a:rPr sz="2850" b="0">
                <a:solidFill>
                  <a:srgbClr val="333333"/>
                </a:solidFill>
                <a:latin typeface="Calibri"/>
                <a:ea typeface="Calibri"/>
                <a:cs typeface="Calibri"/>
              </a:rPr>
              <a:t>p95 latency at or below 250 ms</a:t>
            </a:r>
          </a:p>
          <a:p>
            <a:endParaRPr sz="2850" b="0">
              <a:solidFill>
                <a:srgbClr val="333333"/>
              </a:solidFill>
              <a:latin typeface="Calibri"/>
              <a:ea typeface="Calibri"/>
              <a:cs typeface="Calibri"/>
            </a:endParaRPr>
          </a:p>
          <a:p>
            <a:pPr>
              <a:buNone/>
              <a:defRPr sz="2850" b="0">
                <a:solidFill>
                  <a:srgbClr val="333333"/>
                </a:solidFill>
                <a:latin typeface="Calibri"/>
                <a:ea typeface="Calibri"/>
                <a:cs typeface="Calibri"/>
              </a:defRPr>
            </a:pPr>
            <a:r>
              <a:rPr sz="2850" b="0">
                <a:solidFill>
                  <a:srgbClr val="333333"/>
                </a:solidFill>
                <a:latin typeface="Calibri"/>
                <a:ea typeface="Calibri"/>
                <a:cs typeface="Calibri"/>
              </a:rPr>
              <a:t>At least 99% successful requests</a:t>
            </a:r>
          </a:p>
          <a:p>
            <a:endParaRPr sz="2850" b="0">
              <a:solidFill>
                <a:srgbClr val="333333"/>
              </a:solidFill>
              <a:latin typeface="Calibri"/>
              <a:ea typeface="Calibri"/>
              <a:cs typeface="Calibri"/>
            </a:endParaRPr>
          </a:p>
          <a:p>
            <a:pPr>
              <a:buNone/>
              <a:defRPr sz="2850" b="0">
                <a:solidFill>
                  <a:srgbClr val="333333"/>
                </a:solidFill>
                <a:latin typeface="Calibri"/>
                <a:ea typeface="Calibri"/>
                <a:cs typeface="Calibri"/>
              </a:defRPr>
            </a:pPr>
            <a:r>
              <a:rPr sz="2850" b="0">
                <a:solidFill>
                  <a:srgbClr val="333333"/>
                </a:solidFill>
                <a:latin typeface="Calibri"/>
                <a:ea typeface="Calibri"/>
                <a:cs typeface="Calibri"/>
              </a:rPr>
              <a:t>1 to 4 worker replicas</a:t>
            </a:r>
          </a:p>
        </p:txBody>
      </p:sp>
      <p:sp>
        <p:nvSpPr>
          <p:cNvPr id="111" name="Rectangle 110">
            <a:extLst>
              <a:ext uri="{FF2B5EF4-FFF2-40B4-BE49-F238E27FC236}">
                <a16:creationId xmlns:a16="http://schemas.microsoft.com/office/drawing/2014/main" id="{7285D117-6A6A-4761-9A32-622A6042EF4E}"/>
              </a:ext>
            </a:extLst>
          </p:cNvPr>
          <p:cNvSpPr>
            <a:spLocks noGrp="1"/>
          </p:cNvSpPr>
          <p:nvPr/>
        </p:nvSpPr>
        <p:spPr>
          <a:xfrm>
            <a:off x="2238375" y="7286625"/>
            <a:ext cx="13982700" cy="1047750"/>
          </a:xfrm>
          <a:prstGeom prst="rect">
            <a:avLst/>
          </a:prstGeom>
          <a:noFill/>
          <a:ln w="0">
            <a:noFill/>
          </a:ln>
        </p:spPr>
        <p:txBody>
          <a:bodyPr lIns="0" tIns="0" rIns="0" bIns="0"/>
          <a:lstStyle>
            <a:defPPr>
              <a:defRPr sz="2850" b="1">
                <a:solidFill>
                  <a:srgbClr val="A83033"/>
                </a:solidFill>
                <a:latin typeface="Calibri"/>
                <a:ea typeface="Calibri"/>
                <a:cs typeface="Calibri"/>
              </a:defRPr>
            </a:defPPr>
            <a:lvl1pPr>
              <a:buNone/>
              <a:defRPr sz="2850" b="1">
                <a:solidFill>
                  <a:srgbClr val="A83033"/>
                </a:solidFill>
                <a:latin typeface="Calibri"/>
                <a:ea typeface="Calibri"/>
                <a:cs typeface="Calibri"/>
              </a:defRPr>
            </a:lvl1pPr>
            <a:lvl2pPr>
              <a:buNone/>
              <a:defRPr sz="2850" b="1">
                <a:solidFill>
                  <a:srgbClr val="A83033"/>
                </a:solidFill>
                <a:latin typeface="Calibri"/>
                <a:ea typeface="Calibri"/>
                <a:cs typeface="Calibri"/>
              </a:defRPr>
            </a:lvl2pPr>
            <a:lvl3pPr>
              <a:buNone/>
              <a:defRPr sz="2850" b="1">
                <a:solidFill>
                  <a:srgbClr val="A83033"/>
                </a:solidFill>
                <a:latin typeface="Calibri"/>
                <a:ea typeface="Calibri"/>
                <a:cs typeface="Calibri"/>
              </a:defRPr>
            </a:lvl3pPr>
            <a:lvl4pPr>
              <a:buNone/>
              <a:defRPr sz="2850" b="1">
                <a:solidFill>
                  <a:srgbClr val="A83033"/>
                </a:solidFill>
                <a:latin typeface="Calibri"/>
                <a:ea typeface="Calibri"/>
                <a:cs typeface="Calibri"/>
              </a:defRPr>
            </a:lvl4pPr>
            <a:lvl5pPr>
              <a:buNone/>
              <a:defRPr sz="2850" b="1">
                <a:solidFill>
                  <a:srgbClr val="A83033"/>
                </a:solidFill>
                <a:latin typeface="Calibri"/>
                <a:ea typeface="Calibri"/>
                <a:cs typeface="Calibri"/>
              </a:defRPr>
            </a:lvl5pPr>
            <a:lvl6pPr>
              <a:buNone/>
              <a:defRPr sz="2850" b="1">
                <a:solidFill>
                  <a:srgbClr val="A83033"/>
                </a:solidFill>
                <a:latin typeface="Calibri"/>
                <a:ea typeface="Calibri"/>
                <a:cs typeface="Calibri"/>
              </a:defRPr>
            </a:lvl6pPr>
            <a:lvl7pPr>
              <a:buNone/>
              <a:defRPr sz="2850" b="1">
                <a:solidFill>
                  <a:srgbClr val="A83033"/>
                </a:solidFill>
                <a:latin typeface="Calibri"/>
                <a:ea typeface="Calibri"/>
                <a:cs typeface="Calibri"/>
              </a:defRPr>
            </a:lvl7pPr>
            <a:lvl8pPr>
              <a:buNone/>
              <a:defRPr sz="2850" b="1">
                <a:solidFill>
                  <a:srgbClr val="A83033"/>
                </a:solidFill>
                <a:latin typeface="Calibri"/>
                <a:ea typeface="Calibri"/>
                <a:cs typeface="Calibri"/>
              </a:defRPr>
            </a:lvl8pPr>
            <a:lvl9pPr>
              <a:buNone/>
              <a:defRPr sz="2850" b="1">
                <a:solidFill>
                  <a:srgbClr val="A83033"/>
                </a:solidFill>
                <a:latin typeface="Calibri"/>
                <a:ea typeface="Calibri"/>
                <a:cs typeface="Calibri"/>
              </a:defRPr>
            </a:lvl9pPr>
          </a:lstStyle>
          <a:p>
            <a:pPr>
              <a:buNone/>
              <a:defRPr sz="2850" b="1">
                <a:solidFill>
                  <a:srgbClr val="A83033"/>
                </a:solidFill>
                <a:latin typeface="Calibri"/>
                <a:ea typeface="Calibri"/>
                <a:cs typeface="Calibri"/>
              </a:defRPr>
            </a:pPr>
            <a:r>
              <a:rPr sz="2850" b="1">
                <a:solidFill>
                  <a:srgbClr val="A83033"/>
                </a:solidFill>
                <a:latin typeface="Calibri"/>
                <a:ea typeface="Calibri"/>
                <a:cs typeface="Calibri"/>
              </a:rPr>
              <a:t>Predict the next 30-second peak, then allocate enough capacity within the configured limit.</a:t>
            </a:r>
          </a:p>
        </p:txBody>
      </p:sp>
      <p:sp>
        <p:nvSpPr>
          <p:cNvPr id="112" name="Rectangle 111">
            <a:extLst>
              <a:ext uri="{FF2B5EF4-FFF2-40B4-BE49-F238E27FC236}">
                <a16:creationId xmlns:a16="http://schemas.microsoft.com/office/drawing/2014/main" id="{3479DC15-18E6-495D-9333-FA956E2344D2}"/>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02 / 18</a:t>
            </a:r>
          </a:p>
        </p:txBody>
      </p:sp>
    </p:spTree>
    <p:extLst>
      <p:ext uri="{BB962C8B-B14F-4D97-AF65-F5344CB8AC3E}">
        <p14:creationId xmlns:p14="http://schemas.microsoft.com/office/powerpoint/2010/main" val="1518820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Google Shape;361;p26">
            <a:extLst>
              <a:ext uri="{FF2B5EF4-FFF2-40B4-BE49-F238E27FC236}">
                <a16:creationId xmlns:a16="http://schemas.microsoft.com/office/drawing/2014/main" id="{8463C9F1-FA0B-48E0-8ABD-651575122F4E}"/>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362" name="Google Shape;362;p26">
            <a:extLst>
              <a:ext uri="{FF2B5EF4-FFF2-40B4-BE49-F238E27FC236}">
                <a16:creationId xmlns:a16="http://schemas.microsoft.com/office/drawing/2014/main" id="{87E29372-A0C7-470F-8DE6-D55BAE5C0F5F}"/>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364" name="Google Shape;364;p26">
            <a:extLst>
              <a:ext uri="{FF2B5EF4-FFF2-40B4-BE49-F238E27FC236}">
                <a16:creationId xmlns:a16="http://schemas.microsoft.com/office/drawing/2014/main" id="{640D5052-7C58-4BA7-BABB-F9FE4E088571}"/>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365" name="Google Shape;365;p26">
            <a:extLst>
              <a:ext uri="{FF2B5EF4-FFF2-40B4-BE49-F238E27FC236}">
                <a16:creationId xmlns:a16="http://schemas.microsoft.com/office/drawing/2014/main" id="{6C7E484A-08C2-4350-9B51-5EA0BD638F41}"/>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366" name="Google Shape;366;p26">
            <a:extLst>
              <a:ext uri="{FF2B5EF4-FFF2-40B4-BE49-F238E27FC236}">
                <a16:creationId xmlns:a16="http://schemas.microsoft.com/office/drawing/2014/main" id="{1E626543-E02F-48A6-9F26-3130AFA28CD3}"/>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367" name="Google Shape;367;p26">
            <a:extLst>
              <a:ext uri="{FF2B5EF4-FFF2-40B4-BE49-F238E27FC236}">
                <a16:creationId xmlns:a16="http://schemas.microsoft.com/office/drawing/2014/main" id="{85DBA32C-0EF9-4EE0-8701-FD10CECD49F2}"/>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368" name="Google Shape;368;p26">
            <a:extLst>
              <a:ext uri="{FF2B5EF4-FFF2-40B4-BE49-F238E27FC236}">
                <a16:creationId xmlns:a16="http://schemas.microsoft.com/office/drawing/2014/main" id="{9F6B4327-5FEE-42FD-A35C-953BF203D08B}"/>
              </a:ext>
            </a:extLst>
          </p:cNvPr>
          <p:cNvSpPr>
            <a:spLocks noGrp="1"/>
          </p:cNvSpPr>
          <p:nvPr/>
        </p:nvSpPr>
        <p:spPr>
          <a:xfrm>
            <a:off x="2244013" y="933450"/>
            <a:ext cx="13977987" cy="800000"/>
          </a:xfrm>
          <a:prstGeom prst="rect">
            <a:avLst/>
          </a:prstGeom>
          <a:no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000000"/>
              </a:buClr>
              <a:buSzPts val="4000"/>
              <a:buFont typeface="Arial"/>
              <a:buNone/>
            </a:pPr>
            <a:r>
              <a:rPr sz="4000" b="0" i="0" u="none" strike="noStrike" cap="none">
                <a:solidFill>
                  <a:srgbClr val="A83033"/>
                </a:solidFill>
                <a:latin typeface="Marcellus"/>
                <a:ea typeface="Marcellus"/>
                <a:cs typeface="Marcellus"/>
              </a:rPr>
              <a:t>System architecture</a:t>
            </a:r>
            <a:endParaRPr/>
          </a:p>
        </p:txBody>
      </p:sp>
      <p:sp>
        <p:nvSpPr>
          <p:cNvPr id="369" name="Google Shape;369;p26">
            <a:extLst>
              <a:ext uri="{FF2B5EF4-FFF2-40B4-BE49-F238E27FC236}">
                <a16:creationId xmlns:a16="http://schemas.microsoft.com/office/drawing/2014/main" id="{BA04FFDD-BE7E-4254-B920-F2805ADB438D}"/>
              </a:ext>
            </a:extLst>
          </p:cNvPr>
          <p:cNvSpPr>
            <a:spLocks noGrp="1"/>
          </p:cNvSpPr>
          <p:nvPr/>
        </p:nvSpPr>
        <p:spPr>
          <a:xfrm>
            <a:off x="2244013" y="2050000"/>
            <a:ext cx="3119496" cy="2500000"/>
          </a:xfrm>
          <a:prstGeom prst="roundRect">
            <a:avLst>
              <a:gd name="adj" fmla="val 5000"/>
            </a:avLst>
          </a:prstGeom>
          <a:solidFill>
            <a:srgbClr val="F8EBEB"/>
          </a:solidFill>
          <a:ln>
            <a:noFill/>
          </a:ln>
        </p:spPr>
        <p:txBody>
          <a:bodyPr spcFirstLastPara="1" wrap="square" lIns="150000" tIns="150000" rIns="150000" bIns="150000" anchor="ctr">
            <a:noAutofit/>
          </a:bodyPr>
          <a:lstStyle/>
          <a:p>
            <a:pPr marL="0" marR="0" lvl="0" indent="0" algn="ctr">
              <a:lnSpc>
                <a:spcPct val="100000"/>
              </a:lnSpc>
              <a:spcBef>
                <a:spcPts val="0"/>
              </a:spcBef>
              <a:spcAft>
                <a:spcPts val="0"/>
              </a:spcAft>
              <a:buClr>
                <a:srgbClr val="000000"/>
              </a:buClr>
              <a:buSzPts val="3218"/>
              <a:buFont typeface="Arial"/>
              <a:buNone/>
            </a:pPr>
            <a:r>
              <a:rPr sz="3219" b="1" i="0" u="none" strike="noStrike" cap="none">
                <a:solidFill>
                  <a:srgbClr val="A83033"/>
                </a:solidFill>
                <a:latin typeface="Calibri"/>
                <a:ea typeface="Calibri"/>
                <a:cs typeface="Calibri"/>
              </a:rPr>
              <a:t>Load generator</a:t>
            </a:r>
            <a:endParaRPr/>
          </a:p>
          <a:p>
            <a:pPr marL="0" marR="0" lvl="0" indent="0" algn="ctr">
              <a:lnSpc>
                <a:spcPct val="100000"/>
              </a:lnSpc>
              <a:spcBef>
                <a:spcPts val="459"/>
              </a:spcBef>
              <a:spcAft>
                <a:spcPts val="0"/>
              </a:spcAft>
              <a:buClr>
                <a:srgbClr val="000000"/>
              </a:buClr>
              <a:buSzPts val="2760"/>
              <a:buFont typeface="Arial"/>
              <a:buNone/>
            </a:pPr>
            <a:r>
              <a:rPr sz="2760" b="0" i="0" u="none" strike="noStrike" cap="none">
                <a:solidFill>
                  <a:srgbClr val="262626"/>
                </a:solidFill>
                <a:latin typeface="Calibri"/>
                <a:ea typeface="Calibri"/>
                <a:cs typeface="Calibri"/>
              </a:rPr>
              <a:t>Real HTTP replay</a:t>
            </a:r>
            <a:endParaRPr/>
          </a:p>
        </p:txBody>
      </p:sp>
      <p:sp>
        <p:nvSpPr>
          <p:cNvPr id="370" name="Google Shape;370;p26">
            <a:extLst>
              <a:ext uri="{FF2B5EF4-FFF2-40B4-BE49-F238E27FC236}">
                <a16:creationId xmlns:a16="http://schemas.microsoft.com/office/drawing/2014/main" id="{BD6DF38F-DDD0-4159-AE52-80D854F8222D}"/>
              </a:ext>
            </a:extLst>
          </p:cNvPr>
          <p:cNvSpPr>
            <a:spLocks noGrp="1"/>
          </p:cNvSpPr>
          <p:nvPr/>
        </p:nvSpPr>
        <p:spPr>
          <a:xfrm>
            <a:off x="5438509" y="3000000"/>
            <a:ext cx="350000" cy="600000"/>
          </a:xfrm>
          <a:prstGeom prst="rightArrow">
            <a:avLst>
              <a:gd name="adj1" fmla="val 50000"/>
              <a:gd name="adj2" fmla="val 50000"/>
            </a:avLst>
          </a:prstGeom>
          <a:solidFill>
            <a:srgbClr val="A83033"/>
          </a:solidFill>
          <a:ln>
            <a:noFill/>
          </a:ln>
        </p:spPr>
        <p:txBody>
          <a:bodyPr spcFirstLastPara="1" wrap="square" lIns="0" tIns="0" rIns="0" bIns="0" anchor="t">
            <a:noAutofit/>
          </a:bodyPr>
          <a:lstStyle/>
          <a:p>
            <a:pPr marL="0" marR="0" lvl="0" indent="0" algn="l">
              <a:lnSpc>
                <a:spcPct val="100000"/>
              </a:lnSpc>
              <a:spcBef>
                <a:spcPts val="0"/>
              </a:spcBef>
              <a:spcAft>
                <a:spcPts val="0"/>
              </a:spcAft>
              <a:buNone/>
            </a:pPr>
            <a:endParaRPr sz="1400" b="0" i="0" u="none" strike="noStrike" cap="none">
              <a:solidFill>
                <a:srgbClr val="000000"/>
              </a:solidFill>
              <a:latin typeface="Arial"/>
              <a:ea typeface="Arial"/>
              <a:cs typeface="Arial"/>
            </a:endParaRPr>
          </a:p>
        </p:txBody>
      </p:sp>
      <p:sp>
        <p:nvSpPr>
          <p:cNvPr id="371" name="Google Shape;371;p26">
            <a:extLst>
              <a:ext uri="{FF2B5EF4-FFF2-40B4-BE49-F238E27FC236}">
                <a16:creationId xmlns:a16="http://schemas.microsoft.com/office/drawing/2014/main" id="{C9EC6324-59D1-4AC2-85E0-1743C28AF0EC}"/>
              </a:ext>
            </a:extLst>
          </p:cNvPr>
          <p:cNvSpPr>
            <a:spLocks noGrp="1"/>
          </p:cNvSpPr>
          <p:nvPr/>
        </p:nvSpPr>
        <p:spPr>
          <a:xfrm>
            <a:off x="5863509" y="2050000"/>
            <a:ext cx="3119496" cy="2500000"/>
          </a:xfrm>
          <a:prstGeom prst="roundRect">
            <a:avLst>
              <a:gd name="adj" fmla="val 5000"/>
            </a:avLst>
          </a:prstGeom>
          <a:solidFill>
            <a:srgbClr val="F8EBEB"/>
          </a:solidFill>
          <a:ln>
            <a:noFill/>
          </a:ln>
        </p:spPr>
        <p:txBody>
          <a:bodyPr spcFirstLastPara="1" wrap="square" lIns="150000" tIns="150000" rIns="150000" bIns="150000" anchor="ctr">
            <a:noAutofit/>
          </a:bodyPr>
          <a:lstStyle/>
          <a:p>
            <a:pPr marL="0" marR="0" lvl="0" indent="0" algn="ctr">
              <a:lnSpc>
                <a:spcPct val="100000"/>
              </a:lnSpc>
              <a:spcBef>
                <a:spcPts val="0"/>
              </a:spcBef>
              <a:spcAft>
                <a:spcPts val="0"/>
              </a:spcAft>
              <a:buClr>
                <a:srgbClr val="000000"/>
              </a:buClr>
              <a:buSzPts val="3218"/>
              <a:buFont typeface="Arial"/>
              <a:buNone/>
            </a:pPr>
            <a:r>
              <a:rPr sz="3219" b="1" i="0" u="none" strike="noStrike" cap="none">
                <a:solidFill>
                  <a:srgbClr val="A83033"/>
                </a:solidFill>
                <a:latin typeface="Calibri"/>
                <a:ea typeface="Calibri"/>
                <a:cs typeface="Calibri"/>
              </a:rPr>
              <a:t>Gateway</a:t>
            </a:r>
            <a:endParaRPr/>
          </a:p>
          <a:p>
            <a:pPr marL="0" marR="0" lvl="0" indent="0" algn="ctr">
              <a:lnSpc>
                <a:spcPct val="100000"/>
              </a:lnSpc>
              <a:spcBef>
                <a:spcPts val="459"/>
              </a:spcBef>
              <a:spcAft>
                <a:spcPts val="0"/>
              </a:spcAft>
              <a:buClr>
                <a:srgbClr val="000000"/>
              </a:buClr>
              <a:buSzPts val="2760"/>
              <a:buFont typeface="Arial"/>
              <a:buNone/>
            </a:pPr>
            <a:r>
              <a:rPr sz="2760" b="0" i="0" u="none" strike="noStrike" cap="none">
                <a:solidFill>
                  <a:srgbClr val="262626"/>
                </a:solidFill>
                <a:latin typeface="Calibri"/>
                <a:ea typeface="Calibri"/>
                <a:cs typeface="Calibri"/>
              </a:rPr>
              <a:t>Routes to ready pods</a:t>
            </a:r>
            <a:endParaRPr/>
          </a:p>
        </p:txBody>
      </p:sp>
      <p:sp>
        <p:nvSpPr>
          <p:cNvPr id="372" name="Google Shape;372;p26">
            <a:extLst>
              <a:ext uri="{FF2B5EF4-FFF2-40B4-BE49-F238E27FC236}">
                <a16:creationId xmlns:a16="http://schemas.microsoft.com/office/drawing/2014/main" id="{D02823E3-BD51-4B85-8E1A-84B695F3CB39}"/>
              </a:ext>
            </a:extLst>
          </p:cNvPr>
          <p:cNvSpPr>
            <a:spLocks noGrp="1"/>
          </p:cNvSpPr>
          <p:nvPr/>
        </p:nvSpPr>
        <p:spPr>
          <a:xfrm>
            <a:off x="9058006" y="3000000"/>
            <a:ext cx="350000" cy="600000"/>
          </a:xfrm>
          <a:prstGeom prst="rightArrow">
            <a:avLst>
              <a:gd name="adj1" fmla="val 50000"/>
              <a:gd name="adj2" fmla="val 50000"/>
            </a:avLst>
          </a:prstGeom>
          <a:solidFill>
            <a:srgbClr val="A83033"/>
          </a:solidFill>
          <a:ln>
            <a:noFill/>
          </a:ln>
        </p:spPr>
        <p:txBody>
          <a:bodyPr spcFirstLastPara="1" wrap="square" lIns="0" tIns="0" rIns="0" bIns="0" anchor="t">
            <a:noAutofit/>
          </a:bodyPr>
          <a:lstStyle/>
          <a:p>
            <a:pPr marL="0" marR="0" lvl="0" indent="0" algn="l">
              <a:lnSpc>
                <a:spcPct val="100000"/>
              </a:lnSpc>
              <a:spcBef>
                <a:spcPts val="0"/>
              </a:spcBef>
              <a:spcAft>
                <a:spcPts val="0"/>
              </a:spcAft>
              <a:buNone/>
            </a:pPr>
            <a:endParaRPr sz="1400" b="0" i="0" u="none" strike="noStrike" cap="none">
              <a:solidFill>
                <a:srgbClr val="000000"/>
              </a:solidFill>
              <a:latin typeface="Arial"/>
              <a:ea typeface="Arial"/>
              <a:cs typeface="Arial"/>
            </a:endParaRPr>
          </a:p>
        </p:txBody>
      </p:sp>
      <p:sp>
        <p:nvSpPr>
          <p:cNvPr id="373" name="Google Shape;373;p26">
            <a:extLst>
              <a:ext uri="{FF2B5EF4-FFF2-40B4-BE49-F238E27FC236}">
                <a16:creationId xmlns:a16="http://schemas.microsoft.com/office/drawing/2014/main" id="{120FB271-E9B2-41EE-930C-E9579FEC0411}"/>
              </a:ext>
            </a:extLst>
          </p:cNvPr>
          <p:cNvSpPr>
            <a:spLocks noGrp="1"/>
          </p:cNvSpPr>
          <p:nvPr/>
        </p:nvSpPr>
        <p:spPr>
          <a:xfrm>
            <a:off x="9483006" y="2050000"/>
            <a:ext cx="3119496" cy="2500000"/>
          </a:xfrm>
          <a:prstGeom prst="roundRect">
            <a:avLst>
              <a:gd name="adj" fmla="val 5000"/>
            </a:avLst>
          </a:prstGeom>
          <a:solidFill>
            <a:srgbClr val="F8EBEB"/>
          </a:solidFill>
          <a:ln>
            <a:noFill/>
          </a:ln>
        </p:spPr>
        <p:txBody>
          <a:bodyPr spcFirstLastPara="1" wrap="square" lIns="150000" tIns="150000" rIns="150000" bIns="150000" anchor="ctr">
            <a:noAutofit/>
          </a:bodyPr>
          <a:lstStyle/>
          <a:p>
            <a:pPr marL="0" marR="0" lvl="0" indent="0" algn="ctr">
              <a:lnSpc>
                <a:spcPct val="100000"/>
              </a:lnSpc>
              <a:spcBef>
                <a:spcPts val="0"/>
              </a:spcBef>
              <a:spcAft>
                <a:spcPts val="0"/>
              </a:spcAft>
              <a:buClr>
                <a:srgbClr val="000000"/>
              </a:buClr>
              <a:buSzPts val="3218"/>
              <a:buFont typeface="Arial"/>
              <a:buNone/>
            </a:pPr>
            <a:r>
              <a:rPr sz="3219" b="1" i="0" u="none" strike="noStrike" cap="none">
                <a:solidFill>
                  <a:srgbClr val="A83033"/>
                </a:solidFill>
                <a:latin typeface="Calibri"/>
                <a:ea typeface="Calibri"/>
                <a:cs typeface="Calibri"/>
              </a:rPr>
              <a:t>Workers</a:t>
            </a:r>
            <a:endParaRPr/>
          </a:p>
          <a:p>
            <a:pPr marL="0" marR="0" lvl="0" indent="0" algn="ctr">
              <a:lnSpc>
                <a:spcPct val="100000"/>
              </a:lnSpc>
              <a:spcBef>
                <a:spcPts val="459"/>
              </a:spcBef>
              <a:spcAft>
                <a:spcPts val="0"/>
              </a:spcAft>
              <a:buClr>
                <a:srgbClr val="000000"/>
              </a:buClr>
              <a:buSzPts val="2760"/>
              <a:buFont typeface="Arial"/>
              <a:buNone/>
            </a:pPr>
            <a:r>
              <a:rPr sz="2760" b="0" i="0" u="none" strike="noStrike" cap="none">
                <a:solidFill>
                  <a:srgbClr val="262626"/>
                </a:solidFill>
                <a:latin typeface="Calibri"/>
                <a:ea typeface="Calibri"/>
                <a:cs typeface="Calibri"/>
              </a:rPr>
              <a:t>CPU work and telemetry</a:t>
            </a:r>
            <a:endParaRPr/>
          </a:p>
        </p:txBody>
      </p:sp>
      <p:sp>
        <p:nvSpPr>
          <p:cNvPr id="374" name="Google Shape;374;p26">
            <a:extLst>
              <a:ext uri="{FF2B5EF4-FFF2-40B4-BE49-F238E27FC236}">
                <a16:creationId xmlns:a16="http://schemas.microsoft.com/office/drawing/2014/main" id="{D9F18150-9D6A-48AB-8767-717FD27F846F}"/>
              </a:ext>
            </a:extLst>
          </p:cNvPr>
          <p:cNvSpPr>
            <a:spLocks noGrp="1"/>
          </p:cNvSpPr>
          <p:nvPr/>
        </p:nvSpPr>
        <p:spPr>
          <a:xfrm>
            <a:off x="12677503" y="3000000"/>
            <a:ext cx="350000" cy="600000"/>
          </a:xfrm>
          <a:prstGeom prst="rightArrow">
            <a:avLst>
              <a:gd name="adj1" fmla="val 50000"/>
              <a:gd name="adj2" fmla="val 50000"/>
            </a:avLst>
          </a:prstGeom>
          <a:solidFill>
            <a:srgbClr val="A83033"/>
          </a:solidFill>
          <a:ln>
            <a:noFill/>
          </a:ln>
        </p:spPr>
        <p:txBody>
          <a:bodyPr spcFirstLastPara="1" wrap="square" lIns="0" tIns="0" rIns="0" bIns="0" anchor="t">
            <a:noAutofit/>
          </a:bodyPr>
          <a:lstStyle/>
          <a:p>
            <a:pPr marL="0" marR="0" lvl="0" indent="0" algn="l">
              <a:lnSpc>
                <a:spcPct val="100000"/>
              </a:lnSpc>
              <a:spcBef>
                <a:spcPts val="0"/>
              </a:spcBef>
              <a:spcAft>
                <a:spcPts val="0"/>
              </a:spcAft>
              <a:buNone/>
            </a:pPr>
            <a:endParaRPr sz="1400" b="0" i="0" u="none" strike="noStrike" cap="none">
              <a:solidFill>
                <a:srgbClr val="000000"/>
              </a:solidFill>
              <a:latin typeface="Arial"/>
              <a:ea typeface="Arial"/>
              <a:cs typeface="Arial"/>
            </a:endParaRPr>
          </a:p>
        </p:txBody>
      </p:sp>
      <p:sp>
        <p:nvSpPr>
          <p:cNvPr id="375" name="Google Shape;375;p26">
            <a:extLst>
              <a:ext uri="{FF2B5EF4-FFF2-40B4-BE49-F238E27FC236}">
                <a16:creationId xmlns:a16="http://schemas.microsoft.com/office/drawing/2014/main" id="{C5C5158E-58EE-4077-BA7E-6499D68B9A77}"/>
              </a:ext>
            </a:extLst>
          </p:cNvPr>
          <p:cNvSpPr>
            <a:spLocks noGrp="1"/>
          </p:cNvSpPr>
          <p:nvPr/>
        </p:nvSpPr>
        <p:spPr>
          <a:xfrm>
            <a:off x="13102503" y="2050000"/>
            <a:ext cx="3119496" cy="2500000"/>
          </a:xfrm>
          <a:prstGeom prst="roundRect">
            <a:avLst>
              <a:gd name="adj" fmla="val 5000"/>
            </a:avLst>
          </a:prstGeom>
          <a:solidFill>
            <a:srgbClr val="F8EBEB"/>
          </a:solidFill>
          <a:ln>
            <a:noFill/>
          </a:ln>
        </p:spPr>
        <p:txBody>
          <a:bodyPr spcFirstLastPara="1" wrap="square" lIns="150000" tIns="150000" rIns="150000" bIns="150000" anchor="ctr">
            <a:noAutofit/>
          </a:bodyPr>
          <a:lstStyle/>
          <a:p>
            <a:pPr marL="0" marR="0" lvl="0" indent="0" algn="ctr">
              <a:lnSpc>
                <a:spcPct val="100000"/>
              </a:lnSpc>
              <a:spcBef>
                <a:spcPts val="0"/>
              </a:spcBef>
              <a:spcAft>
                <a:spcPts val="0"/>
              </a:spcAft>
              <a:buClr>
                <a:srgbClr val="000000"/>
              </a:buClr>
              <a:buSzPts val="3218"/>
              <a:buFont typeface="Arial"/>
              <a:buNone/>
            </a:pPr>
            <a:r>
              <a:rPr sz="3219" b="1" i="0" u="none" strike="noStrike" cap="none">
                <a:solidFill>
                  <a:srgbClr val="A83033"/>
                </a:solidFill>
                <a:latin typeface="Calibri"/>
                <a:ea typeface="Calibri"/>
                <a:cs typeface="Calibri"/>
              </a:rPr>
              <a:t>ML controller</a:t>
            </a:r>
            <a:endParaRPr/>
          </a:p>
          <a:p>
            <a:pPr marL="0" marR="0" lvl="0" indent="0" algn="ctr">
              <a:lnSpc>
                <a:spcPct val="100000"/>
              </a:lnSpc>
              <a:spcBef>
                <a:spcPts val="459"/>
              </a:spcBef>
              <a:spcAft>
                <a:spcPts val="0"/>
              </a:spcAft>
              <a:buClr>
                <a:srgbClr val="000000"/>
              </a:buClr>
              <a:buSzPts val="2760"/>
              <a:buFont typeface="Arial"/>
              <a:buNone/>
            </a:pPr>
            <a:r>
              <a:rPr sz="2760" b="0" i="0" u="none" strike="noStrike" cap="none">
                <a:solidFill>
                  <a:srgbClr val="262626"/>
                </a:solidFill>
                <a:latin typeface="Calibri"/>
                <a:ea typeface="Calibri"/>
                <a:cs typeface="Calibri"/>
              </a:rPr>
              <a:t>Forecast and scale</a:t>
            </a:r>
            <a:endParaRPr/>
          </a:p>
        </p:txBody>
      </p:sp>
      <p:sp>
        <p:nvSpPr>
          <p:cNvPr id="376" name="Google Shape;376;p26">
            <a:extLst>
              <a:ext uri="{FF2B5EF4-FFF2-40B4-BE49-F238E27FC236}">
                <a16:creationId xmlns:a16="http://schemas.microsoft.com/office/drawing/2014/main" id="{702CCA57-CA4A-4FD3-9299-5F1C8C467245}"/>
              </a:ext>
            </a:extLst>
          </p:cNvPr>
          <p:cNvSpPr>
            <a:spLocks noGrp="1"/>
          </p:cNvSpPr>
          <p:nvPr/>
        </p:nvSpPr>
        <p:spPr>
          <a:xfrm>
            <a:off x="2244013" y="4900000"/>
            <a:ext cx="13977987" cy="3500000"/>
          </a:xfrm>
          <a:prstGeom prst="rect">
            <a:avLst/>
          </a:prstGeom>
          <a:noFill/>
          <a:ln>
            <a:noFill/>
          </a:ln>
        </p:spPr>
        <p:txBody>
          <a:bodyPr spcFirstLastPara="1" wrap="square" lIns="0" tIns="0" rIns="0" bIns="0" anchor="t">
            <a:noAutofit/>
          </a:bodyPr>
          <a:lstStyle/>
          <a:p>
            <a:pPr marL="0" marR="0" lvl="0" indent="0" algn="l">
              <a:lnSpc>
                <a:spcPct val="100000"/>
              </a:lnSpc>
              <a:spcBef>
                <a:spcPts val="0"/>
              </a:spcBef>
              <a:spcAft>
                <a:spcPts val="0"/>
              </a:spcAft>
              <a:buClr>
                <a:srgbClr val="000000"/>
              </a:buClr>
              <a:buSzPts val="3449"/>
              <a:buFont typeface="Arial"/>
              <a:buNone/>
            </a:pPr>
            <a:r>
              <a:rPr sz="3449" b="1" i="0" u="none" strike="noStrike" cap="none">
                <a:solidFill>
                  <a:srgbClr val="A83033"/>
                </a:solidFill>
                <a:latin typeface="Calibri"/>
                <a:ea typeface="Calibri"/>
                <a:cs typeface="Calibri"/>
              </a:rPr>
              <a:t>Feedback every 10 seconds</a:t>
            </a:r>
            <a:endParaRPr/>
          </a:p>
          <a:p>
            <a:pPr marL="400000" marR="0" lvl="0" indent="-400000" algn="l">
              <a:lnSpc>
                <a:spcPct val="100000"/>
              </a:lnSpc>
              <a:spcBef>
                <a:spcPts val="575"/>
              </a:spcBef>
              <a:spcAft>
                <a:spcPts val="0"/>
              </a:spcAft>
              <a:buClr>
                <a:srgbClr val="A83033"/>
              </a:buClr>
              <a:buSzPts val="2989"/>
              <a:buFont typeface="Arial"/>
              <a:buChar char="•"/>
            </a:pPr>
            <a:r>
              <a:rPr sz="2989" b="0" i="0" u="none" strike="noStrike" cap="none">
                <a:solidFill>
                  <a:srgbClr val="262626"/>
                </a:solidFill>
                <a:latin typeface="Calibri"/>
                <a:ea typeface="Calibri"/>
                <a:cs typeface="Calibri"/>
              </a:rPr>
              <a:t>The controller reads actual demand, p95 latency and pod readiness.</a:t>
            </a:r>
            <a:endParaRPr/>
          </a:p>
          <a:p>
            <a:pPr marL="400000" marR="0" lvl="0" indent="-400000" algn="l">
              <a:lnSpc>
                <a:spcPct val="100000"/>
              </a:lnSpc>
              <a:spcBef>
                <a:spcPts val="575"/>
              </a:spcBef>
              <a:spcAft>
                <a:spcPts val="0"/>
              </a:spcAft>
              <a:buClr>
                <a:srgbClr val="A83033"/>
              </a:buClr>
              <a:buSzPts val="2989"/>
              <a:buFont typeface="Arial"/>
              <a:buChar char="•"/>
            </a:pPr>
            <a:r>
              <a:rPr sz="2989" b="0" i="0" u="none" strike="noStrike" cap="none">
                <a:solidFill>
                  <a:srgbClr val="262626"/>
                </a:solidFill>
                <a:latin typeface="Calibri"/>
                <a:ea typeface="Calibri"/>
                <a:cs typeface="Calibri"/>
              </a:rPr>
              <a:t>It changes the worker Deployment through the Kubernetes API.</a:t>
            </a:r>
            <a:endParaRPr/>
          </a:p>
          <a:p>
            <a:pPr marL="400000" marR="0" lvl="0" indent="-400000" algn="l">
              <a:lnSpc>
                <a:spcPct val="100000"/>
              </a:lnSpc>
              <a:spcBef>
                <a:spcPts val="575"/>
              </a:spcBef>
              <a:spcAft>
                <a:spcPts val="0"/>
              </a:spcAft>
              <a:buClr>
                <a:srgbClr val="A83033"/>
              </a:buClr>
              <a:buSzPts val="2989"/>
              <a:buFont typeface="Arial"/>
              <a:buChar char="•"/>
            </a:pPr>
            <a:r>
              <a:rPr sz="2989" b="0" i="0" u="none" strike="noStrike" cap="none">
                <a:solidFill>
                  <a:srgbClr val="262626"/>
                </a:solidFill>
                <a:latin typeface="Calibri"/>
                <a:ea typeface="Calibri"/>
                <a:cs typeface="Calibri"/>
              </a:rPr>
              <a:t>Docker Desktop hosts Minikube on a single laptop.</a:t>
            </a:r>
            <a:endParaRPr/>
          </a:p>
          <a:p>
            <a:pPr marL="0" marR="0" lvl="0" indent="0" algn="l">
              <a:lnSpc>
                <a:spcPct val="100000"/>
              </a:lnSpc>
              <a:spcBef>
                <a:spcPts val="1035"/>
              </a:spcBef>
              <a:spcAft>
                <a:spcPts val="0"/>
              </a:spcAft>
              <a:buClr>
                <a:srgbClr val="000000"/>
              </a:buClr>
              <a:buSzPts val="2760"/>
              <a:buFont typeface="Arial"/>
              <a:buNone/>
            </a:pPr>
            <a:r>
              <a:rPr sz="2760" b="0" i="1" u="none" strike="noStrike" cap="none">
                <a:solidFill>
                  <a:srgbClr val="595959"/>
                </a:solidFill>
                <a:latin typeface="Calibri"/>
                <a:ea typeface="Calibri"/>
                <a:cs typeface="Calibri"/>
              </a:rPr>
              <a:t>Application replicas share one node.</a:t>
            </a:r>
            <a:endParaRPr/>
          </a:p>
        </p:txBody>
      </p:sp>
      <p:sp>
        <p:nvSpPr>
          <p:cNvPr id="377" name="Rectangle 376">
            <a:extLst>
              <a:ext uri="{FF2B5EF4-FFF2-40B4-BE49-F238E27FC236}">
                <a16:creationId xmlns:a16="http://schemas.microsoft.com/office/drawing/2014/main" id="{854895B2-9E21-4DE7-B833-2ABFE66D93D6}"/>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03 / 18</a:t>
            </a:r>
          </a:p>
        </p:txBody>
      </p:sp>
    </p:spTree>
    <p:extLst>
      <p:ext uri="{BB962C8B-B14F-4D97-AF65-F5344CB8AC3E}">
        <p14:creationId xmlns:p14="http://schemas.microsoft.com/office/powerpoint/2010/main" val="96565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257F4345-DE21-41B9-AF05-42318FD0582D}"/>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buNone/>
              <a:defRPr sz="4000" b="0">
                <a:solidFill>
                  <a:srgbClr val="A83033"/>
                </a:solidFill>
                <a:latin typeface="Marcellus"/>
                <a:ea typeface="Marcellus"/>
                <a:cs typeface="Marcellus"/>
              </a:defRPr>
            </a:lvl1pPr>
            <a:lvl2pPr>
              <a:buNone/>
              <a:defRPr sz="4000" b="0">
                <a:solidFill>
                  <a:srgbClr val="A83033"/>
                </a:solidFill>
                <a:latin typeface="Marcellus"/>
                <a:ea typeface="Marcellus"/>
                <a:cs typeface="Marcellus"/>
              </a:defRPr>
            </a:lvl2pPr>
            <a:lvl3pPr>
              <a:buNone/>
              <a:defRPr sz="4000" b="0">
                <a:solidFill>
                  <a:srgbClr val="A83033"/>
                </a:solidFill>
                <a:latin typeface="Marcellus"/>
                <a:ea typeface="Marcellus"/>
                <a:cs typeface="Marcellus"/>
              </a:defRPr>
            </a:lvl3pPr>
            <a:lvl4pPr>
              <a:buNone/>
              <a:defRPr sz="4000" b="0">
                <a:solidFill>
                  <a:srgbClr val="A83033"/>
                </a:solidFill>
                <a:latin typeface="Marcellus"/>
                <a:ea typeface="Marcellus"/>
                <a:cs typeface="Marcellus"/>
              </a:defRPr>
            </a:lvl4pPr>
            <a:lvl5pPr>
              <a:buNone/>
              <a:defRPr sz="4000" b="0">
                <a:solidFill>
                  <a:srgbClr val="A83033"/>
                </a:solidFill>
                <a:latin typeface="Marcellus"/>
                <a:ea typeface="Marcellus"/>
                <a:cs typeface="Marcellus"/>
              </a:defRPr>
            </a:lvl5pPr>
            <a:lvl6pPr>
              <a:buNone/>
              <a:defRPr sz="4000" b="0">
                <a:solidFill>
                  <a:srgbClr val="A83033"/>
                </a:solidFill>
                <a:latin typeface="Marcellus"/>
                <a:ea typeface="Marcellus"/>
                <a:cs typeface="Marcellus"/>
              </a:defRPr>
            </a:lvl6pPr>
            <a:lvl7pPr>
              <a:buNone/>
              <a:defRPr sz="4000" b="0">
                <a:solidFill>
                  <a:srgbClr val="A83033"/>
                </a:solidFill>
                <a:latin typeface="Marcellus"/>
                <a:ea typeface="Marcellus"/>
                <a:cs typeface="Marcellus"/>
              </a:defRPr>
            </a:lvl7pPr>
            <a:lvl8pPr>
              <a:buNone/>
              <a:defRPr sz="4000" b="0">
                <a:solidFill>
                  <a:srgbClr val="A83033"/>
                </a:solidFill>
                <a:latin typeface="Marcellus"/>
                <a:ea typeface="Marcellus"/>
                <a:cs typeface="Marcellus"/>
              </a:defRPr>
            </a:lvl8pPr>
            <a:lvl9pPr>
              <a:buNone/>
              <a:defRPr sz="4000" b="0">
                <a:solidFill>
                  <a:srgbClr val="A83033"/>
                </a:solidFill>
                <a:latin typeface="Marcellus"/>
                <a:ea typeface="Marcellus"/>
                <a:cs typeface="Marcellus"/>
              </a:defRPr>
            </a:lvl9pPr>
          </a:lstStyle>
          <a:p>
            <a:pPr>
              <a:buNone/>
              <a:defRPr sz="4000" b="0">
                <a:solidFill>
                  <a:srgbClr val="A83033"/>
                </a:solidFill>
                <a:latin typeface="Marcellus"/>
                <a:ea typeface="Marcellus"/>
                <a:cs typeface="Marcellus"/>
              </a:defRPr>
            </a:pPr>
            <a:r>
              <a:rPr sz="4000" b="0">
                <a:solidFill>
                  <a:srgbClr val="A83033"/>
                </a:solidFill>
                <a:latin typeface="Marcellus"/>
                <a:ea typeface="Marcellus"/>
                <a:cs typeface="Marcellus"/>
              </a:rPr>
              <a:t>ML inputs and prediction horizon</a:t>
            </a:r>
          </a:p>
        </p:txBody>
      </p:sp>
      <p:graphicFrame>
        <p:nvGraphicFramePr>
          <p:cNvPr id="108" name="Table 107">
            <a:extLst>
              <a:ext uri="{FF2B5EF4-FFF2-40B4-BE49-F238E27FC236}">
                <a16:creationId xmlns:a16="http://schemas.microsoft.com/office/drawing/2014/main" id="{40656E3D-659D-4897-BFD8-FE44EA8C3281}"/>
              </a:ext>
            </a:extLst>
          </p:cNvPr>
          <p:cNvGraphicFramePr/>
          <p:nvPr/>
        </p:nvGraphicFramePr>
        <p:xfrm>
          <a:off x="2238375" y="2190750"/>
          <a:ext cx="13982700" cy="4000500"/>
        </p:xfrm>
        <a:graphic>
          <a:graphicData uri="http://schemas.openxmlformats.org/drawingml/2006/table">
            <a:tbl>
              <a:tblPr/>
              <a:tblGrid>
                <a:gridCol w="4667250">
                  <a:extLst>
                    <a:ext uri="{9D8B030D-6E8A-4147-A177-3AD203B41FA5}">
                      <a16:colId xmlns:a16="http://schemas.microsoft.com/office/drawing/2014/main" val="20000"/>
                    </a:ext>
                  </a:extLst>
                </a:gridCol>
                <a:gridCol w="9315450">
                  <a:extLst>
                    <a:ext uri="{9D8B030D-6E8A-4147-A177-3AD203B41FA5}">
                      <a16:colId xmlns:a16="http://schemas.microsoft.com/office/drawing/2014/main" val="20001"/>
                    </a:ext>
                  </a:extLst>
                </a:gridCol>
              </a:tblGrid>
              <a:tr h="800100">
                <a:tc>
                  <a:txBody>
                    <a:bodyPr/>
                    <a:lstStyle/>
                    <a:p>
                      <a:r>
                        <a:rPr sz="2700" b="1">
                          <a:solidFill>
                            <a:srgbClr val="FFFFFF"/>
                          </a:solidFill>
                          <a:latin typeface="Calibri"/>
                          <a:ea typeface="Calibri"/>
                          <a:cs typeface="Calibri"/>
                        </a:rPr>
                        <a:t>Input or target</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700" b="1">
                          <a:solidFill>
                            <a:srgbClr val="FFFFFF"/>
                          </a:solidFill>
                          <a:latin typeface="Calibri"/>
                          <a:ea typeface="Calibri"/>
                          <a:cs typeface="Calibri"/>
                        </a:rPr>
                        <a:t>Definition</a:t>
                      </a:r>
                    </a:p>
                  </a:txBody>
                  <a:tcPr>
                    <a:lnL w="28575" cmpd="sng">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800100">
                <a:tc>
                  <a:txBody>
                    <a:bodyPr/>
                    <a:lstStyle/>
                    <a:p>
                      <a:r>
                        <a:rPr sz="2700" b="0">
                          <a:solidFill>
                            <a:srgbClr val="333333"/>
                          </a:solidFill>
                          <a:latin typeface="Calibri"/>
                          <a:ea typeface="Calibri"/>
                          <a:cs typeface="Calibri"/>
                        </a:rPr>
                        <a:t>Six demand lags</a:t>
                      </a:r>
                    </a:p>
                  </a:txBody>
                  <a:tcPr>
                    <a:lnL w="28575">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Actual sends per 10-second window</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8EBEB"/>
                    </a:solidFill>
                  </a:tcPr>
                </a:tc>
                <a:extLst>
                  <a:ext uri="{0D108BD9-81ED-4DB2-BD59-A6C34878D82A}">
                    <a16:rowId xmlns:a16="http://schemas.microsoft.com/office/drawing/2014/main" val="10001"/>
                  </a:ext>
                </a:extLst>
              </a:tr>
              <a:tr h="800100">
                <a:tc>
                  <a:txBody>
                    <a:bodyPr/>
                    <a:lstStyle/>
                    <a:p>
                      <a:r>
                        <a:rPr sz="2700" b="0">
                          <a:solidFill>
                            <a:srgbClr val="333333"/>
                          </a:solidFill>
                          <a:latin typeface="Calibri"/>
                          <a:ea typeface="Calibri"/>
                          <a:cs typeface="Calibri"/>
                        </a:rPr>
                        <a:t>Four derived features</a:t>
                      </a:r>
                    </a:p>
                  </a:txBody>
                  <a:tcPr>
                    <a:lnL w="28575">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FFFFF"/>
                    </a:solidFill>
                  </a:tcPr>
                </a:tc>
                <a:tc>
                  <a:txBody>
                    <a:bodyPr/>
                    <a:lstStyle/>
                    <a:p>
                      <a:r>
                        <a:rPr sz="2700" b="0">
                          <a:solidFill>
                            <a:srgbClr val="333333"/>
                          </a:solidFill>
                          <a:latin typeface="Calibri"/>
                          <a:ea typeface="Calibri"/>
                          <a:cs typeface="Calibri"/>
                        </a:rPr>
                        <a:t>Mean, standard deviation, maximum and slope</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FFFFF"/>
                    </a:solidFill>
                  </a:tcPr>
                </a:tc>
                <a:extLst>
                  <a:ext uri="{0D108BD9-81ED-4DB2-BD59-A6C34878D82A}">
                    <a16:rowId xmlns:a16="http://schemas.microsoft.com/office/drawing/2014/main" val="10002"/>
                  </a:ext>
                </a:extLst>
              </a:tr>
              <a:tr h="800100">
                <a:tc>
                  <a:txBody>
                    <a:bodyPr/>
                    <a:lstStyle/>
                    <a:p>
                      <a:r>
                        <a:rPr sz="2700" b="0">
                          <a:solidFill>
                            <a:srgbClr val="333333"/>
                          </a:solidFill>
                          <a:latin typeface="Calibri"/>
                          <a:ea typeface="Calibri"/>
                          <a:cs typeface="Calibri"/>
                        </a:rPr>
                        <a:t>Prediction target</a:t>
                      </a:r>
                    </a:p>
                  </a:txBody>
                  <a:tcPr>
                    <a:lnL w="28575">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Peak RPS in the next three windows</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8EBEB"/>
                    </a:solidFill>
                  </a:tcPr>
                </a:tc>
                <a:extLst>
                  <a:ext uri="{0D108BD9-81ED-4DB2-BD59-A6C34878D82A}">
                    <a16:rowId xmlns:a16="http://schemas.microsoft.com/office/drawing/2014/main" val="10003"/>
                  </a:ext>
                </a:extLst>
              </a:tr>
              <a:tr h="800100">
                <a:tc>
                  <a:txBody>
                    <a:bodyPr/>
                    <a:lstStyle/>
                    <a:p>
                      <a:r>
                        <a:rPr sz="2700" b="0">
                          <a:solidFill>
                            <a:srgbClr val="333333"/>
                          </a:solidFill>
                          <a:latin typeface="Calibri"/>
                          <a:ea typeface="Calibri"/>
                          <a:cs typeface="Calibri"/>
                        </a:rPr>
                        <a:t>Other controller signals</a:t>
                      </a:r>
                    </a:p>
                  </a:txBody>
                  <a:tcPr>
                    <a:lnL w="28575">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FFFFF"/>
                    </a:solidFill>
                  </a:tcPr>
                </a:tc>
                <a:tc>
                  <a:txBody>
                    <a:bodyPr/>
                    <a:lstStyle/>
                    <a:p>
                      <a:r>
                        <a:rPr sz="2700" b="0">
                          <a:solidFill>
                            <a:srgbClr val="333333"/>
                          </a:solidFill>
                          <a:latin typeface="Calibri"/>
                          <a:ea typeface="Calibri"/>
                          <a:cs typeface="Calibri"/>
                        </a:rPr>
                        <a:t>p95 latency, errors, ready and pending pods</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09" name="Rectangle 108">
            <a:extLst>
              <a:ext uri="{FF2B5EF4-FFF2-40B4-BE49-F238E27FC236}">
                <a16:creationId xmlns:a16="http://schemas.microsoft.com/office/drawing/2014/main" id="{DE260DD8-8F5D-44B0-A28C-F5A1B1BDE2F9}"/>
              </a:ext>
            </a:extLst>
          </p:cNvPr>
          <p:cNvSpPr>
            <a:spLocks noGrp="1"/>
          </p:cNvSpPr>
          <p:nvPr/>
        </p:nvSpPr>
        <p:spPr>
          <a:xfrm>
            <a:off x="2238375" y="6810375"/>
            <a:ext cx="13982700" cy="1190625"/>
          </a:xfrm>
          <a:prstGeom prst="rect">
            <a:avLst/>
          </a:prstGeom>
          <a:noFill/>
          <a:ln w="0">
            <a:noFill/>
          </a:ln>
        </p:spPr>
        <p:txBody>
          <a:bodyPr lIns="0" tIns="0" rIns="0" bIns="0"/>
          <a:lstStyle>
            <a:defPPr>
              <a:defRPr sz="3000" b="1">
                <a:solidFill>
                  <a:srgbClr val="A83033"/>
                </a:solidFill>
                <a:latin typeface="Calibri"/>
                <a:ea typeface="Calibri"/>
                <a:cs typeface="Calibri"/>
              </a:defRPr>
            </a:defPPr>
            <a:lvl1pPr>
              <a:buNone/>
              <a:defRPr sz="3000" b="1">
                <a:solidFill>
                  <a:srgbClr val="A83033"/>
                </a:solidFill>
                <a:latin typeface="Calibri"/>
                <a:ea typeface="Calibri"/>
                <a:cs typeface="Calibri"/>
              </a:defRPr>
            </a:lvl1pPr>
            <a:lvl2pPr>
              <a:buNone/>
              <a:defRPr sz="3000" b="1">
                <a:solidFill>
                  <a:srgbClr val="A83033"/>
                </a:solidFill>
                <a:latin typeface="Calibri"/>
                <a:ea typeface="Calibri"/>
                <a:cs typeface="Calibri"/>
              </a:defRPr>
            </a:lvl2pPr>
            <a:lvl3pPr>
              <a:buNone/>
              <a:defRPr sz="3000" b="1">
                <a:solidFill>
                  <a:srgbClr val="A83033"/>
                </a:solidFill>
                <a:latin typeface="Calibri"/>
                <a:ea typeface="Calibri"/>
                <a:cs typeface="Calibri"/>
              </a:defRPr>
            </a:lvl3pPr>
            <a:lvl4pPr>
              <a:buNone/>
              <a:defRPr sz="3000" b="1">
                <a:solidFill>
                  <a:srgbClr val="A83033"/>
                </a:solidFill>
                <a:latin typeface="Calibri"/>
                <a:ea typeface="Calibri"/>
                <a:cs typeface="Calibri"/>
              </a:defRPr>
            </a:lvl4pPr>
            <a:lvl5pPr>
              <a:buNone/>
              <a:defRPr sz="3000" b="1">
                <a:solidFill>
                  <a:srgbClr val="A83033"/>
                </a:solidFill>
                <a:latin typeface="Calibri"/>
                <a:ea typeface="Calibri"/>
                <a:cs typeface="Calibri"/>
              </a:defRPr>
            </a:lvl5pPr>
            <a:lvl6pPr>
              <a:buNone/>
              <a:defRPr sz="3000" b="1">
                <a:solidFill>
                  <a:srgbClr val="A83033"/>
                </a:solidFill>
                <a:latin typeface="Calibri"/>
                <a:ea typeface="Calibri"/>
                <a:cs typeface="Calibri"/>
              </a:defRPr>
            </a:lvl6pPr>
            <a:lvl7pPr>
              <a:buNone/>
              <a:defRPr sz="3000" b="1">
                <a:solidFill>
                  <a:srgbClr val="A83033"/>
                </a:solidFill>
                <a:latin typeface="Calibri"/>
                <a:ea typeface="Calibri"/>
                <a:cs typeface="Calibri"/>
              </a:defRPr>
            </a:lvl7pPr>
            <a:lvl8pPr>
              <a:buNone/>
              <a:defRPr sz="3000" b="1">
                <a:solidFill>
                  <a:srgbClr val="A83033"/>
                </a:solidFill>
                <a:latin typeface="Calibri"/>
                <a:ea typeface="Calibri"/>
                <a:cs typeface="Calibri"/>
              </a:defRPr>
            </a:lvl8pPr>
            <a:lvl9pPr>
              <a:buNone/>
              <a:defRPr sz="3000" b="1">
                <a:solidFill>
                  <a:srgbClr val="A83033"/>
                </a:solidFill>
                <a:latin typeface="Calibri"/>
                <a:ea typeface="Calibri"/>
                <a:cs typeface="Calibri"/>
              </a:defRPr>
            </a:lvl9pPr>
          </a:lstStyle>
          <a:p>
            <a:pPr>
              <a:buNone/>
              <a:defRPr sz="3000" b="1">
                <a:solidFill>
                  <a:srgbClr val="A83033"/>
                </a:solidFill>
                <a:latin typeface="Calibri"/>
                <a:ea typeface="Calibri"/>
                <a:cs typeface="Calibri"/>
              </a:defRPr>
            </a:pPr>
            <a:r>
              <a:rPr sz="3000" b="1">
                <a:solidFill>
                  <a:srgbClr val="A83033"/>
                </a:solidFill>
                <a:latin typeface="Calibri"/>
                <a:ea typeface="Calibri"/>
                <a:cs typeface="Calibri"/>
              </a:rPr>
              <a:t>60 seconds of past demand produces a 30-second forecast. The future arrival schedule never enters the model.</a:t>
            </a:r>
          </a:p>
        </p:txBody>
      </p:sp>
      <p:sp>
        <p:nvSpPr>
          <p:cNvPr id="110" name="Rectangle 109">
            <a:extLst>
              <a:ext uri="{FF2B5EF4-FFF2-40B4-BE49-F238E27FC236}">
                <a16:creationId xmlns:a16="http://schemas.microsoft.com/office/drawing/2014/main" id="{61D7A06C-38A2-41E3-B66D-5B40A1F89988}"/>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04 / 18</a:t>
            </a:r>
          </a:p>
        </p:txBody>
      </p:sp>
    </p:spTree>
    <p:extLst>
      <p:ext uri="{BB962C8B-B14F-4D97-AF65-F5344CB8AC3E}">
        <p14:creationId xmlns:p14="http://schemas.microsoft.com/office/powerpoint/2010/main" val="1518820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C6890B09-A90A-4A72-9B80-69DE15859EAA}"/>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ML training and prediction accuracy</a:t>
            </a:r>
          </a:p>
        </p:txBody>
      </p:sp>
      <p:sp>
        <p:nvSpPr>
          <p:cNvPr id="108" name="Rectangle 107">
            <a:extLst>
              <a:ext uri="{FF2B5EF4-FFF2-40B4-BE49-F238E27FC236}">
                <a16:creationId xmlns:a16="http://schemas.microsoft.com/office/drawing/2014/main" id="{9ED448BF-B892-4FBB-94E4-5DDFCC0506FA}"/>
              </a:ext>
            </a:extLst>
          </p:cNvPr>
          <p:cNvSpPr>
            <a:spLocks noGrp="1"/>
          </p:cNvSpPr>
          <p:nvPr/>
        </p:nvSpPr>
        <p:spPr>
          <a:xfrm>
            <a:off x="2238375" y="2190750"/>
            <a:ext cx="13982700" cy="619125"/>
          </a:xfrm>
          <a:prstGeom prst="rect">
            <a:avLst/>
          </a:prstGeom>
          <a:noFill/>
          <a:ln w="0">
            <a:noFill/>
          </a:ln>
        </p:spPr>
        <p:txBody>
          <a:bodyPr lIns="0" tIns="0" rIns="0" bIns="0"/>
          <a:lstStyle>
            <a:defPPr>
              <a:defRPr sz="3225" b="1">
                <a:solidFill>
                  <a:srgbClr val="A83033"/>
                </a:solidFill>
                <a:latin typeface="Calibri"/>
                <a:ea typeface="Calibri"/>
                <a:cs typeface="Calibri"/>
              </a:defRPr>
            </a:defPPr>
            <a:lvl1pPr>
              <a:defRPr sz="3225" b="1">
                <a:solidFill>
                  <a:srgbClr val="A83033"/>
                </a:solidFill>
                <a:latin typeface="Calibri"/>
                <a:ea typeface="Calibri"/>
                <a:cs typeface="Calibri"/>
              </a:defRPr>
            </a:lvl1pPr>
            <a:lvl2pPr>
              <a:defRPr sz="3225" b="1">
                <a:solidFill>
                  <a:srgbClr val="A83033"/>
                </a:solidFill>
                <a:latin typeface="Calibri"/>
                <a:ea typeface="Calibri"/>
                <a:cs typeface="Calibri"/>
              </a:defRPr>
            </a:lvl2pPr>
            <a:lvl3pPr>
              <a:defRPr sz="3225" b="1">
                <a:solidFill>
                  <a:srgbClr val="A83033"/>
                </a:solidFill>
                <a:latin typeface="Calibri"/>
                <a:ea typeface="Calibri"/>
                <a:cs typeface="Calibri"/>
              </a:defRPr>
            </a:lvl3pPr>
            <a:lvl4pPr>
              <a:defRPr sz="3225" b="1">
                <a:solidFill>
                  <a:srgbClr val="A83033"/>
                </a:solidFill>
                <a:latin typeface="Calibri"/>
                <a:ea typeface="Calibri"/>
                <a:cs typeface="Calibri"/>
              </a:defRPr>
            </a:lvl4pPr>
            <a:lvl5pPr>
              <a:defRPr sz="3225" b="1">
                <a:solidFill>
                  <a:srgbClr val="A83033"/>
                </a:solidFill>
                <a:latin typeface="Calibri"/>
                <a:ea typeface="Calibri"/>
                <a:cs typeface="Calibri"/>
              </a:defRPr>
            </a:lvl5pPr>
            <a:lvl6pPr>
              <a:defRPr sz="3225" b="1">
                <a:solidFill>
                  <a:srgbClr val="A83033"/>
                </a:solidFill>
                <a:latin typeface="Calibri"/>
                <a:ea typeface="Calibri"/>
                <a:cs typeface="Calibri"/>
              </a:defRPr>
            </a:lvl6pPr>
            <a:lvl7pPr>
              <a:defRPr sz="3225" b="1">
                <a:solidFill>
                  <a:srgbClr val="A83033"/>
                </a:solidFill>
                <a:latin typeface="Calibri"/>
                <a:ea typeface="Calibri"/>
                <a:cs typeface="Calibri"/>
              </a:defRPr>
            </a:lvl7pPr>
            <a:lvl8pPr>
              <a:defRPr sz="3225" b="1">
                <a:solidFill>
                  <a:srgbClr val="A83033"/>
                </a:solidFill>
                <a:latin typeface="Calibri"/>
                <a:ea typeface="Calibri"/>
                <a:cs typeface="Calibri"/>
              </a:defRPr>
            </a:lvl8pPr>
            <a:lvl9pPr>
              <a:defRPr sz="3225" b="1">
                <a:solidFill>
                  <a:srgbClr val="A83033"/>
                </a:solidFill>
                <a:latin typeface="Calibri"/>
                <a:ea typeface="Calibri"/>
                <a:cs typeface="Calibri"/>
              </a:defRPr>
            </a:lvl9pPr>
          </a:lstStyle>
          <a:p>
            <a:pPr>
              <a:defRPr sz="3225" b="1">
                <a:solidFill>
                  <a:srgbClr val="A83033"/>
                </a:solidFill>
                <a:latin typeface="Calibri"/>
                <a:ea typeface="Calibri"/>
                <a:cs typeface="Calibri"/>
              </a:defRPr>
            </a:pPr>
            <a:r>
              <a:rPr sz="3225" b="1">
                <a:solidFill>
                  <a:srgbClr val="A83033"/>
                </a:solidFill>
                <a:latin typeface="Calibri"/>
                <a:ea typeface="Calibri"/>
                <a:cs typeface="Calibri"/>
              </a:rPr>
              <a:t>Standardized Ridge regression</a:t>
            </a:r>
          </a:p>
        </p:txBody>
      </p:sp>
      <p:sp>
        <p:nvSpPr>
          <p:cNvPr id="109" name="Rectangle 108">
            <a:extLst>
              <a:ext uri="{FF2B5EF4-FFF2-40B4-BE49-F238E27FC236}">
                <a16:creationId xmlns:a16="http://schemas.microsoft.com/office/drawing/2014/main" id="{D6C74D96-4486-48ED-AAE6-CEB49A0C2252}"/>
              </a:ext>
            </a:extLst>
          </p:cNvPr>
          <p:cNvSpPr>
            <a:spLocks noGrp="1"/>
          </p:cNvSpPr>
          <p:nvPr/>
        </p:nvSpPr>
        <p:spPr>
          <a:xfrm>
            <a:off x="2238375" y="3143250"/>
            <a:ext cx="7239000" cy="4524375"/>
          </a:xfrm>
          <a:prstGeom prst="rect">
            <a:avLst/>
          </a:prstGeom>
          <a:noFill/>
          <a:ln w="0">
            <a:noFill/>
          </a:ln>
        </p:spPr>
        <p:txBody>
          <a:bodyPr lIns="0" tIns="0" rIns="0" bIns="0"/>
          <a:lstStyle>
            <a:defPPr>
              <a:defRPr sz="2925" b="0">
                <a:solidFill>
                  <a:srgbClr val="333333"/>
                </a:solidFill>
                <a:latin typeface="Calibri"/>
                <a:ea typeface="Calibri"/>
                <a:cs typeface="Calibri"/>
              </a:defRPr>
            </a:defPPr>
            <a:lvl1pPr>
              <a:defRPr sz="2925" b="0">
                <a:solidFill>
                  <a:srgbClr val="333333"/>
                </a:solidFill>
                <a:latin typeface="Calibri"/>
                <a:ea typeface="Calibri"/>
                <a:cs typeface="Calibri"/>
              </a:defRPr>
            </a:lvl1pPr>
            <a:lvl2pPr>
              <a:defRPr sz="2925" b="0">
                <a:solidFill>
                  <a:srgbClr val="333333"/>
                </a:solidFill>
                <a:latin typeface="Calibri"/>
                <a:ea typeface="Calibri"/>
                <a:cs typeface="Calibri"/>
              </a:defRPr>
            </a:lvl2pPr>
            <a:lvl3pPr>
              <a:defRPr sz="2925" b="0">
                <a:solidFill>
                  <a:srgbClr val="333333"/>
                </a:solidFill>
                <a:latin typeface="Calibri"/>
                <a:ea typeface="Calibri"/>
                <a:cs typeface="Calibri"/>
              </a:defRPr>
            </a:lvl3pPr>
            <a:lvl4pPr>
              <a:defRPr sz="2925" b="0">
                <a:solidFill>
                  <a:srgbClr val="333333"/>
                </a:solidFill>
                <a:latin typeface="Calibri"/>
                <a:ea typeface="Calibri"/>
                <a:cs typeface="Calibri"/>
              </a:defRPr>
            </a:lvl4pPr>
            <a:lvl5pPr>
              <a:defRPr sz="2925" b="0">
                <a:solidFill>
                  <a:srgbClr val="333333"/>
                </a:solidFill>
                <a:latin typeface="Calibri"/>
                <a:ea typeface="Calibri"/>
                <a:cs typeface="Calibri"/>
              </a:defRPr>
            </a:lvl5pPr>
            <a:lvl6pPr>
              <a:defRPr sz="2925" b="0">
                <a:solidFill>
                  <a:srgbClr val="333333"/>
                </a:solidFill>
                <a:latin typeface="Calibri"/>
                <a:ea typeface="Calibri"/>
                <a:cs typeface="Calibri"/>
              </a:defRPr>
            </a:lvl6pPr>
            <a:lvl7pPr>
              <a:defRPr sz="2925" b="0">
                <a:solidFill>
                  <a:srgbClr val="333333"/>
                </a:solidFill>
                <a:latin typeface="Calibri"/>
                <a:ea typeface="Calibri"/>
                <a:cs typeface="Calibri"/>
              </a:defRPr>
            </a:lvl7pPr>
            <a:lvl8pPr>
              <a:defRPr sz="2925" b="0">
                <a:solidFill>
                  <a:srgbClr val="333333"/>
                </a:solidFill>
                <a:latin typeface="Calibri"/>
                <a:ea typeface="Calibri"/>
                <a:cs typeface="Calibri"/>
              </a:defRPr>
            </a:lvl8pPr>
            <a:lvl9pPr>
              <a:defRPr sz="2925" b="0">
                <a:solidFill>
                  <a:srgbClr val="333333"/>
                </a:solidFill>
                <a:latin typeface="Calibri"/>
                <a:ea typeface="Calibri"/>
                <a:cs typeface="Calibri"/>
              </a:defRPr>
            </a:lvl9pPr>
          </a:lstStyle>
          <a:p>
            <a:pPr>
              <a:defRPr sz="2925" b="0">
                <a:solidFill>
                  <a:srgbClr val="333333"/>
                </a:solidFill>
                <a:latin typeface="Calibri"/>
                <a:ea typeface="Calibri"/>
                <a:cs typeface="Calibri"/>
              </a:defRPr>
            </a:pPr>
            <a:r>
              <a:rPr sz="2925" b="0">
                <a:solidFill>
                  <a:srgbClr val="333333"/>
                </a:solidFill>
                <a:latin typeface="Calibri"/>
                <a:ea typeface="Calibri"/>
                <a:cs typeface="Calibri"/>
              </a:rPr>
              <a:t>Fast inference and interpretable coefficients</a:t>
            </a:r>
          </a:p>
          <a:p>
            <a:endParaRPr sz="2925" b="0">
              <a:solidFill>
                <a:srgbClr val="333333"/>
              </a:solidFill>
              <a:latin typeface="Calibri"/>
              <a:ea typeface="Calibri"/>
              <a:cs typeface="Calibri"/>
            </a:endParaRPr>
          </a:p>
          <a:p>
            <a:pPr>
              <a:defRPr sz="2925" b="0">
                <a:solidFill>
                  <a:srgbClr val="333333"/>
                </a:solidFill>
                <a:latin typeface="Calibri"/>
                <a:ea typeface="Calibri"/>
                <a:cs typeface="Calibri"/>
              </a:defRPr>
            </a:pPr>
            <a:r>
              <a:rPr sz="2925" b="0">
                <a:solidFill>
                  <a:srgbClr val="333333"/>
                </a:solidFill>
                <a:latin typeface="Calibri"/>
                <a:ea typeface="Calibri"/>
                <a:cs typeface="Calibri"/>
              </a:rPr>
              <a:t>8,544 synthetic training rows</a:t>
            </a:r>
          </a:p>
          <a:p>
            <a:pPr>
              <a:defRPr sz="2925" b="0">
                <a:solidFill>
                  <a:srgbClr val="333333"/>
                </a:solidFill>
                <a:latin typeface="Calibri"/>
                <a:ea typeface="Calibri"/>
                <a:cs typeface="Calibri"/>
              </a:defRPr>
            </a:pPr>
            <a:r>
              <a:rPr sz="2925" b="0">
                <a:solidFill>
                  <a:srgbClr val="333333"/>
                </a:solidFill>
                <a:latin typeface="Calibri"/>
                <a:ea typeface="Calibri"/>
                <a:cs typeface="Calibri"/>
              </a:rPr>
              <a:t>4,272 validation rows</a:t>
            </a:r>
          </a:p>
          <a:p>
            <a:pPr>
              <a:defRPr sz="2925" b="0">
                <a:solidFill>
                  <a:srgbClr val="333333"/>
                </a:solidFill>
                <a:latin typeface="Calibri"/>
                <a:ea typeface="Calibri"/>
                <a:cs typeface="Calibri"/>
              </a:defRPr>
            </a:pPr>
            <a:r>
              <a:rPr sz="2925" b="0">
                <a:solidFill>
                  <a:srgbClr val="333333"/>
                </a:solidFill>
                <a:latin typeface="Calibri"/>
                <a:ea typeface="Calibri"/>
                <a:cs typeface="Calibri"/>
              </a:rPr>
              <a:t>Independent test seeds</a:t>
            </a:r>
          </a:p>
          <a:p>
            <a:endParaRPr sz="2925" b="0">
              <a:solidFill>
                <a:srgbClr val="333333"/>
              </a:solidFill>
              <a:latin typeface="Calibri"/>
              <a:ea typeface="Calibri"/>
              <a:cs typeface="Calibri"/>
            </a:endParaRPr>
          </a:p>
          <a:p>
            <a:pPr>
              <a:defRPr sz="2925" b="0">
                <a:solidFill>
                  <a:srgbClr val="333333"/>
                </a:solidFill>
                <a:latin typeface="Calibri"/>
                <a:ea typeface="Calibri"/>
                <a:cs typeface="Calibri"/>
              </a:defRPr>
            </a:pPr>
            <a:r>
              <a:rPr sz="2925" b="0">
                <a:solidFill>
                  <a:srgbClr val="333333"/>
                </a:solidFill>
                <a:latin typeface="Calibri"/>
                <a:ea typeface="Calibri"/>
                <a:cs typeface="Calibri"/>
              </a:rPr>
              <a:t>Saved model runs online after training</a:t>
            </a:r>
          </a:p>
        </p:txBody>
      </p:sp>
      <p:graphicFrame>
        <p:nvGraphicFramePr>
          <p:cNvPr id="110" name="Table 109">
            <a:extLst>
              <a:ext uri="{FF2B5EF4-FFF2-40B4-BE49-F238E27FC236}">
                <a16:creationId xmlns:a16="http://schemas.microsoft.com/office/drawing/2014/main" id="{428C5CCD-8F74-486B-BC68-255713F610AC}"/>
              </a:ext>
            </a:extLst>
          </p:cNvPr>
          <p:cNvGraphicFramePr/>
          <p:nvPr/>
        </p:nvGraphicFramePr>
        <p:xfrm>
          <a:off x="10096500" y="3286125"/>
          <a:ext cx="6124575" cy="2762250"/>
        </p:xfrm>
        <a:graphic>
          <a:graphicData uri="http://schemas.openxmlformats.org/drawingml/2006/table">
            <a:tbl>
              <a:tblPr/>
              <a:tblGrid>
                <a:gridCol w="2571750">
                  <a:extLst>
                    <a:ext uri="{9D8B030D-6E8A-4147-A177-3AD203B41FA5}">
                      <a16:colId xmlns:a16="http://schemas.microsoft.com/office/drawing/2014/main" val="20000"/>
                    </a:ext>
                  </a:extLst>
                </a:gridCol>
                <a:gridCol w="1771650">
                  <a:extLst>
                    <a:ext uri="{9D8B030D-6E8A-4147-A177-3AD203B41FA5}">
                      <a16:colId xmlns:a16="http://schemas.microsoft.com/office/drawing/2014/main" val="20001"/>
                    </a:ext>
                  </a:extLst>
                </a:gridCol>
                <a:gridCol w="1781175">
                  <a:extLst>
                    <a:ext uri="{9D8B030D-6E8A-4147-A177-3AD203B41FA5}">
                      <a16:colId xmlns:a16="http://schemas.microsoft.com/office/drawing/2014/main" val="20002"/>
                    </a:ext>
                  </a:extLst>
                </a:gridCol>
              </a:tblGrid>
              <a:tr h="920750">
                <a:tc>
                  <a:txBody>
                    <a:bodyPr/>
                    <a:lstStyle/>
                    <a:p>
                      <a:r>
                        <a:rPr sz="2325" b="1">
                          <a:solidFill>
                            <a:srgbClr val="FFFFFF"/>
                          </a:solidFill>
                          <a:latin typeface="Calibri"/>
                          <a:ea typeface="Calibri"/>
                          <a:cs typeface="Calibri"/>
                        </a:rPr>
                        <a:t>Test setting</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325" b="1">
                          <a:solidFill>
                            <a:srgbClr val="FFFFFF"/>
                          </a:solidFill>
                          <a:latin typeface="Calibri"/>
                          <a:ea typeface="Calibri"/>
                          <a:cs typeface="Calibri"/>
                        </a:rPr>
                        <a:t>Ridge MAE</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325" b="1">
                          <a:solidFill>
                            <a:srgbClr val="FFFFFF"/>
                          </a:solidFill>
                          <a:latin typeface="Calibri"/>
                          <a:ea typeface="Calibri"/>
                          <a:cs typeface="Calibri"/>
                        </a:rPr>
                        <a:t>Persistence</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920750">
                <a:tc>
                  <a:txBody>
                    <a:bodyPr/>
                    <a:lstStyle/>
                    <a:p>
                      <a:r>
                        <a:rPr sz="2325" b="0">
                          <a:solidFill>
                            <a:srgbClr val="333333"/>
                          </a:solidFill>
                          <a:latin typeface="Calibri"/>
                          <a:ea typeface="Calibri"/>
                          <a:cs typeface="Calibri"/>
                        </a:rPr>
                        <a:t>Synthetic holdout</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325" b="0">
                          <a:solidFill>
                            <a:srgbClr val="333333"/>
                          </a:solidFill>
                          <a:latin typeface="Calibri"/>
                          <a:ea typeface="Calibri"/>
                          <a:cs typeface="Calibri"/>
                        </a:rPr>
                        <a:t>1.67 RPS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325" b="0">
                          <a:solidFill>
                            <a:srgbClr val="333333"/>
                          </a:solidFill>
                          <a:latin typeface="Calibri"/>
                          <a:ea typeface="Calibri"/>
                          <a:cs typeface="Calibri"/>
                        </a:rPr>
                        <a:t>2.61 RPS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920750">
                <a:tc>
                  <a:txBody>
                    <a:bodyPr/>
                    <a:lstStyle/>
                    <a:p>
                      <a:r>
                        <a:rPr sz="2325" b="0">
                          <a:solidFill>
                            <a:srgbClr val="333333"/>
                          </a:solidFill>
                          <a:latin typeface="Calibri"/>
                          <a:ea typeface="Calibri"/>
                          <a:cs typeface="Calibri"/>
                        </a:rPr>
                        <a:t>Recorded replays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325" b="0">
                          <a:solidFill>
                            <a:srgbClr val="333333"/>
                          </a:solidFill>
                          <a:latin typeface="Calibri"/>
                          <a:ea typeface="Calibri"/>
                          <a:cs typeface="Calibri"/>
                        </a:rPr>
                        <a:t>11.24 RPS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325" b="0">
                          <a:solidFill>
                            <a:srgbClr val="333333"/>
                          </a:solidFill>
                          <a:latin typeface="Calibri"/>
                          <a:ea typeface="Calibri"/>
                          <a:cs typeface="Calibri"/>
                        </a:rPr>
                        <a:t>9.39 RPS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111" name="Rectangle 110">
            <a:extLst>
              <a:ext uri="{FF2B5EF4-FFF2-40B4-BE49-F238E27FC236}">
                <a16:creationId xmlns:a16="http://schemas.microsoft.com/office/drawing/2014/main" id="{4A393AA2-4AF6-4D39-9014-546602C3A21B}"/>
              </a:ext>
            </a:extLst>
          </p:cNvPr>
          <p:cNvSpPr>
            <a:spLocks noGrp="1"/>
          </p:cNvSpPr>
          <p:nvPr/>
        </p:nvSpPr>
        <p:spPr>
          <a:xfrm>
            <a:off x="10096500" y="6477000"/>
            <a:ext cx="6124575" cy="1381125"/>
          </a:xfrm>
          <a:prstGeom prst="rect">
            <a:avLst/>
          </a:prstGeom>
          <a:noFill/>
          <a:ln w="0">
            <a:noFill/>
          </a:ln>
        </p:spPr>
        <p:txBody>
          <a:bodyPr lIns="0" tIns="0" rIns="0" bIns="0"/>
          <a:lstStyle>
            <a:defPPr>
              <a:defRPr sz="2700" b="1">
                <a:solidFill>
                  <a:srgbClr val="A83033"/>
                </a:solidFill>
                <a:latin typeface="Calibri"/>
                <a:ea typeface="Calibri"/>
                <a:cs typeface="Calibri"/>
              </a:defRPr>
            </a:defPPr>
            <a:lvl1pPr>
              <a:defRPr sz="2700" b="1">
                <a:solidFill>
                  <a:srgbClr val="A83033"/>
                </a:solidFill>
                <a:latin typeface="Calibri"/>
                <a:ea typeface="Calibri"/>
                <a:cs typeface="Calibri"/>
              </a:defRPr>
            </a:lvl1pPr>
            <a:lvl2pPr>
              <a:defRPr sz="2700" b="1">
                <a:solidFill>
                  <a:srgbClr val="A83033"/>
                </a:solidFill>
                <a:latin typeface="Calibri"/>
                <a:ea typeface="Calibri"/>
                <a:cs typeface="Calibri"/>
              </a:defRPr>
            </a:lvl2pPr>
            <a:lvl3pPr>
              <a:defRPr sz="2700" b="1">
                <a:solidFill>
                  <a:srgbClr val="A83033"/>
                </a:solidFill>
                <a:latin typeface="Calibri"/>
                <a:ea typeface="Calibri"/>
                <a:cs typeface="Calibri"/>
              </a:defRPr>
            </a:lvl3pPr>
            <a:lvl4pPr>
              <a:defRPr sz="2700" b="1">
                <a:solidFill>
                  <a:srgbClr val="A83033"/>
                </a:solidFill>
                <a:latin typeface="Calibri"/>
                <a:ea typeface="Calibri"/>
                <a:cs typeface="Calibri"/>
              </a:defRPr>
            </a:lvl4pPr>
            <a:lvl5pPr>
              <a:defRPr sz="2700" b="1">
                <a:solidFill>
                  <a:srgbClr val="A83033"/>
                </a:solidFill>
                <a:latin typeface="Calibri"/>
                <a:ea typeface="Calibri"/>
                <a:cs typeface="Calibri"/>
              </a:defRPr>
            </a:lvl5pPr>
            <a:lvl6pPr>
              <a:defRPr sz="2700" b="1">
                <a:solidFill>
                  <a:srgbClr val="A83033"/>
                </a:solidFill>
                <a:latin typeface="Calibri"/>
                <a:ea typeface="Calibri"/>
                <a:cs typeface="Calibri"/>
              </a:defRPr>
            </a:lvl6pPr>
            <a:lvl7pPr>
              <a:defRPr sz="2700" b="1">
                <a:solidFill>
                  <a:srgbClr val="A83033"/>
                </a:solidFill>
                <a:latin typeface="Calibri"/>
                <a:ea typeface="Calibri"/>
                <a:cs typeface="Calibri"/>
              </a:defRPr>
            </a:lvl7pPr>
            <a:lvl8pPr>
              <a:defRPr sz="2700" b="1">
                <a:solidFill>
                  <a:srgbClr val="A83033"/>
                </a:solidFill>
                <a:latin typeface="Calibri"/>
                <a:ea typeface="Calibri"/>
                <a:cs typeface="Calibri"/>
              </a:defRPr>
            </a:lvl8pPr>
            <a:lvl9pPr>
              <a:defRPr sz="2700" b="1">
                <a:solidFill>
                  <a:srgbClr val="A83033"/>
                </a:solidFill>
                <a:latin typeface="Calibri"/>
                <a:ea typeface="Calibri"/>
                <a:cs typeface="Calibri"/>
              </a:defRPr>
            </a:lvl9pPr>
          </a:lstStyle>
          <a:p>
            <a:pPr>
              <a:defRPr sz="2700" b="1">
                <a:solidFill>
                  <a:srgbClr val="A83033"/>
                </a:solidFill>
                <a:latin typeface="Calibri"/>
                <a:ea typeface="Calibri"/>
                <a:cs typeface="Calibri"/>
              </a:defRPr>
            </a:pPr>
            <a:r>
              <a:rPr sz="2700" b="1">
                <a:solidFill>
                  <a:srgbClr val="A83033"/>
                </a:solidFill>
                <a:latin typeface="Calibri"/>
                <a:ea typeface="Calibri"/>
                <a:cs typeface="Calibri"/>
              </a:rPr>
              <a:t>Ridge wins the synthetic holdout. Persistence wins on the recorded replays.</a:t>
            </a:r>
          </a:p>
        </p:txBody>
      </p:sp>
      <p:sp>
        <p:nvSpPr>
          <p:cNvPr id="112" name="Rectangle 111">
            <a:extLst>
              <a:ext uri="{FF2B5EF4-FFF2-40B4-BE49-F238E27FC236}">
                <a16:creationId xmlns:a16="http://schemas.microsoft.com/office/drawing/2014/main" id="{C1DA3F8C-8467-44A5-9297-62899056013C}"/>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05 / 18</a:t>
            </a:r>
          </a:p>
        </p:txBody>
      </p:sp>
    </p:spTree>
    <p:extLst>
      <p:ext uri="{BB962C8B-B14F-4D97-AF65-F5344CB8AC3E}">
        <p14:creationId xmlns:p14="http://schemas.microsoft.com/office/powerpoint/2010/main" val="1518820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6107BD0F-909A-4A24-B1A5-CB0EA8CBE72A}"/>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Capacity calibration and scaling policy</a:t>
            </a:r>
          </a:p>
        </p:txBody>
      </p:sp>
      <p:sp>
        <p:nvSpPr>
          <p:cNvPr id="108" name="Rectangle 107">
            <a:extLst>
              <a:ext uri="{FF2B5EF4-FFF2-40B4-BE49-F238E27FC236}">
                <a16:creationId xmlns:a16="http://schemas.microsoft.com/office/drawing/2014/main" id="{5DF76C2F-0F39-4288-94BE-455A84C76ACC}"/>
              </a:ext>
            </a:extLst>
          </p:cNvPr>
          <p:cNvSpPr>
            <a:spLocks noGrp="1"/>
          </p:cNvSpPr>
          <p:nvPr/>
        </p:nvSpPr>
        <p:spPr>
          <a:xfrm>
            <a:off x="2238375" y="2095500"/>
            <a:ext cx="13982700" cy="1190625"/>
          </a:xfrm>
          <a:prstGeom prst="rect">
            <a:avLst/>
          </a:prstGeom>
          <a:noFill/>
          <a:ln w="0">
            <a:noFill/>
          </a:ln>
        </p:spPr>
        <p:txBody>
          <a:bodyPr lIns="0" tIns="0" rIns="0" bIns="0"/>
          <a:lstStyle>
            <a:defPPr>
              <a:defRPr sz="3150" b="1">
                <a:solidFill>
                  <a:srgbClr val="A83033"/>
                </a:solidFill>
                <a:latin typeface="Calibri"/>
                <a:ea typeface="Calibri"/>
                <a:cs typeface="Calibri"/>
              </a:defRPr>
            </a:defPPr>
            <a:lvl1pPr>
              <a:defRPr sz="3150" b="1">
                <a:solidFill>
                  <a:srgbClr val="A83033"/>
                </a:solidFill>
                <a:latin typeface="Calibri"/>
                <a:ea typeface="Calibri"/>
                <a:cs typeface="Calibri"/>
              </a:defRPr>
            </a:lvl1pPr>
            <a:lvl2pPr>
              <a:defRPr sz="3150" b="1">
                <a:solidFill>
                  <a:srgbClr val="A83033"/>
                </a:solidFill>
                <a:latin typeface="Calibri"/>
                <a:ea typeface="Calibri"/>
                <a:cs typeface="Calibri"/>
              </a:defRPr>
            </a:lvl2pPr>
            <a:lvl3pPr>
              <a:defRPr sz="3150" b="1">
                <a:solidFill>
                  <a:srgbClr val="A83033"/>
                </a:solidFill>
                <a:latin typeface="Calibri"/>
                <a:ea typeface="Calibri"/>
                <a:cs typeface="Calibri"/>
              </a:defRPr>
            </a:lvl3pPr>
            <a:lvl4pPr>
              <a:defRPr sz="3150" b="1">
                <a:solidFill>
                  <a:srgbClr val="A83033"/>
                </a:solidFill>
                <a:latin typeface="Calibri"/>
                <a:ea typeface="Calibri"/>
                <a:cs typeface="Calibri"/>
              </a:defRPr>
            </a:lvl4pPr>
            <a:lvl5pPr>
              <a:defRPr sz="3150" b="1">
                <a:solidFill>
                  <a:srgbClr val="A83033"/>
                </a:solidFill>
                <a:latin typeface="Calibri"/>
                <a:ea typeface="Calibri"/>
                <a:cs typeface="Calibri"/>
              </a:defRPr>
            </a:lvl5pPr>
            <a:lvl6pPr>
              <a:defRPr sz="3150" b="1">
                <a:solidFill>
                  <a:srgbClr val="A83033"/>
                </a:solidFill>
                <a:latin typeface="Calibri"/>
                <a:ea typeface="Calibri"/>
                <a:cs typeface="Calibri"/>
              </a:defRPr>
            </a:lvl6pPr>
            <a:lvl7pPr>
              <a:defRPr sz="3150" b="1">
                <a:solidFill>
                  <a:srgbClr val="A83033"/>
                </a:solidFill>
                <a:latin typeface="Calibri"/>
                <a:ea typeface="Calibri"/>
                <a:cs typeface="Calibri"/>
              </a:defRPr>
            </a:lvl7pPr>
            <a:lvl8pPr>
              <a:defRPr sz="3150" b="1">
                <a:solidFill>
                  <a:srgbClr val="A83033"/>
                </a:solidFill>
                <a:latin typeface="Calibri"/>
                <a:ea typeface="Calibri"/>
                <a:cs typeface="Calibri"/>
              </a:defRPr>
            </a:lvl8pPr>
            <a:lvl9pPr>
              <a:defRPr sz="3150" b="1">
                <a:solidFill>
                  <a:srgbClr val="A83033"/>
                </a:solidFill>
                <a:latin typeface="Calibri"/>
                <a:ea typeface="Calibri"/>
                <a:cs typeface="Calibri"/>
              </a:defRPr>
            </a:lvl9pPr>
          </a:lstStyle>
          <a:p>
            <a:pPr>
              <a:defRPr sz="3150" b="1">
                <a:solidFill>
                  <a:srgbClr val="A83033"/>
                </a:solidFill>
                <a:latin typeface="Calibri"/>
                <a:ea typeface="Calibri"/>
                <a:cs typeface="Calibri"/>
              </a:defRPr>
            </a:pPr>
            <a:r>
              <a:rPr sz="3150" b="1">
                <a:solidFill>
                  <a:srgbClr val="A83033"/>
                </a:solidFill>
                <a:latin typeface="Calibri"/>
                <a:ea typeface="Calibri"/>
                <a:cs typeface="Calibri"/>
              </a:rPr>
              <a:t>18 RPS passed repeated one-worker checks.</a:t>
            </a:r>
          </a:p>
          <a:p>
            <a:pPr>
              <a:defRPr sz="3150" b="1">
                <a:solidFill>
                  <a:srgbClr val="A83033"/>
                </a:solidFill>
                <a:latin typeface="Calibri"/>
                <a:ea typeface="Calibri"/>
                <a:cs typeface="Calibri"/>
              </a:defRPr>
            </a:pPr>
            <a:r>
              <a:rPr sz="3150" b="1">
                <a:solidFill>
                  <a:srgbClr val="A83033"/>
                </a:solidFill>
                <a:latin typeface="Calibri"/>
                <a:ea typeface="Calibri"/>
                <a:cs typeface="Calibri"/>
              </a:rPr>
              <a:t>20% headroom gives 14.4 safe RPS per worker.</a:t>
            </a:r>
          </a:p>
        </p:txBody>
      </p:sp>
      <p:sp>
        <p:nvSpPr>
          <p:cNvPr id="109" name="Rectangle 108">
            <a:extLst>
              <a:ext uri="{FF2B5EF4-FFF2-40B4-BE49-F238E27FC236}">
                <a16:creationId xmlns:a16="http://schemas.microsoft.com/office/drawing/2014/main" id="{67E55DF3-F057-4FEE-B2B7-0AEE3DCD42B4}"/>
              </a:ext>
            </a:extLst>
          </p:cNvPr>
          <p:cNvSpPr>
            <a:spLocks noGrp="1"/>
          </p:cNvSpPr>
          <p:nvPr/>
        </p:nvSpPr>
        <p:spPr>
          <a:xfrm>
            <a:off x="2238375" y="3714750"/>
            <a:ext cx="13982700" cy="762000"/>
          </a:xfrm>
          <a:prstGeom prst="rect">
            <a:avLst/>
          </a:prstGeom>
          <a:noFill/>
          <a:ln w="0">
            <a:noFill/>
          </a:ln>
        </p:spPr>
        <p:txBody>
          <a:bodyPr lIns="0" tIns="0" rIns="0" bIns="0"/>
          <a:lstStyle>
            <a:defPPr>
              <a:defRPr sz="3000" b="0">
                <a:solidFill>
                  <a:srgbClr val="333333"/>
                </a:solidFill>
                <a:latin typeface="Calibri"/>
                <a:ea typeface="Calibri"/>
                <a:cs typeface="Calibri"/>
              </a:defRPr>
            </a:defPPr>
            <a:lvl1pPr>
              <a:defRPr sz="3000" b="0">
                <a:solidFill>
                  <a:srgbClr val="333333"/>
                </a:solidFill>
                <a:latin typeface="Calibri"/>
                <a:ea typeface="Calibri"/>
                <a:cs typeface="Calibri"/>
              </a:defRPr>
            </a:lvl1pPr>
            <a:lvl2pPr>
              <a:defRPr sz="3000" b="0">
                <a:solidFill>
                  <a:srgbClr val="333333"/>
                </a:solidFill>
                <a:latin typeface="Calibri"/>
                <a:ea typeface="Calibri"/>
                <a:cs typeface="Calibri"/>
              </a:defRPr>
            </a:lvl2pPr>
            <a:lvl3pPr>
              <a:defRPr sz="3000" b="0">
                <a:solidFill>
                  <a:srgbClr val="333333"/>
                </a:solidFill>
                <a:latin typeface="Calibri"/>
                <a:ea typeface="Calibri"/>
                <a:cs typeface="Calibri"/>
              </a:defRPr>
            </a:lvl3pPr>
            <a:lvl4pPr>
              <a:defRPr sz="3000" b="0">
                <a:solidFill>
                  <a:srgbClr val="333333"/>
                </a:solidFill>
                <a:latin typeface="Calibri"/>
                <a:ea typeface="Calibri"/>
                <a:cs typeface="Calibri"/>
              </a:defRPr>
            </a:lvl4pPr>
            <a:lvl5pPr>
              <a:defRPr sz="3000" b="0">
                <a:solidFill>
                  <a:srgbClr val="333333"/>
                </a:solidFill>
                <a:latin typeface="Calibri"/>
                <a:ea typeface="Calibri"/>
                <a:cs typeface="Calibri"/>
              </a:defRPr>
            </a:lvl5pPr>
            <a:lvl6pPr>
              <a:defRPr sz="3000" b="0">
                <a:solidFill>
                  <a:srgbClr val="333333"/>
                </a:solidFill>
                <a:latin typeface="Calibri"/>
                <a:ea typeface="Calibri"/>
                <a:cs typeface="Calibri"/>
              </a:defRPr>
            </a:lvl6pPr>
            <a:lvl7pPr>
              <a:defRPr sz="3000" b="0">
                <a:solidFill>
                  <a:srgbClr val="333333"/>
                </a:solidFill>
                <a:latin typeface="Calibri"/>
                <a:ea typeface="Calibri"/>
                <a:cs typeface="Calibri"/>
              </a:defRPr>
            </a:lvl7pPr>
            <a:lvl8pPr>
              <a:defRPr sz="3000" b="0">
                <a:solidFill>
                  <a:srgbClr val="333333"/>
                </a:solidFill>
                <a:latin typeface="Calibri"/>
                <a:ea typeface="Calibri"/>
                <a:cs typeface="Calibri"/>
              </a:defRPr>
            </a:lvl8pPr>
            <a:lvl9pPr>
              <a:defRPr sz="3000" b="0">
                <a:solidFill>
                  <a:srgbClr val="333333"/>
                </a:solidFill>
                <a:latin typeface="Calibri"/>
                <a:ea typeface="Calibri"/>
                <a:cs typeface="Calibri"/>
              </a:defRPr>
            </a:lvl9pPr>
          </a:lstStyle>
          <a:p>
            <a:pPr>
              <a:defRPr sz="3000" b="0">
                <a:solidFill>
                  <a:srgbClr val="333333"/>
                </a:solidFill>
                <a:latin typeface="Calibri"/>
                <a:ea typeface="Calibri"/>
                <a:cs typeface="Calibri"/>
              </a:defRPr>
            </a:pPr>
            <a:r>
              <a:rPr sz="3000" b="0">
                <a:solidFill>
                  <a:srgbClr val="333333"/>
                </a:solidFill>
                <a:latin typeface="Calibri"/>
                <a:ea typeface="Calibri"/>
                <a:cs typeface="Calibri"/>
              </a:rPr>
              <a:t>Target = ceil(max(observed demand, forecast + buffer) / 14.4)</a:t>
            </a:r>
          </a:p>
        </p:txBody>
      </p:sp>
      <p:graphicFrame>
        <p:nvGraphicFramePr>
          <p:cNvPr id="110" name="Table 109">
            <a:extLst>
              <a:ext uri="{FF2B5EF4-FFF2-40B4-BE49-F238E27FC236}">
                <a16:creationId xmlns:a16="http://schemas.microsoft.com/office/drawing/2014/main" id="{168D4908-C1C0-469C-AA05-00FEAA6AACCB}"/>
              </a:ext>
            </a:extLst>
          </p:cNvPr>
          <p:cNvGraphicFramePr/>
          <p:nvPr/>
        </p:nvGraphicFramePr>
        <p:xfrm>
          <a:off x="2238375" y="4953000"/>
          <a:ext cx="13982700" cy="2762250"/>
        </p:xfrm>
        <a:graphic>
          <a:graphicData uri="http://schemas.openxmlformats.org/drawingml/2006/table">
            <a:tbl>
              <a:tblPr/>
              <a:tblGrid>
                <a:gridCol w="4095750">
                  <a:extLst>
                    <a:ext uri="{9D8B030D-6E8A-4147-A177-3AD203B41FA5}">
                      <a16:colId xmlns:a16="http://schemas.microsoft.com/office/drawing/2014/main" val="20000"/>
                    </a:ext>
                  </a:extLst>
                </a:gridCol>
                <a:gridCol w="9886950">
                  <a:extLst>
                    <a:ext uri="{9D8B030D-6E8A-4147-A177-3AD203B41FA5}">
                      <a16:colId xmlns:a16="http://schemas.microsoft.com/office/drawing/2014/main" val="20001"/>
                    </a:ext>
                  </a:extLst>
                </a:gridCol>
              </a:tblGrid>
              <a:tr h="690563">
                <a:tc>
                  <a:txBody>
                    <a:bodyPr/>
                    <a:lstStyle/>
                    <a:p>
                      <a:r>
                        <a:rPr sz="2550" b="1">
                          <a:solidFill>
                            <a:srgbClr val="FFFFFF"/>
                          </a:solidFill>
                          <a:latin typeface="Calibri"/>
                          <a:ea typeface="Calibri"/>
                          <a:cs typeface="Calibri"/>
                        </a:rPr>
                        <a:t>Condition</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550" b="1">
                          <a:solidFill>
                            <a:srgbClr val="FFFFFF"/>
                          </a:solidFill>
                          <a:latin typeface="Calibri"/>
                          <a:ea typeface="Calibri"/>
                          <a:cs typeface="Calibri"/>
                        </a:rPr>
                        <a:t>Controller response</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690563">
                <a:tc>
                  <a:txBody>
                    <a:bodyPr/>
                    <a:lstStyle/>
                    <a:p>
                      <a:r>
                        <a:rPr sz="2550" b="0">
                          <a:solidFill>
                            <a:srgbClr val="333333"/>
                          </a:solidFill>
                          <a:latin typeface="Calibri"/>
                          <a:ea typeface="Calibri"/>
                          <a:cs typeface="Calibri"/>
                        </a:rPr>
                        <a:t>High latency or errors</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550" b="0">
                          <a:solidFill>
                            <a:srgbClr val="333333"/>
                          </a:solidFill>
                          <a:latin typeface="Calibri"/>
                          <a:ea typeface="Calibri"/>
                          <a:cs typeface="Calibri"/>
                        </a:rPr>
                        <a:t>Add rescue capacity when no scale-out is pending</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690563">
                <a:tc>
                  <a:txBody>
                    <a:bodyPr/>
                    <a:lstStyle/>
                    <a:p>
                      <a:r>
                        <a:rPr sz="2550" b="0">
                          <a:solidFill>
                            <a:srgbClr val="333333"/>
                          </a:solidFill>
                          <a:latin typeface="Calibri"/>
                          <a:ea typeface="Calibri"/>
                          <a:cs typeface="Calibri"/>
                        </a:rPr>
                        <a:t>Falling demand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550" b="0">
                          <a:solidFill>
                            <a:srgbClr val="333333"/>
                          </a:solidFill>
                          <a:latin typeface="Calibri"/>
                          <a:ea typeface="Calibri"/>
                          <a:cs typeface="Calibri"/>
                        </a:rPr>
                        <a:t>Wait 30 seconds, then remove one replica at a time</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r h="690563">
                <a:tc>
                  <a:txBody>
                    <a:bodyPr/>
                    <a:lstStyle/>
                    <a:p>
                      <a:r>
                        <a:rPr sz="2550" b="0">
                          <a:solidFill>
                            <a:srgbClr val="333333"/>
                          </a:solidFill>
                          <a:latin typeface="Calibri"/>
                          <a:ea typeface="Calibri"/>
                          <a:cs typeface="Calibri"/>
                        </a:rPr>
                        <a:t>Resource constraint</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550" b="0">
                          <a:solidFill>
                            <a:srgbClr val="333333"/>
                          </a:solidFill>
                          <a:latin typeface="Calibri"/>
                          <a:ea typeface="Calibri"/>
                          <a:cs typeface="Calibri"/>
                        </a:rPr>
                        <a:t>Apply the configured budget and 1–4 replica bound</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3"/>
                  </a:ext>
                </a:extLst>
              </a:tr>
            </a:tbl>
          </a:graphicData>
        </a:graphic>
      </p:graphicFrame>
      <p:sp>
        <p:nvSpPr>
          <p:cNvPr id="111" name="Rectangle 110">
            <a:extLst>
              <a:ext uri="{FF2B5EF4-FFF2-40B4-BE49-F238E27FC236}">
                <a16:creationId xmlns:a16="http://schemas.microsoft.com/office/drawing/2014/main" id="{43A69569-A31E-4B80-9007-E0A6D5B6A27D}"/>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06 / 18</a:t>
            </a:r>
          </a:p>
        </p:txBody>
      </p:sp>
    </p:spTree>
    <p:extLst>
      <p:ext uri="{BB962C8B-B14F-4D97-AF65-F5344CB8AC3E}">
        <p14:creationId xmlns:p14="http://schemas.microsoft.com/office/powerpoint/2010/main" val="1518820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7B7ADAD8-FA91-4BC9-9BE4-3268AD21D01F}"/>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Demonstration setup</a:t>
            </a:r>
          </a:p>
        </p:txBody>
      </p:sp>
      <p:sp>
        <p:nvSpPr>
          <p:cNvPr id="108" name="Rectangle 107">
            <a:extLst>
              <a:ext uri="{FF2B5EF4-FFF2-40B4-BE49-F238E27FC236}">
                <a16:creationId xmlns:a16="http://schemas.microsoft.com/office/drawing/2014/main" id="{A280FDD9-D2CD-4094-8349-7BFE2F4C349F}"/>
              </a:ext>
            </a:extLst>
          </p:cNvPr>
          <p:cNvSpPr>
            <a:spLocks noGrp="1"/>
          </p:cNvSpPr>
          <p:nvPr/>
        </p:nvSpPr>
        <p:spPr>
          <a:xfrm>
            <a:off x="2238375" y="2143125"/>
            <a:ext cx="8096250" cy="714375"/>
          </a:xfrm>
          <a:prstGeom prst="rect">
            <a:avLst/>
          </a:prstGeom>
          <a:noFill/>
          <a:ln w="0">
            <a:noFill/>
          </a:ln>
        </p:spPr>
        <p:txBody>
          <a:bodyPr lIns="0" tIns="0" rIns="0" bIns="0"/>
          <a:lstStyle>
            <a:defPPr>
              <a:defRPr sz="3225" b="1">
                <a:solidFill>
                  <a:srgbClr val="A83033"/>
                </a:solidFill>
                <a:latin typeface="Calibri"/>
                <a:ea typeface="Calibri"/>
                <a:cs typeface="Calibri"/>
              </a:defRPr>
            </a:defPPr>
            <a:lvl1pPr>
              <a:defRPr sz="3225" b="1">
                <a:solidFill>
                  <a:srgbClr val="A83033"/>
                </a:solidFill>
                <a:latin typeface="Calibri"/>
                <a:ea typeface="Calibri"/>
                <a:cs typeface="Calibri"/>
              </a:defRPr>
            </a:lvl1pPr>
            <a:lvl2pPr>
              <a:defRPr sz="3225" b="1">
                <a:solidFill>
                  <a:srgbClr val="A83033"/>
                </a:solidFill>
                <a:latin typeface="Calibri"/>
                <a:ea typeface="Calibri"/>
                <a:cs typeface="Calibri"/>
              </a:defRPr>
            </a:lvl2pPr>
            <a:lvl3pPr>
              <a:defRPr sz="3225" b="1">
                <a:solidFill>
                  <a:srgbClr val="A83033"/>
                </a:solidFill>
                <a:latin typeface="Calibri"/>
                <a:ea typeface="Calibri"/>
                <a:cs typeface="Calibri"/>
              </a:defRPr>
            </a:lvl3pPr>
            <a:lvl4pPr>
              <a:defRPr sz="3225" b="1">
                <a:solidFill>
                  <a:srgbClr val="A83033"/>
                </a:solidFill>
                <a:latin typeface="Calibri"/>
                <a:ea typeface="Calibri"/>
                <a:cs typeface="Calibri"/>
              </a:defRPr>
            </a:lvl4pPr>
            <a:lvl5pPr>
              <a:defRPr sz="3225" b="1">
                <a:solidFill>
                  <a:srgbClr val="A83033"/>
                </a:solidFill>
                <a:latin typeface="Calibri"/>
                <a:ea typeface="Calibri"/>
                <a:cs typeface="Calibri"/>
              </a:defRPr>
            </a:lvl5pPr>
            <a:lvl6pPr>
              <a:defRPr sz="3225" b="1">
                <a:solidFill>
                  <a:srgbClr val="A83033"/>
                </a:solidFill>
                <a:latin typeface="Calibri"/>
                <a:ea typeface="Calibri"/>
                <a:cs typeface="Calibri"/>
              </a:defRPr>
            </a:lvl6pPr>
            <a:lvl7pPr>
              <a:defRPr sz="3225" b="1">
                <a:solidFill>
                  <a:srgbClr val="A83033"/>
                </a:solidFill>
                <a:latin typeface="Calibri"/>
                <a:ea typeface="Calibri"/>
                <a:cs typeface="Calibri"/>
              </a:defRPr>
            </a:lvl7pPr>
            <a:lvl8pPr>
              <a:defRPr sz="3225" b="1">
                <a:solidFill>
                  <a:srgbClr val="A83033"/>
                </a:solidFill>
                <a:latin typeface="Calibri"/>
                <a:ea typeface="Calibri"/>
                <a:cs typeface="Calibri"/>
              </a:defRPr>
            </a:lvl8pPr>
            <a:lvl9pPr>
              <a:defRPr sz="3225" b="1">
                <a:solidFill>
                  <a:srgbClr val="A83033"/>
                </a:solidFill>
                <a:latin typeface="Calibri"/>
                <a:ea typeface="Calibri"/>
                <a:cs typeface="Calibri"/>
              </a:defRPr>
            </a:lvl9pPr>
          </a:lstStyle>
          <a:p>
            <a:pPr>
              <a:defRPr sz="3225" b="1">
                <a:solidFill>
                  <a:srgbClr val="A83033"/>
                </a:solidFill>
                <a:latin typeface="Calibri"/>
                <a:ea typeface="Calibri"/>
                <a:cs typeface="Calibri"/>
              </a:defRPr>
            </a:pPr>
            <a:r>
              <a:rPr sz="3225" b="1">
                <a:solidFill>
                  <a:srgbClr val="A83033"/>
                </a:solidFill>
                <a:latin typeface="Calibri"/>
                <a:ea typeface="Calibri"/>
                <a:cs typeface="Calibri"/>
              </a:rPr>
              <a:t>Docker Desktop and Minikube</a:t>
            </a:r>
          </a:p>
        </p:txBody>
      </p:sp>
      <p:sp>
        <p:nvSpPr>
          <p:cNvPr id="109" name="Rectangle 108">
            <a:extLst>
              <a:ext uri="{FF2B5EF4-FFF2-40B4-BE49-F238E27FC236}">
                <a16:creationId xmlns:a16="http://schemas.microsoft.com/office/drawing/2014/main" id="{A0E60411-5F9D-4C62-9490-CC93E9DD03D5}"/>
              </a:ext>
            </a:extLst>
          </p:cNvPr>
          <p:cNvSpPr>
            <a:spLocks noGrp="1"/>
          </p:cNvSpPr>
          <p:nvPr/>
        </p:nvSpPr>
        <p:spPr>
          <a:xfrm>
            <a:off x="2238375" y="3286125"/>
            <a:ext cx="8096250" cy="3476625"/>
          </a:xfrm>
          <a:prstGeom prst="rect">
            <a:avLst/>
          </a:prstGeom>
          <a:noFill/>
          <a:ln w="0">
            <a:noFill/>
          </a:ln>
        </p:spPr>
        <p:txBody>
          <a:bodyPr lIns="0" tIns="0" rIns="0" bIns="0"/>
          <a:lstStyle>
            <a:defPPr>
              <a:defRPr sz="3000" b="0">
                <a:solidFill>
                  <a:srgbClr val="333333"/>
                </a:solidFill>
                <a:latin typeface="Calibri"/>
                <a:ea typeface="Calibri"/>
                <a:cs typeface="Calibri"/>
              </a:defRPr>
            </a:defPPr>
            <a:lvl1pPr>
              <a:defRPr sz="3000" b="0">
                <a:solidFill>
                  <a:srgbClr val="333333"/>
                </a:solidFill>
                <a:latin typeface="Calibri"/>
                <a:ea typeface="Calibri"/>
                <a:cs typeface="Calibri"/>
              </a:defRPr>
            </a:lvl1pPr>
            <a:lvl2pPr>
              <a:defRPr sz="3000" b="0">
                <a:solidFill>
                  <a:srgbClr val="333333"/>
                </a:solidFill>
                <a:latin typeface="Calibri"/>
                <a:ea typeface="Calibri"/>
                <a:cs typeface="Calibri"/>
              </a:defRPr>
            </a:lvl2pPr>
            <a:lvl3pPr>
              <a:defRPr sz="3000" b="0">
                <a:solidFill>
                  <a:srgbClr val="333333"/>
                </a:solidFill>
                <a:latin typeface="Calibri"/>
                <a:ea typeface="Calibri"/>
                <a:cs typeface="Calibri"/>
              </a:defRPr>
            </a:lvl3pPr>
            <a:lvl4pPr>
              <a:defRPr sz="3000" b="0">
                <a:solidFill>
                  <a:srgbClr val="333333"/>
                </a:solidFill>
                <a:latin typeface="Calibri"/>
                <a:ea typeface="Calibri"/>
                <a:cs typeface="Calibri"/>
              </a:defRPr>
            </a:lvl4pPr>
            <a:lvl5pPr>
              <a:defRPr sz="3000" b="0">
                <a:solidFill>
                  <a:srgbClr val="333333"/>
                </a:solidFill>
                <a:latin typeface="Calibri"/>
                <a:ea typeface="Calibri"/>
                <a:cs typeface="Calibri"/>
              </a:defRPr>
            </a:lvl5pPr>
            <a:lvl6pPr>
              <a:defRPr sz="3000" b="0">
                <a:solidFill>
                  <a:srgbClr val="333333"/>
                </a:solidFill>
                <a:latin typeface="Calibri"/>
                <a:ea typeface="Calibri"/>
                <a:cs typeface="Calibri"/>
              </a:defRPr>
            </a:lvl6pPr>
            <a:lvl7pPr>
              <a:defRPr sz="3000" b="0">
                <a:solidFill>
                  <a:srgbClr val="333333"/>
                </a:solidFill>
                <a:latin typeface="Calibri"/>
                <a:ea typeface="Calibri"/>
                <a:cs typeface="Calibri"/>
              </a:defRPr>
            </a:lvl7pPr>
            <a:lvl8pPr>
              <a:defRPr sz="3000" b="0">
                <a:solidFill>
                  <a:srgbClr val="333333"/>
                </a:solidFill>
                <a:latin typeface="Calibri"/>
                <a:ea typeface="Calibri"/>
                <a:cs typeface="Calibri"/>
              </a:defRPr>
            </a:lvl8pPr>
            <a:lvl9pPr>
              <a:defRPr sz="3000" b="0">
                <a:solidFill>
                  <a:srgbClr val="333333"/>
                </a:solidFill>
                <a:latin typeface="Calibri"/>
                <a:ea typeface="Calibri"/>
                <a:cs typeface="Calibri"/>
              </a:defRPr>
            </a:lvl9pPr>
          </a:lstStyle>
          <a:p>
            <a:pPr>
              <a:defRPr sz="3000" b="0">
                <a:solidFill>
                  <a:srgbClr val="333333"/>
                </a:solidFill>
                <a:latin typeface="Calibri"/>
                <a:ea typeface="Calibri"/>
                <a:cs typeface="Calibri"/>
              </a:defRPr>
            </a:pPr>
            <a:r>
              <a:rPr sz="3000" b="0">
                <a:solidFill>
                  <a:srgbClr val="333333"/>
                </a:solidFill>
                <a:latin typeface="Calibri"/>
                <a:ea typeface="Calibri"/>
                <a:cs typeface="Calibri"/>
              </a:rPr>
              <a:t>One gateway routes traffic to ready workers.</a:t>
            </a:r>
          </a:p>
          <a:p>
            <a:pPr>
              <a:defRPr sz="3000" b="0">
                <a:solidFill>
                  <a:srgbClr val="333333"/>
                </a:solidFill>
                <a:latin typeface="Calibri"/>
                <a:ea typeface="Calibri"/>
                <a:cs typeface="Calibri"/>
              </a:defRPr>
            </a:pPr>
            <a:r>
              <a:rPr sz="3000" b="0">
                <a:solidFill>
                  <a:srgbClr val="333333"/>
                </a:solidFill>
                <a:latin typeface="Calibri"/>
                <a:ea typeface="Calibri"/>
                <a:cs typeface="Calibri"/>
              </a:rPr>
              <a:t>Each request performs real CPU work.</a:t>
            </a:r>
          </a:p>
          <a:p>
            <a:endParaRPr sz="3000" b="0">
              <a:solidFill>
                <a:srgbClr val="333333"/>
              </a:solidFill>
              <a:latin typeface="Calibri"/>
              <a:ea typeface="Calibri"/>
              <a:cs typeface="Calibri"/>
            </a:endParaRPr>
          </a:p>
          <a:p>
            <a:pPr>
              <a:defRPr sz="3000" b="0">
                <a:solidFill>
                  <a:srgbClr val="333333"/>
                </a:solidFill>
                <a:latin typeface="Calibri"/>
                <a:ea typeface="Calibri"/>
                <a:cs typeface="Calibri"/>
              </a:defRPr>
            </a:pPr>
            <a:r>
              <a:rPr sz="3000" b="0">
                <a:solidFill>
                  <a:srgbClr val="333333"/>
                </a:solidFill>
                <a:latin typeface="Calibri"/>
                <a:ea typeface="Calibri"/>
                <a:cs typeface="Calibri"/>
              </a:rPr>
              <a:t>The controller loads the saved Ridge model.</a:t>
            </a:r>
          </a:p>
          <a:p>
            <a:pPr>
              <a:defRPr sz="3000" b="0">
                <a:solidFill>
                  <a:srgbClr val="333333"/>
                </a:solidFill>
                <a:latin typeface="Calibri"/>
                <a:ea typeface="Calibri"/>
                <a:cs typeface="Calibri"/>
              </a:defRPr>
            </a:pPr>
            <a:r>
              <a:rPr sz="3000" b="0">
                <a:solidFill>
                  <a:srgbClr val="333333"/>
                </a:solidFill>
                <a:latin typeface="Calibri"/>
                <a:ea typeface="Calibri"/>
                <a:cs typeface="Calibri"/>
              </a:rPr>
              <a:t>The dashboard displays observations and decisions.</a:t>
            </a:r>
          </a:p>
        </p:txBody>
      </p:sp>
      <p:graphicFrame>
        <p:nvGraphicFramePr>
          <p:cNvPr id="110" name="Table 109">
            <a:extLst>
              <a:ext uri="{FF2B5EF4-FFF2-40B4-BE49-F238E27FC236}">
                <a16:creationId xmlns:a16="http://schemas.microsoft.com/office/drawing/2014/main" id="{4CDA79D0-2BA2-438C-B653-D71CD3C71DE0}"/>
              </a:ext>
            </a:extLst>
          </p:cNvPr>
          <p:cNvGraphicFramePr/>
          <p:nvPr/>
        </p:nvGraphicFramePr>
        <p:xfrm>
          <a:off x="11144250" y="2476500"/>
          <a:ext cx="5076825" cy="2667000"/>
        </p:xfrm>
        <a:graphic>
          <a:graphicData uri="http://schemas.openxmlformats.org/drawingml/2006/table">
            <a:tbl>
              <a:tblPr/>
              <a:tblGrid>
                <a:gridCol w="3429000">
                  <a:extLst>
                    <a:ext uri="{9D8B030D-6E8A-4147-A177-3AD203B41FA5}">
                      <a16:colId xmlns:a16="http://schemas.microsoft.com/office/drawing/2014/main" val="20000"/>
                    </a:ext>
                  </a:extLst>
                </a:gridCol>
                <a:gridCol w="1647825">
                  <a:extLst>
                    <a:ext uri="{9D8B030D-6E8A-4147-A177-3AD203B41FA5}">
                      <a16:colId xmlns:a16="http://schemas.microsoft.com/office/drawing/2014/main" val="20001"/>
                    </a:ext>
                  </a:extLst>
                </a:gridCol>
              </a:tblGrid>
              <a:tr h="889000">
                <a:tc>
                  <a:txBody>
                    <a:bodyPr/>
                    <a:lstStyle/>
                    <a:p>
                      <a:r>
                        <a:rPr sz="2700" b="1">
                          <a:solidFill>
                            <a:srgbClr val="FFFFFF"/>
                          </a:solidFill>
                          <a:latin typeface="Calibri"/>
                          <a:ea typeface="Calibri"/>
                          <a:cs typeface="Calibri"/>
                        </a:rPr>
                        <a:t>Before traffic</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700" b="1">
                          <a:solidFill>
                            <a:srgbClr val="FFFFFF"/>
                          </a:solidFill>
                          <a:latin typeface="Calibri"/>
                          <a:ea typeface="Calibri"/>
                          <a:cs typeface="Calibri"/>
                        </a:rPr>
                        <a:t>Ready</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889000">
                <a:tc>
                  <a:txBody>
                    <a:bodyPr/>
                    <a:lstStyle/>
                    <a:p>
                      <a:r>
                        <a:rPr sz="2700" b="0">
                          <a:solidFill>
                            <a:srgbClr val="333333"/>
                          </a:solidFill>
                          <a:latin typeface="Calibri"/>
                          <a:ea typeface="Calibri"/>
                          <a:cs typeface="Calibri"/>
                        </a:rPr>
                        <a:t>Gateway</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1 / 1</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889000">
                <a:tc>
                  <a:txBody>
                    <a:bodyPr/>
                    <a:lstStyle/>
                    <a:p>
                      <a:r>
                        <a:rPr sz="2700" b="0">
                          <a:solidFill>
                            <a:srgbClr val="333333"/>
                          </a:solidFill>
                          <a:latin typeface="Calibri"/>
                          <a:ea typeface="Calibri"/>
                          <a:cs typeface="Calibri"/>
                        </a:rPr>
                        <a:t>Worker</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700" b="0">
                          <a:solidFill>
                            <a:srgbClr val="333333"/>
                          </a:solidFill>
                          <a:latin typeface="Calibri"/>
                          <a:ea typeface="Calibri"/>
                          <a:cs typeface="Calibri"/>
                        </a:rPr>
                        <a:t>1 / 1</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111" name="Rectangle 110">
            <a:extLst>
              <a:ext uri="{FF2B5EF4-FFF2-40B4-BE49-F238E27FC236}">
                <a16:creationId xmlns:a16="http://schemas.microsoft.com/office/drawing/2014/main" id="{26E1E5E0-26E0-42F0-9790-4955952ACC85}"/>
              </a:ext>
            </a:extLst>
          </p:cNvPr>
          <p:cNvSpPr>
            <a:spLocks noGrp="1"/>
          </p:cNvSpPr>
          <p:nvPr/>
        </p:nvSpPr>
        <p:spPr>
          <a:xfrm>
            <a:off x="2238375" y="7381875"/>
            <a:ext cx="13982700" cy="857250"/>
          </a:xfrm>
          <a:prstGeom prst="rect">
            <a:avLst/>
          </a:prstGeom>
          <a:noFill/>
          <a:ln w="0">
            <a:noFill/>
          </a:ln>
        </p:spPr>
        <p:txBody>
          <a:bodyPr lIns="0" tIns="0" rIns="0" bIns="0"/>
          <a:lstStyle>
            <a:defPPr>
              <a:defRPr sz="2925" b="1">
                <a:solidFill>
                  <a:srgbClr val="A83033"/>
                </a:solidFill>
                <a:latin typeface="Calibri"/>
                <a:ea typeface="Calibri"/>
                <a:cs typeface="Calibri"/>
              </a:defRPr>
            </a:defPPr>
            <a:lvl1pPr>
              <a:defRPr sz="2925" b="1">
                <a:solidFill>
                  <a:srgbClr val="A83033"/>
                </a:solidFill>
                <a:latin typeface="Calibri"/>
                <a:ea typeface="Calibri"/>
                <a:cs typeface="Calibri"/>
              </a:defRPr>
            </a:lvl1pPr>
            <a:lvl2pPr>
              <a:defRPr sz="2925" b="1">
                <a:solidFill>
                  <a:srgbClr val="A83033"/>
                </a:solidFill>
                <a:latin typeface="Calibri"/>
                <a:ea typeface="Calibri"/>
                <a:cs typeface="Calibri"/>
              </a:defRPr>
            </a:lvl2pPr>
            <a:lvl3pPr>
              <a:defRPr sz="2925" b="1">
                <a:solidFill>
                  <a:srgbClr val="A83033"/>
                </a:solidFill>
                <a:latin typeface="Calibri"/>
                <a:ea typeface="Calibri"/>
                <a:cs typeface="Calibri"/>
              </a:defRPr>
            </a:lvl3pPr>
            <a:lvl4pPr>
              <a:defRPr sz="2925" b="1">
                <a:solidFill>
                  <a:srgbClr val="A83033"/>
                </a:solidFill>
                <a:latin typeface="Calibri"/>
                <a:ea typeface="Calibri"/>
                <a:cs typeface="Calibri"/>
              </a:defRPr>
            </a:lvl4pPr>
            <a:lvl5pPr>
              <a:defRPr sz="2925" b="1">
                <a:solidFill>
                  <a:srgbClr val="A83033"/>
                </a:solidFill>
                <a:latin typeface="Calibri"/>
                <a:ea typeface="Calibri"/>
                <a:cs typeface="Calibri"/>
              </a:defRPr>
            </a:lvl5pPr>
            <a:lvl6pPr>
              <a:defRPr sz="2925" b="1">
                <a:solidFill>
                  <a:srgbClr val="A83033"/>
                </a:solidFill>
                <a:latin typeface="Calibri"/>
                <a:ea typeface="Calibri"/>
                <a:cs typeface="Calibri"/>
              </a:defRPr>
            </a:lvl6pPr>
            <a:lvl7pPr>
              <a:defRPr sz="2925" b="1">
                <a:solidFill>
                  <a:srgbClr val="A83033"/>
                </a:solidFill>
                <a:latin typeface="Calibri"/>
                <a:ea typeface="Calibri"/>
                <a:cs typeface="Calibri"/>
              </a:defRPr>
            </a:lvl7pPr>
            <a:lvl8pPr>
              <a:defRPr sz="2925" b="1">
                <a:solidFill>
                  <a:srgbClr val="A83033"/>
                </a:solidFill>
                <a:latin typeface="Calibri"/>
                <a:ea typeface="Calibri"/>
                <a:cs typeface="Calibri"/>
              </a:defRPr>
            </a:lvl8pPr>
            <a:lvl9pPr>
              <a:defRPr sz="2925" b="1">
                <a:solidFill>
                  <a:srgbClr val="A83033"/>
                </a:solidFill>
                <a:latin typeface="Calibri"/>
                <a:ea typeface="Calibri"/>
                <a:cs typeface="Calibri"/>
              </a:defRPr>
            </a:lvl9pPr>
          </a:lstStyle>
          <a:p>
            <a:pPr>
              <a:defRPr sz="2925" b="1">
                <a:solidFill>
                  <a:srgbClr val="A83033"/>
                </a:solidFill>
                <a:latin typeface="Calibri"/>
                <a:ea typeface="Calibri"/>
                <a:cs typeface="Calibri"/>
              </a:defRPr>
            </a:pPr>
            <a:r>
              <a:rPr sz="2925" b="1">
                <a:solidFill>
                  <a:srgbClr val="A83033"/>
                </a:solidFill>
                <a:latin typeface="Calibri"/>
                <a:ea typeface="Calibri"/>
                <a:cs typeface="Calibri"/>
              </a:rPr>
              <a:t>Four-minute flash workload. The first 60 seconds are warm-up.</a:t>
            </a:r>
          </a:p>
        </p:txBody>
      </p:sp>
      <p:sp>
        <p:nvSpPr>
          <p:cNvPr id="112" name="Rectangle 111">
            <a:extLst>
              <a:ext uri="{FF2B5EF4-FFF2-40B4-BE49-F238E27FC236}">
                <a16:creationId xmlns:a16="http://schemas.microsoft.com/office/drawing/2014/main" id="{1D772EDE-CCA3-4B82-8061-FAC8D5A20709}"/>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07 / 18</a:t>
            </a:r>
          </a:p>
        </p:txBody>
      </p:sp>
    </p:spTree>
    <p:extLst>
      <p:ext uri="{BB962C8B-B14F-4D97-AF65-F5344CB8AC3E}">
        <p14:creationId xmlns:p14="http://schemas.microsoft.com/office/powerpoint/2010/main" val="1518820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64EF1510-E885-4E3F-8423-0E2FBB788993}"/>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buNone/>
              <a:defRPr sz="4000" b="0">
                <a:solidFill>
                  <a:srgbClr val="A83033"/>
                </a:solidFill>
                <a:latin typeface="Marcellus"/>
                <a:ea typeface="Marcellus"/>
                <a:cs typeface="Marcellus"/>
              </a:defRPr>
            </a:lvl1pPr>
            <a:lvl2pPr>
              <a:buNone/>
              <a:defRPr sz="4000" b="0">
                <a:solidFill>
                  <a:srgbClr val="A83033"/>
                </a:solidFill>
                <a:latin typeface="Marcellus"/>
                <a:ea typeface="Marcellus"/>
                <a:cs typeface="Marcellus"/>
              </a:defRPr>
            </a:lvl2pPr>
            <a:lvl3pPr>
              <a:buNone/>
              <a:defRPr sz="4000" b="0">
                <a:solidFill>
                  <a:srgbClr val="A83033"/>
                </a:solidFill>
                <a:latin typeface="Marcellus"/>
                <a:ea typeface="Marcellus"/>
                <a:cs typeface="Marcellus"/>
              </a:defRPr>
            </a:lvl3pPr>
            <a:lvl4pPr>
              <a:buNone/>
              <a:defRPr sz="4000" b="0">
                <a:solidFill>
                  <a:srgbClr val="A83033"/>
                </a:solidFill>
                <a:latin typeface="Marcellus"/>
                <a:ea typeface="Marcellus"/>
                <a:cs typeface="Marcellus"/>
              </a:defRPr>
            </a:lvl4pPr>
            <a:lvl5pPr>
              <a:buNone/>
              <a:defRPr sz="4000" b="0">
                <a:solidFill>
                  <a:srgbClr val="A83033"/>
                </a:solidFill>
                <a:latin typeface="Marcellus"/>
                <a:ea typeface="Marcellus"/>
                <a:cs typeface="Marcellus"/>
              </a:defRPr>
            </a:lvl5pPr>
            <a:lvl6pPr>
              <a:buNone/>
              <a:defRPr sz="4000" b="0">
                <a:solidFill>
                  <a:srgbClr val="A83033"/>
                </a:solidFill>
                <a:latin typeface="Marcellus"/>
                <a:ea typeface="Marcellus"/>
                <a:cs typeface="Marcellus"/>
              </a:defRPr>
            </a:lvl6pPr>
            <a:lvl7pPr>
              <a:buNone/>
              <a:defRPr sz="4000" b="0">
                <a:solidFill>
                  <a:srgbClr val="A83033"/>
                </a:solidFill>
                <a:latin typeface="Marcellus"/>
                <a:ea typeface="Marcellus"/>
                <a:cs typeface="Marcellus"/>
              </a:defRPr>
            </a:lvl7pPr>
            <a:lvl8pPr>
              <a:buNone/>
              <a:defRPr sz="4000" b="0">
                <a:solidFill>
                  <a:srgbClr val="A83033"/>
                </a:solidFill>
                <a:latin typeface="Marcellus"/>
                <a:ea typeface="Marcellus"/>
                <a:cs typeface="Marcellus"/>
              </a:defRPr>
            </a:lvl8pPr>
            <a:lvl9pPr>
              <a:buNone/>
              <a:defRPr sz="4000" b="0">
                <a:solidFill>
                  <a:srgbClr val="A83033"/>
                </a:solidFill>
                <a:latin typeface="Marcellus"/>
                <a:ea typeface="Marcellus"/>
                <a:cs typeface="Marcellus"/>
              </a:defRPr>
            </a:lvl9pPr>
          </a:lstStyle>
          <a:p>
            <a:pPr>
              <a:buNone/>
              <a:defRPr sz="4000" b="0">
                <a:solidFill>
                  <a:srgbClr val="A83033"/>
                </a:solidFill>
                <a:latin typeface="Marcellus"/>
                <a:ea typeface="Marcellus"/>
                <a:cs typeface="Marcellus"/>
              </a:defRPr>
            </a:pPr>
            <a:r>
              <a:rPr sz="4000" b="0">
                <a:solidFill>
                  <a:srgbClr val="A83033"/>
                </a:solidFill>
                <a:latin typeface="Marcellus"/>
                <a:ea typeface="Marcellus"/>
                <a:cs typeface="Marcellus"/>
              </a:rPr>
              <a:t>Demo: scale-out during model warm-up</a:t>
            </a:r>
          </a:p>
        </p:txBody>
      </p:sp>
      <p:pic>
        <p:nvPicPr>
          <p:cNvPr id="108" name="Picture 107">
            <a:extLst>
              <a:ext uri="{FF2B5EF4-FFF2-40B4-BE49-F238E27FC236}">
                <a16:creationId xmlns:a16="http://schemas.microsoft.com/office/drawing/2014/main" id="{E6A3F8B7-75C6-4308-93F4-1B8B516C2CC5}"/>
              </a:ext>
            </a:extLst>
          </p:cNvPr>
          <p:cNvPicPr>
            <a:picLocks noChangeAspect="1"/>
          </p:cNvPicPr>
          <p:nvPr/>
        </p:nvPicPr>
        <p:blipFill>
          <a:blip r:embed="rId5"/>
          <a:stretch/>
        </p:blipFill>
        <p:spPr>
          <a:xfrm>
            <a:off x="2238375" y="2050247"/>
            <a:ext cx="10382250" cy="5843606"/>
          </a:xfrm>
          <a:prstGeom prst="rect">
            <a:avLst/>
          </a:prstGeom>
        </p:spPr>
      </p:pic>
      <p:sp>
        <p:nvSpPr>
          <p:cNvPr id="109" name="Rectangle 108">
            <a:extLst>
              <a:ext uri="{FF2B5EF4-FFF2-40B4-BE49-F238E27FC236}">
                <a16:creationId xmlns:a16="http://schemas.microsoft.com/office/drawing/2014/main" id="{999AC404-C22B-48E7-BFA9-0AA312FBE3C1}"/>
              </a:ext>
            </a:extLst>
          </p:cNvPr>
          <p:cNvSpPr>
            <a:spLocks noGrp="1"/>
          </p:cNvSpPr>
          <p:nvPr/>
        </p:nvSpPr>
        <p:spPr>
          <a:xfrm>
            <a:off x="12954000" y="2190750"/>
            <a:ext cx="3267075" cy="1047750"/>
          </a:xfrm>
          <a:prstGeom prst="rect">
            <a:avLst/>
          </a:prstGeom>
          <a:noFill/>
          <a:ln w="0">
            <a:noFill/>
          </a:ln>
        </p:spPr>
        <p:txBody>
          <a:bodyPr lIns="0" tIns="0" rIns="0" bIns="0"/>
          <a:lstStyle>
            <a:defPPr>
              <a:defRPr sz="2700" b="1">
                <a:solidFill>
                  <a:srgbClr val="A83033"/>
                </a:solidFill>
                <a:latin typeface="Calibri"/>
                <a:ea typeface="Calibri"/>
                <a:cs typeface="Calibri"/>
              </a:defRPr>
            </a:defPPr>
            <a:lvl1pPr>
              <a:buNone/>
              <a:defRPr sz="2700" b="1">
                <a:solidFill>
                  <a:srgbClr val="A83033"/>
                </a:solidFill>
                <a:latin typeface="Calibri"/>
                <a:ea typeface="Calibri"/>
                <a:cs typeface="Calibri"/>
              </a:defRPr>
            </a:lvl1pPr>
            <a:lvl2pPr>
              <a:buNone/>
              <a:defRPr sz="2700" b="1">
                <a:solidFill>
                  <a:srgbClr val="A83033"/>
                </a:solidFill>
                <a:latin typeface="Calibri"/>
                <a:ea typeface="Calibri"/>
                <a:cs typeface="Calibri"/>
              </a:defRPr>
            </a:lvl2pPr>
            <a:lvl3pPr>
              <a:buNone/>
              <a:defRPr sz="2700" b="1">
                <a:solidFill>
                  <a:srgbClr val="A83033"/>
                </a:solidFill>
                <a:latin typeface="Calibri"/>
                <a:ea typeface="Calibri"/>
                <a:cs typeface="Calibri"/>
              </a:defRPr>
            </a:lvl3pPr>
            <a:lvl4pPr>
              <a:buNone/>
              <a:defRPr sz="2700" b="1">
                <a:solidFill>
                  <a:srgbClr val="A83033"/>
                </a:solidFill>
                <a:latin typeface="Calibri"/>
                <a:ea typeface="Calibri"/>
                <a:cs typeface="Calibri"/>
              </a:defRPr>
            </a:lvl4pPr>
            <a:lvl5pPr>
              <a:buNone/>
              <a:defRPr sz="2700" b="1">
                <a:solidFill>
                  <a:srgbClr val="A83033"/>
                </a:solidFill>
                <a:latin typeface="Calibri"/>
                <a:ea typeface="Calibri"/>
                <a:cs typeface="Calibri"/>
              </a:defRPr>
            </a:lvl5pPr>
            <a:lvl6pPr>
              <a:buNone/>
              <a:defRPr sz="2700" b="1">
                <a:solidFill>
                  <a:srgbClr val="A83033"/>
                </a:solidFill>
                <a:latin typeface="Calibri"/>
                <a:ea typeface="Calibri"/>
                <a:cs typeface="Calibri"/>
              </a:defRPr>
            </a:lvl6pPr>
            <a:lvl7pPr>
              <a:buNone/>
              <a:defRPr sz="2700" b="1">
                <a:solidFill>
                  <a:srgbClr val="A83033"/>
                </a:solidFill>
                <a:latin typeface="Calibri"/>
                <a:ea typeface="Calibri"/>
                <a:cs typeface="Calibri"/>
              </a:defRPr>
            </a:lvl7pPr>
            <a:lvl8pPr>
              <a:buNone/>
              <a:defRPr sz="2700" b="1">
                <a:solidFill>
                  <a:srgbClr val="A83033"/>
                </a:solidFill>
                <a:latin typeface="Calibri"/>
                <a:ea typeface="Calibri"/>
                <a:cs typeface="Calibri"/>
              </a:defRPr>
            </a:lvl8pPr>
            <a:lvl9pPr>
              <a:buNone/>
              <a:defRPr sz="2700" b="1">
                <a:solidFill>
                  <a:srgbClr val="A83033"/>
                </a:solidFill>
                <a:latin typeface="Calibri"/>
                <a:ea typeface="Calibri"/>
                <a:cs typeface="Calibri"/>
              </a:defRPr>
            </a:lvl9pPr>
          </a:lstStyle>
          <a:p>
            <a:pPr>
              <a:buNone/>
              <a:defRPr sz="2700" b="1">
                <a:solidFill>
                  <a:srgbClr val="A83033"/>
                </a:solidFill>
                <a:latin typeface="Calibri"/>
                <a:ea typeface="Calibri"/>
                <a:cs typeface="Calibri"/>
              </a:defRPr>
            </a:pPr>
            <a:r>
              <a:rPr sz="2700" b="1">
                <a:solidFill>
                  <a:srgbClr val="A83033"/>
                </a:solidFill>
                <a:latin typeface="Calibri"/>
                <a:ea typeface="Calibri"/>
                <a:cs typeface="Calibri"/>
              </a:rPr>
              <a:t>20 seconds</a:t>
            </a:r>
          </a:p>
          <a:p>
            <a:pPr>
              <a:buNone/>
              <a:defRPr sz="2700" b="1">
                <a:solidFill>
                  <a:srgbClr val="A83033"/>
                </a:solidFill>
                <a:latin typeface="Calibri"/>
                <a:ea typeface="Calibri"/>
                <a:cs typeface="Calibri"/>
              </a:defRPr>
            </a:pPr>
            <a:r>
              <a:rPr sz="2700" b="1">
                <a:solidFill>
                  <a:srgbClr val="A83033"/>
                </a:solidFill>
                <a:latin typeface="Calibri"/>
                <a:ea typeface="Calibri"/>
                <a:cs typeface="Calibri"/>
              </a:rPr>
              <a:t>Target: 2 workers</a:t>
            </a:r>
          </a:p>
        </p:txBody>
      </p:sp>
      <p:sp>
        <p:nvSpPr>
          <p:cNvPr id="110" name="Rectangle 109">
            <a:extLst>
              <a:ext uri="{FF2B5EF4-FFF2-40B4-BE49-F238E27FC236}">
                <a16:creationId xmlns:a16="http://schemas.microsoft.com/office/drawing/2014/main" id="{78B172C9-046E-4ABD-9E60-5A9C3EBB98A4}"/>
              </a:ext>
            </a:extLst>
          </p:cNvPr>
          <p:cNvSpPr>
            <a:spLocks noGrp="1"/>
          </p:cNvSpPr>
          <p:nvPr/>
        </p:nvSpPr>
        <p:spPr>
          <a:xfrm>
            <a:off x="12954000" y="3429000"/>
            <a:ext cx="3267075" cy="4095750"/>
          </a:xfrm>
          <a:prstGeom prst="rect">
            <a:avLst/>
          </a:prstGeom>
          <a:noFill/>
          <a:ln w="0">
            <a:noFill/>
          </a:ln>
        </p:spPr>
        <p:txBody>
          <a:bodyPr lIns="0" tIns="0" rIns="0" bIns="0"/>
          <a:lstStyle>
            <a:defPPr>
              <a:defRPr sz="2475" b="0">
                <a:solidFill>
                  <a:srgbClr val="333333"/>
                </a:solidFill>
                <a:latin typeface="Calibri"/>
                <a:ea typeface="Calibri"/>
                <a:cs typeface="Calibri"/>
              </a:defRPr>
            </a:defPPr>
            <a:lvl1pPr>
              <a:buNone/>
              <a:defRPr sz="2475" b="0">
                <a:solidFill>
                  <a:srgbClr val="333333"/>
                </a:solidFill>
                <a:latin typeface="Calibri"/>
                <a:ea typeface="Calibri"/>
                <a:cs typeface="Calibri"/>
              </a:defRPr>
            </a:lvl1pPr>
            <a:lvl2pPr>
              <a:buNone/>
              <a:defRPr sz="2475" b="0">
                <a:solidFill>
                  <a:srgbClr val="333333"/>
                </a:solidFill>
                <a:latin typeface="Calibri"/>
                <a:ea typeface="Calibri"/>
                <a:cs typeface="Calibri"/>
              </a:defRPr>
            </a:lvl2pPr>
            <a:lvl3pPr>
              <a:buNone/>
              <a:defRPr sz="2475" b="0">
                <a:solidFill>
                  <a:srgbClr val="333333"/>
                </a:solidFill>
                <a:latin typeface="Calibri"/>
                <a:ea typeface="Calibri"/>
                <a:cs typeface="Calibri"/>
              </a:defRPr>
            </a:lvl3pPr>
            <a:lvl4pPr>
              <a:buNone/>
              <a:defRPr sz="2475" b="0">
                <a:solidFill>
                  <a:srgbClr val="333333"/>
                </a:solidFill>
                <a:latin typeface="Calibri"/>
                <a:ea typeface="Calibri"/>
                <a:cs typeface="Calibri"/>
              </a:defRPr>
            </a:lvl4pPr>
            <a:lvl5pPr>
              <a:buNone/>
              <a:defRPr sz="2475" b="0">
                <a:solidFill>
                  <a:srgbClr val="333333"/>
                </a:solidFill>
                <a:latin typeface="Calibri"/>
                <a:ea typeface="Calibri"/>
                <a:cs typeface="Calibri"/>
              </a:defRPr>
            </a:lvl5pPr>
            <a:lvl6pPr>
              <a:buNone/>
              <a:defRPr sz="2475" b="0">
                <a:solidFill>
                  <a:srgbClr val="333333"/>
                </a:solidFill>
                <a:latin typeface="Calibri"/>
                <a:ea typeface="Calibri"/>
                <a:cs typeface="Calibri"/>
              </a:defRPr>
            </a:lvl6pPr>
            <a:lvl7pPr>
              <a:buNone/>
              <a:defRPr sz="2475" b="0">
                <a:solidFill>
                  <a:srgbClr val="333333"/>
                </a:solidFill>
                <a:latin typeface="Calibri"/>
                <a:ea typeface="Calibri"/>
                <a:cs typeface="Calibri"/>
              </a:defRPr>
            </a:lvl7pPr>
            <a:lvl8pPr>
              <a:buNone/>
              <a:defRPr sz="2475" b="0">
                <a:solidFill>
                  <a:srgbClr val="333333"/>
                </a:solidFill>
                <a:latin typeface="Calibri"/>
                <a:ea typeface="Calibri"/>
                <a:cs typeface="Calibri"/>
              </a:defRPr>
            </a:lvl8pPr>
            <a:lvl9pPr>
              <a:buNone/>
              <a:defRPr sz="2475" b="0">
                <a:solidFill>
                  <a:srgbClr val="333333"/>
                </a:solidFill>
                <a:latin typeface="Calibri"/>
                <a:ea typeface="Calibri"/>
                <a:cs typeface="Calibri"/>
              </a:defRPr>
            </a:lvl9pPr>
          </a:lstStyle>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The model needs six windows.</a:t>
            </a:r>
          </a:p>
          <a:p>
            <a:endParaRPr sz="2475" b="0">
              <a:solidFill>
                <a:srgbClr val="333333"/>
              </a:solidFill>
              <a:latin typeface="Calibri"/>
              <a:ea typeface="Calibri"/>
              <a:cs typeface="Calibri"/>
            </a:endParaRPr>
          </a:p>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Observed demand already exceeds one worker’s safe rate.</a:t>
            </a:r>
          </a:p>
          <a:p>
            <a:endParaRPr sz="2475" b="0">
              <a:solidFill>
                <a:srgbClr val="333333"/>
              </a:solidFill>
              <a:latin typeface="Calibri"/>
              <a:ea typeface="Calibri"/>
              <a:cs typeface="Calibri"/>
            </a:endParaRPr>
          </a:p>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The cards show state before the latest decision.</a:t>
            </a:r>
          </a:p>
        </p:txBody>
      </p:sp>
      <p:sp>
        <p:nvSpPr>
          <p:cNvPr id="111" name="Rectangle 110">
            <a:extLst>
              <a:ext uri="{FF2B5EF4-FFF2-40B4-BE49-F238E27FC236}">
                <a16:creationId xmlns:a16="http://schemas.microsoft.com/office/drawing/2014/main" id="{9DDA6C46-08C5-4108-9205-E893A037F1A9}"/>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08 / 18</a:t>
            </a:r>
          </a:p>
        </p:txBody>
      </p:sp>
    </p:spTree>
    <p:extLst>
      <p:ext uri="{BB962C8B-B14F-4D97-AF65-F5344CB8AC3E}">
        <p14:creationId xmlns:p14="http://schemas.microsoft.com/office/powerpoint/2010/main" val="1518820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0957F33F-F8B3-42CC-B843-77F7A91041C9}"/>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buNone/>
              <a:defRPr sz="4000" b="0">
                <a:solidFill>
                  <a:srgbClr val="A83033"/>
                </a:solidFill>
                <a:latin typeface="Marcellus"/>
                <a:ea typeface="Marcellus"/>
                <a:cs typeface="Marcellus"/>
              </a:defRPr>
            </a:lvl1pPr>
            <a:lvl2pPr>
              <a:buNone/>
              <a:defRPr sz="4000" b="0">
                <a:solidFill>
                  <a:srgbClr val="A83033"/>
                </a:solidFill>
                <a:latin typeface="Marcellus"/>
                <a:ea typeface="Marcellus"/>
                <a:cs typeface="Marcellus"/>
              </a:defRPr>
            </a:lvl2pPr>
            <a:lvl3pPr>
              <a:buNone/>
              <a:defRPr sz="4000" b="0">
                <a:solidFill>
                  <a:srgbClr val="A83033"/>
                </a:solidFill>
                <a:latin typeface="Marcellus"/>
                <a:ea typeface="Marcellus"/>
                <a:cs typeface="Marcellus"/>
              </a:defRPr>
            </a:lvl3pPr>
            <a:lvl4pPr>
              <a:buNone/>
              <a:defRPr sz="4000" b="0">
                <a:solidFill>
                  <a:srgbClr val="A83033"/>
                </a:solidFill>
                <a:latin typeface="Marcellus"/>
                <a:ea typeface="Marcellus"/>
                <a:cs typeface="Marcellus"/>
              </a:defRPr>
            </a:lvl4pPr>
            <a:lvl5pPr>
              <a:buNone/>
              <a:defRPr sz="4000" b="0">
                <a:solidFill>
                  <a:srgbClr val="A83033"/>
                </a:solidFill>
                <a:latin typeface="Marcellus"/>
                <a:ea typeface="Marcellus"/>
                <a:cs typeface="Marcellus"/>
              </a:defRPr>
            </a:lvl5pPr>
            <a:lvl6pPr>
              <a:buNone/>
              <a:defRPr sz="4000" b="0">
                <a:solidFill>
                  <a:srgbClr val="A83033"/>
                </a:solidFill>
                <a:latin typeface="Marcellus"/>
                <a:ea typeface="Marcellus"/>
                <a:cs typeface="Marcellus"/>
              </a:defRPr>
            </a:lvl6pPr>
            <a:lvl7pPr>
              <a:buNone/>
              <a:defRPr sz="4000" b="0">
                <a:solidFill>
                  <a:srgbClr val="A83033"/>
                </a:solidFill>
                <a:latin typeface="Marcellus"/>
                <a:ea typeface="Marcellus"/>
                <a:cs typeface="Marcellus"/>
              </a:defRPr>
            </a:lvl7pPr>
            <a:lvl8pPr>
              <a:buNone/>
              <a:defRPr sz="4000" b="0">
                <a:solidFill>
                  <a:srgbClr val="A83033"/>
                </a:solidFill>
                <a:latin typeface="Marcellus"/>
                <a:ea typeface="Marcellus"/>
                <a:cs typeface="Marcellus"/>
              </a:defRPr>
            </a:lvl8pPr>
            <a:lvl9pPr>
              <a:buNone/>
              <a:defRPr sz="4000" b="0">
                <a:solidFill>
                  <a:srgbClr val="A83033"/>
                </a:solidFill>
                <a:latin typeface="Marcellus"/>
                <a:ea typeface="Marcellus"/>
                <a:cs typeface="Marcellus"/>
              </a:defRPr>
            </a:lvl9pPr>
          </a:lstStyle>
          <a:p>
            <a:pPr>
              <a:buNone/>
              <a:defRPr sz="4000" b="0">
                <a:solidFill>
                  <a:srgbClr val="A83033"/>
                </a:solidFill>
                <a:latin typeface="Marcellus"/>
                <a:ea typeface="Marcellus"/>
                <a:cs typeface="Marcellus"/>
              </a:defRPr>
            </a:pPr>
            <a:r>
              <a:rPr sz="4000" b="0">
                <a:solidFill>
                  <a:srgbClr val="A83033"/>
                </a:solidFill>
                <a:latin typeface="Marcellus"/>
                <a:ea typeface="Marcellus"/>
                <a:cs typeface="Marcellus"/>
              </a:rPr>
              <a:t>Demo: forecasting begins at 60 seconds</a:t>
            </a:r>
          </a:p>
        </p:txBody>
      </p:sp>
      <p:pic>
        <p:nvPicPr>
          <p:cNvPr id="108" name="Picture 107">
            <a:extLst>
              <a:ext uri="{FF2B5EF4-FFF2-40B4-BE49-F238E27FC236}">
                <a16:creationId xmlns:a16="http://schemas.microsoft.com/office/drawing/2014/main" id="{9D10F85C-D736-4EB6-82BE-5EF3133A5DDB}"/>
              </a:ext>
            </a:extLst>
          </p:cNvPr>
          <p:cNvPicPr>
            <a:picLocks noChangeAspect="1"/>
          </p:cNvPicPr>
          <p:nvPr/>
        </p:nvPicPr>
        <p:blipFill>
          <a:blip r:embed="rId5"/>
          <a:stretch/>
        </p:blipFill>
        <p:spPr>
          <a:xfrm>
            <a:off x="2238375" y="2050247"/>
            <a:ext cx="10382250" cy="5843606"/>
          </a:xfrm>
          <a:prstGeom prst="rect">
            <a:avLst/>
          </a:prstGeom>
        </p:spPr>
      </p:pic>
      <p:sp>
        <p:nvSpPr>
          <p:cNvPr id="109" name="Rectangle 108">
            <a:extLst>
              <a:ext uri="{FF2B5EF4-FFF2-40B4-BE49-F238E27FC236}">
                <a16:creationId xmlns:a16="http://schemas.microsoft.com/office/drawing/2014/main" id="{7BE98A76-1347-4001-AC46-8EE42908E0F0}"/>
              </a:ext>
            </a:extLst>
          </p:cNvPr>
          <p:cNvSpPr>
            <a:spLocks noGrp="1"/>
          </p:cNvSpPr>
          <p:nvPr/>
        </p:nvSpPr>
        <p:spPr>
          <a:xfrm>
            <a:off x="12954000" y="2190750"/>
            <a:ext cx="3267075" cy="1047750"/>
          </a:xfrm>
          <a:prstGeom prst="rect">
            <a:avLst/>
          </a:prstGeom>
          <a:noFill/>
          <a:ln w="0">
            <a:noFill/>
          </a:ln>
        </p:spPr>
        <p:txBody>
          <a:bodyPr lIns="0" tIns="0" rIns="0" bIns="0"/>
          <a:lstStyle>
            <a:defPPr>
              <a:defRPr sz="2700" b="1">
                <a:solidFill>
                  <a:srgbClr val="A83033"/>
                </a:solidFill>
                <a:latin typeface="Calibri"/>
                <a:ea typeface="Calibri"/>
                <a:cs typeface="Calibri"/>
              </a:defRPr>
            </a:defPPr>
            <a:lvl1pPr>
              <a:buNone/>
              <a:defRPr sz="2700" b="1">
                <a:solidFill>
                  <a:srgbClr val="A83033"/>
                </a:solidFill>
                <a:latin typeface="Calibri"/>
                <a:ea typeface="Calibri"/>
                <a:cs typeface="Calibri"/>
              </a:defRPr>
            </a:lvl1pPr>
            <a:lvl2pPr>
              <a:buNone/>
              <a:defRPr sz="2700" b="1">
                <a:solidFill>
                  <a:srgbClr val="A83033"/>
                </a:solidFill>
                <a:latin typeface="Calibri"/>
                <a:ea typeface="Calibri"/>
                <a:cs typeface="Calibri"/>
              </a:defRPr>
            </a:lvl2pPr>
            <a:lvl3pPr>
              <a:buNone/>
              <a:defRPr sz="2700" b="1">
                <a:solidFill>
                  <a:srgbClr val="A83033"/>
                </a:solidFill>
                <a:latin typeface="Calibri"/>
                <a:ea typeface="Calibri"/>
                <a:cs typeface="Calibri"/>
              </a:defRPr>
            </a:lvl3pPr>
            <a:lvl4pPr>
              <a:buNone/>
              <a:defRPr sz="2700" b="1">
                <a:solidFill>
                  <a:srgbClr val="A83033"/>
                </a:solidFill>
                <a:latin typeface="Calibri"/>
                <a:ea typeface="Calibri"/>
                <a:cs typeface="Calibri"/>
              </a:defRPr>
            </a:lvl4pPr>
            <a:lvl5pPr>
              <a:buNone/>
              <a:defRPr sz="2700" b="1">
                <a:solidFill>
                  <a:srgbClr val="A83033"/>
                </a:solidFill>
                <a:latin typeface="Calibri"/>
                <a:ea typeface="Calibri"/>
                <a:cs typeface="Calibri"/>
              </a:defRPr>
            </a:lvl5pPr>
            <a:lvl6pPr>
              <a:buNone/>
              <a:defRPr sz="2700" b="1">
                <a:solidFill>
                  <a:srgbClr val="A83033"/>
                </a:solidFill>
                <a:latin typeface="Calibri"/>
                <a:ea typeface="Calibri"/>
                <a:cs typeface="Calibri"/>
              </a:defRPr>
            </a:lvl6pPr>
            <a:lvl7pPr>
              <a:buNone/>
              <a:defRPr sz="2700" b="1">
                <a:solidFill>
                  <a:srgbClr val="A83033"/>
                </a:solidFill>
                <a:latin typeface="Calibri"/>
                <a:ea typeface="Calibri"/>
                <a:cs typeface="Calibri"/>
              </a:defRPr>
            </a:lvl7pPr>
            <a:lvl8pPr>
              <a:buNone/>
              <a:defRPr sz="2700" b="1">
                <a:solidFill>
                  <a:srgbClr val="A83033"/>
                </a:solidFill>
                <a:latin typeface="Calibri"/>
                <a:ea typeface="Calibri"/>
                <a:cs typeface="Calibri"/>
              </a:defRPr>
            </a:lvl8pPr>
            <a:lvl9pPr>
              <a:buNone/>
              <a:defRPr sz="2700" b="1">
                <a:solidFill>
                  <a:srgbClr val="A83033"/>
                </a:solidFill>
                <a:latin typeface="Calibri"/>
                <a:ea typeface="Calibri"/>
                <a:cs typeface="Calibri"/>
              </a:defRPr>
            </a:lvl9pPr>
          </a:lstStyle>
          <a:p>
            <a:pPr>
              <a:buNone/>
              <a:defRPr sz="2700" b="1">
                <a:solidFill>
                  <a:srgbClr val="A83033"/>
                </a:solidFill>
                <a:latin typeface="Calibri"/>
                <a:ea typeface="Calibri"/>
                <a:cs typeface="Calibri"/>
              </a:defRPr>
            </a:pPr>
            <a:r>
              <a:rPr sz="2700" b="1">
                <a:solidFill>
                  <a:srgbClr val="A83033"/>
                </a:solidFill>
                <a:latin typeface="Calibri"/>
                <a:ea typeface="Calibri"/>
                <a:cs typeface="Calibri"/>
              </a:rPr>
              <a:t>39.4 RPS observed</a:t>
            </a:r>
          </a:p>
          <a:p>
            <a:pPr>
              <a:buNone/>
              <a:defRPr sz="2700" b="1">
                <a:solidFill>
                  <a:srgbClr val="A83033"/>
                </a:solidFill>
                <a:latin typeface="Calibri"/>
                <a:ea typeface="Calibri"/>
                <a:cs typeface="Calibri"/>
              </a:defRPr>
            </a:pPr>
            <a:r>
              <a:rPr sz="2700" b="1">
                <a:solidFill>
                  <a:srgbClr val="A83033"/>
                </a:solidFill>
                <a:latin typeface="Calibri"/>
                <a:ea typeface="Calibri"/>
                <a:cs typeface="Calibri"/>
              </a:rPr>
              <a:t>47.7 RPS forecast</a:t>
            </a:r>
          </a:p>
        </p:txBody>
      </p:sp>
      <p:sp>
        <p:nvSpPr>
          <p:cNvPr id="110" name="Rectangle 109">
            <a:extLst>
              <a:ext uri="{FF2B5EF4-FFF2-40B4-BE49-F238E27FC236}">
                <a16:creationId xmlns:a16="http://schemas.microsoft.com/office/drawing/2014/main" id="{2F9FFF78-794B-4B79-BFC8-9E2431BA5AC8}"/>
              </a:ext>
            </a:extLst>
          </p:cNvPr>
          <p:cNvSpPr>
            <a:spLocks noGrp="1"/>
          </p:cNvSpPr>
          <p:nvPr/>
        </p:nvSpPr>
        <p:spPr>
          <a:xfrm>
            <a:off x="12954000" y="3429000"/>
            <a:ext cx="3267075" cy="4095750"/>
          </a:xfrm>
          <a:prstGeom prst="rect">
            <a:avLst/>
          </a:prstGeom>
          <a:noFill/>
          <a:ln w="0">
            <a:noFill/>
          </a:ln>
        </p:spPr>
        <p:txBody>
          <a:bodyPr lIns="0" tIns="0" rIns="0" bIns="0"/>
          <a:lstStyle>
            <a:defPPr>
              <a:defRPr sz="2475" b="0">
                <a:solidFill>
                  <a:srgbClr val="333333"/>
                </a:solidFill>
                <a:latin typeface="Calibri"/>
                <a:ea typeface="Calibri"/>
                <a:cs typeface="Calibri"/>
              </a:defRPr>
            </a:defPPr>
            <a:lvl1pPr>
              <a:buNone/>
              <a:defRPr sz="2475" b="0">
                <a:solidFill>
                  <a:srgbClr val="333333"/>
                </a:solidFill>
                <a:latin typeface="Calibri"/>
                <a:ea typeface="Calibri"/>
                <a:cs typeface="Calibri"/>
              </a:defRPr>
            </a:lvl1pPr>
            <a:lvl2pPr>
              <a:buNone/>
              <a:defRPr sz="2475" b="0">
                <a:solidFill>
                  <a:srgbClr val="333333"/>
                </a:solidFill>
                <a:latin typeface="Calibri"/>
                <a:ea typeface="Calibri"/>
                <a:cs typeface="Calibri"/>
              </a:defRPr>
            </a:lvl2pPr>
            <a:lvl3pPr>
              <a:buNone/>
              <a:defRPr sz="2475" b="0">
                <a:solidFill>
                  <a:srgbClr val="333333"/>
                </a:solidFill>
                <a:latin typeface="Calibri"/>
                <a:ea typeface="Calibri"/>
                <a:cs typeface="Calibri"/>
              </a:defRPr>
            </a:lvl3pPr>
            <a:lvl4pPr>
              <a:buNone/>
              <a:defRPr sz="2475" b="0">
                <a:solidFill>
                  <a:srgbClr val="333333"/>
                </a:solidFill>
                <a:latin typeface="Calibri"/>
                <a:ea typeface="Calibri"/>
                <a:cs typeface="Calibri"/>
              </a:defRPr>
            </a:lvl4pPr>
            <a:lvl5pPr>
              <a:buNone/>
              <a:defRPr sz="2475" b="0">
                <a:solidFill>
                  <a:srgbClr val="333333"/>
                </a:solidFill>
                <a:latin typeface="Calibri"/>
                <a:ea typeface="Calibri"/>
                <a:cs typeface="Calibri"/>
              </a:defRPr>
            </a:lvl5pPr>
            <a:lvl6pPr>
              <a:buNone/>
              <a:defRPr sz="2475" b="0">
                <a:solidFill>
                  <a:srgbClr val="333333"/>
                </a:solidFill>
                <a:latin typeface="Calibri"/>
                <a:ea typeface="Calibri"/>
                <a:cs typeface="Calibri"/>
              </a:defRPr>
            </a:lvl6pPr>
            <a:lvl7pPr>
              <a:buNone/>
              <a:defRPr sz="2475" b="0">
                <a:solidFill>
                  <a:srgbClr val="333333"/>
                </a:solidFill>
                <a:latin typeface="Calibri"/>
                <a:ea typeface="Calibri"/>
                <a:cs typeface="Calibri"/>
              </a:defRPr>
            </a:lvl7pPr>
            <a:lvl8pPr>
              <a:buNone/>
              <a:defRPr sz="2475" b="0">
                <a:solidFill>
                  <a:srgbClr val="333333"/>
                </a:solidFill>
                <a:latin typeface="Calibri"/>
                <a:ea typeface="Calibri"/>
                <a:cs typeface="Calibri"/>
              </a:defRPr>
            </a:lvl8pPr>
            <a:lvl9pPr>
              <a:buNone/>
              <a:defRPr sz="2475" b="0">
                <a:solidFill>
                  <a:srgbClr val="333333"/>
                </a:solidFill>
                <a:latin typeface="Calibri"/>
                <a:ea typeface="Calibri"/>
                <a:cs typeface="Calibri"/>
              </a:defRPr>
            </a:lvl9pPr>
          </a:lstStyle>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Four workers are ready.</a:t>
            </a:r>
          </a:p>
          <a:p>
            <a:endParaRPr sz="2475" b="0">
              <a:solidFill>
                <a:srgbClr val="333333"/>
              </a:solidFill>
              <a:latin typeface="Calibri"/>
              <a:ea typeface="Calibri"/>
              <a:cs typeface="Calibri"/>
            </a:endParaRPr>
          </a:p>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p95 is 64.3 ms in this window.</a:t>
            </a:r>
          </a:p>
          <a:p>
            <a:endParaRPr sz="2475" b="0">
              <a:solidFill>
                <a:srgbClr val="333333"/>
              </a:solidFill>
              <a:latin typeface="Calibri"/>
              <a:ea typeface="Calibri"/>
              <a:cs typeface="Calibri"/>
            </a:endParaRPr>
          </a:p>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The trend shows earlier real scale-out actions.</a:t>
            </a:r>
          </a:p>
        </p:txBody>
      </p:sp>
      <p:sp>
        <p:nvSpPr>
          <p:cNvPr id="111" name="Rectangle 110">
            <a:extLst>
              <a:ext uri="{FF2B5EF4-FFF2-40B4-BE49-F238E27FC236}">
                <a16:creationId xmlns:a16="http://schemas.microsoft.com/office/drawing/2014/main" id="{53A3A889-60BC-4A11-AFD4-A03D73BE7350}"/>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09 / 18</a:t>
            </a:r>
          </a:p>
        </p:txBody>
      </p:sp>
    </p:spTree>
    <p:extLst>
      <p:ext uri="{BB962C8B-B14F-4D97-AF65-F5344CB8AC3E}">
        <p14:creationId xmlns:p14="http://schemas.microsoft.com/office/powerpoint/2010/main" val="1518820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1BF6B073-7A0B-4310-B97E-0B0AA9322F49}"/>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buNone/>
              <a:defRPr sz="4000" b="0">
                <a:solidFill>
                  <a:srgbClr val="A83033"/>
                </a:solidFill>
                <a:latin typeface="Marcellus"/>
                <a:ea typeface="Marcellus"/>
                <a:cs typeface="Marcellus"/>
              </a:defRPr>
            </a:lvl1pPr>
            <a:lvl2pPr>
              <a:buNone/>
              <a:defRPr sz="4000" b="0">
                <a:solidFill>
                  <a:srgbClr val="A83033"/>
                </a:solidFill>
                <a:latin typeface="Marcellus"/>
                <a:ea typeface="Marcellus"/>
                <a:cs typeface="Marcellus"/>
              </a:defRPr>
            </a:lvl2pPr>
            <a:lvl3pPr>
              <a:buNone/>
              <a:defRPr sz="4000" b="0">
                <a:solidFill>
                  <a:srgbClr val="A83033"/>
                </a:solidFill>
                <a:latin typeface="Marcellus"/>
                <a:ea typeface="Marcellus"/>
                <a:cs typeface="Marcellus"/>
              </a:defRPr>
            </a:lvl3pPr>
            <a:lvl4pPr>
              <a:buNone/>
              <a:defRPr sz="4000" b="0">
                <a:solidFill>
                  <a:srgbClr val="A83033"/>
                </a:solidFill>
                <a:latin typeface="Marcellus"/>
                <a:ea typeface="Marcellus"/>
                <a:cs typeface="Marcellus"/>
              </a:defRPr>
            </a:lvl4pPr>
            <a:lvl5pPr>
              <a:buNone/>
              <a:defRPr sz="4000" b="0">
                <a:solidFill>
                  <a:srgbClr val="A83033"/>
                </a:solidFill>
                <a:latin typeface="Marcellus"/>
                <a:ea typeface="Marcellus"/>
                <a:cs typeface="Marcellus"/>
              </a:defRPr>
            </a:lvl5pPr>
            <a:lvl6pPr>
              <a:buNone/>
              <a:defRPr sz="4000" b="0">
                <a:solidFill>
                  <a:srgbClr val="A83033"/>
                </a:solidFill>
                <a:latin typeface="Marcellus"/>
                <a:ea typeface="Marcellus"/>
                <a:cs typeface="Marcellus"/>
              </a:defRPr>
            </a:lvl6pPr>
            <a:lvl7pPr>
              <a:buNone/>
              <a:defRPr sz="4000" b="0">
                <a:solidFill>
                  <a:srgbClr val="A83033"/>
                </a:solidFill>
                <a:latin typeface="Marcellus"/>
                <a:ea typeface="Marcellus"/>
                <a:cs typeface="Marcellus"/>
              </a:defRPr>
            </a:lvl7pPr>
            <a:lvl8pPr>
              <a:buNone/>
              <a:defRPr sz="4000" b="0">
                <a:solidFill>
                  <a:srgbClr val="A83033"/>
                </a:solidFill>
                <a:latin typeface="Marcellus"/>
                <a:ea typeface="Marcellus"/>
                <a:cs typeface="Marcellus"/>
              </a:defRPr>
            </a:lvl8pPr>
            <a:lvl9pPr>
              <a:buNone/>
              <a:defRPr sz="4000" b="0">
                <a:solidFill>
                  <a:srgbClr val="A83033"/>
                </a:solidFill>
                <a:latin typeface="Marcellus"/>
                <a:ea typeface="Marcellus"/>
                <a:cs typeface="Marcellus"/>
              </a:defRPr>
            </a:lvl9pPr>
          </a:lstStyle>
          <a:p>
            <a:pPr>
              <a:buNone/>
              <a:defRPr sz="4000" b="0">
                <a:solidFill>
                  <a:srgbClr val="A83033"/>
                </a:solidFill>
                <a:latin typeface="Marcellus"/>
                <a:ea typeface="Marcellus"/>
                <a:cs typeface="Marcellus"/>
              </a:defRPr>
            </a:pPr>
            <a:r>
              <a:rPr sz="4000" b="0">
                <a:solidFill>
                  <a:srgbClr val="A83033"/>
                </a:solidFill>
                <a:latin typeface="Marcellus"/>
                <a:ea typeface="Marcellus"/>
                <a:cs typeface="Marcellus"/>
              </a:rPr>
              <a:t>Demo: stable downscale at 110 seconds</a:t>
            </a:r>
          </a:p>
        </p:txBody>
      </p:sp>
      <p:pic>
        <p:nvPicPr>
          <p:cNvPr id="108" name="Picture 107">
            <a:extLst>
              <a:ext uri="{FF2B5EF4-FFF2-40B4-BE49-F238E27FC236}">
                <a16:creationId xmlns:a16="http://schemas.microsoft.com/office/drawing/2014/main" id="{7AB7AF55-6EE9-4A60-8A5F-6B030EE69AD0}"/>
              </a:ext>
            </a:extLst>
          </p:cNvPr>
          <p:cNvPicPr>
            <a:picLocks noChangeAspect="1"/>
          </p:cNvPicPr>
          <p:nvPr/>
        </p:nvPicPr>
        <p:blipFill>
          <a:blip r:embed="rId5"/>
          <a:stretch/>
        </p:blipFill>
        <p:spPr>
          <a:xfrm>
            <a:off x="2238375" y="2050247"/>
            <a:ext cx="10382250" cy="5843606"/>
          </a:xfrm>
          <a:prstGeom prst="rect">
            <a:avLst/>
          </a:prstGeom>
        </p:spPr>
      </p:pic>
      <p:sp>
        <p:nvSpPr>
          <p:cNvPr id="109" name="Rectangle 108">
            <a:extLst>
              <a:ext uri="{FF2B5EF4-FFF2-40B4-BE49-F238E27FC236}">
                <a16:creationId xmlns:a16="http://schemas.microsoft.com/office/drawing/2014/main" id="{5918F708-5C4C-41F0-9041-E5C0823560D3}"/>
              </a:ext>
            </a:extLst>
          </p:cNvPr>
          <p:cNvSpPr>
            <a:spLocks noGrp="1"/>
          </p:cNvSpPr>
          <p:nvPr/>
        </p:nvSpPr>
        <p:spPr>
          <a:xfrm>
            <a:off x="12954000" y="2190750"/>
            <a:ext cx="3267075" cy="1047750"/>
          </a:xfrm>
          <a:prstGeom prst="rect">
            <a:avLst/>
          </a:prstGeom>
          <a:noFill/>
          <a:ln w="0">
            <a:noFill/>
          </a:ln>
        </p:spPr>
        <p:txBody>
          <a:bodyPr lIns="0" tIns="0" rIns="0" bIns="0"/>
          <a:lstStyle>
            <a:defPPr>
              <a:defRPr sz="2700" b="1">
                <a:solidFill>
                  <a:srgbClr val="A83033"/>
                </a:solidFill>
                <a:latin typeface="Calibri"/>
                <a:ea typeface="Calibri"/>
                <a:cs typeface="Calibri"/>
              </a:defRPr>
            </a:defPPr>
            <a:lvl1pPr>
              <a:buNone/>
              <a:defRPr sz="2700" b="1">
                <a:solidFill>
                  <a:srgbClr val="A83033"/>
                </a:solidFill>
                <a:latin typeface="Calibri"/>
                <a:ea typeface="Calibri"/>
                <a:cs typeface="Calibri"/>
              </a:defRPr>
            </a:lvl1pPr>
            <a:lvl2pPr>
              <a:buNone/>
              <a:defRPr sz="2700" b="1">
                <a:solidFill>
                  <a:srgbClr val="A83033"/>
                </a:solidFill>
                <a:latin typeface="Calibri"/>
                <a:ea typeface="Calibri"/>
                <a:cs typeface="Calibri"/>
              </a:defRPr>
            </a:lvl2pPr>
            <a:lvl3pPr>
              <a:buNone/>
              <a:defRPr sz="2700" b="1">
                <a:solidFill>
                  <a:srgbClr val="A83033"/>
                </a:solidFill>
                <a:latin typeface="Calibri"/>
                <a:ea typeface="Calibri"/>
                <a:cs typeface="Calibri"/>
              </a:defRPr>
            </a:lvl3pPr>
            <a:lvl4pPr>
              <a:buNone/>
              <a:defRPr sz="2700" b="1">
                <a:solidFill>
                  <a:srgbClr val="A83033"/>
                </a:solidFill>
                <a:latin typeface="Calibri"/>
                <a:ea typeface="Calibri"/>
                <a:cs typeface="Calibri"/>
              </a:defRPr>
            </a:lvl4pPr>
            <a:lvl5pPr>
              <a:buNone/>
              <a:defRPr sz="2700" b="1">
                <a:solidFill>
                  <a:srgbClr val="A83033"/>
                </a:solidFill>
                <a:latin typeface="Calibri"/>
                <a:ea typeface="Calibri"/>
                <a:cs typeface="Calibri"/>
              </a:defRPr>
            </a:lvl5pPr>
            <a:lvl6pPr>
              <a:buNone/>
              <a:defRPr sz="2700" b="1">
                <a:solidFill>
                  <a:srgbClr val="A83033"/>
                </a:solidFill>
                <a:latin typeface="Calibri"/>
                <a:ea typeface="Calibri"/>
                <a:cs typeface="Calibri"/>
              </a:defRPr>
            </a:lvl6pPr>
            <a:lvl7pPr>
              <a:buNone/>
              <a:defRPr sz="2700" b="1">
                <a:solidFill>
                  <a:srgbClr val="A83033"/>
                </a:solidFill>
                <a:latin typeface="Calibri"/>
                <a:ea typeface="Calibri"/>
                <a:cs typeface="Calibri"/>
              </a:defRPr>
            </a:lvl7pPr>
            <a:lvl8pPr>
              <a:buNone/>
              <a:defRPr sz="2700" b="1">
                <a:solidFill>
                  <a:srgbClr val="A83033"/>
                </a:solidFill>
                <a:latin typeface="Calibri"/>
                <a:ea typeface="Calibri"/>
                <a:cs typeface="Calibri"/>
              </a:defRPr>
            </a:lvl8pPr>
            <a:lvl9pPr>
              <a:buNone/>
              <a:defRPr sz="2700" b="1">
                <a:solidFill>
                  <a:srgbClr val="A83033"/>
                </a:solidFill>
                <a:latin typeface="Calibri"/>
                <a:ea typeface="Calibri"/>
                <a:cs typeface="Calibri"/>
              </a:defRPr>
            </a:lvl9pPr>
          </a:lstStyle>
          <a:p>
            <a:pPr>
              <a:buNone/>
              <a:defRPr sz="2700" b="1">
                <a:solidFill>
                  <a:srgbClr val="A83033"/>
                </a:solidFill>
                <a:latin typeface="Calibri"/>
                <a:ea typeface="Calibri"/>
                <a:cs typeface="Calibri"/>
              </a:defRPr>
            </a:pPr>
            <a:r>
              <a:rPr sz="2700" b="1">
                <a:solidFill>
                  <a:srgbClr val="A83033"/>
                </a:solidFill>
                <a:latin typeface="Calibri"/>
                <a:ea typeface="Calibri"/>
                <a:cs typeface="Calibri"/>
              </a:rPr>
              <a:t>110 seconds</a:t>
            </a:r>
          </a:p>
          <a:p>
            <a:pPr>
              <a:buNone/>
              <a:defRPr sz="2700" b="1">
                <a:solidFill>
                  <a:srgbClr val="A83033"/>
                </a:solidFill>
                <a:latin typeface="Calibri"/>
                <a:ea typeface="Calibri"/>
                <a:cs typeface="Calibri"/>
              </a:defRPr>
            </a:pPr>
            <a:r>
              <a:rPr sz="2700" b="1">
                <a:solidFill>
                  <a:srgbClr val="A83033"/>
                </a:solidFill>
                <a:latin typeface="Calibri"/>
                <a:ea typeface="Calibri"/>
                <a:cs typeface="Calibri"/>
              </a:rPr>
              <a:t>Target: 3 workers</a:t>
            </a:r>
          </a:p>
        </p:txBody>
      </p:sp>
      <p:sp>
        <p:nvSpPr>
          <p:cNvPr id="110" name="Rectangle 109">
            <a:extLst>
              <a:ext uri="{FF2B5EF4-FFF2-40B4-BE49-F238E27FC236}">
                <a16:creationId xmlns:a16="http://schemas.microsoft.com/office/drawing/2014/main" id="{DA7AE05F-B70B-4373-B494-2E48990F10A7}"/>
              </a:ext>
            </a:extLst>
          </p:cNvPr>
          <p:cNvSpPr>
            <a:spLocks noGrp="1"/>
          </p:cNvSpPr>
          <p:nvPr/>
        </p:nvSpPr>
        <p:spPr>
          <a:xfrm>
            <a:off x="12954000" y="3429000"/>
            <a:ext cx="3267075" cy="4095750"/>
          </a:xfrm>
          <a:prstGeom prst="rect">
            <a:avLst/>
          </a:prstGeom>
          <a:noFill/>
          <a:ln w="0">
            <a:noFill/>
          </a:ln>
        </p:spPr>
        <p:txBody>
          <a:bodyPr lIns="0" tIns="0" rIns="0" bIns="0"/>
          <a:lstStyle>
            <a:defPPr>
              <a:defRPr sz="2475" b="0">
                <a:solidFill>
                  <a:srgbClr val="333333"/>
                </a:solidFill>
                <a:latin typeface="Calibri"/>
                <a:ea typeface="Calibri"/>
                <a:cs typeface="Calibri"/>
              </a:defRPr>
            </a:defPPr>
            <a:lvl1pPr>
              <a:buNone/>
              <a:defRPr sz="2475" b="0">
                <a:solidFill>
                  <a:srgbClr val="333333"/>
                </a:solidFill>
                <a:latin typeface="Calibri"/>
                <a:ea typeface="Calibri"/>
                <a:cs typeface="Calibri"/>
              </a:defRPr>
            </a:lvl1pPr>
            <a:lvl2pPr>
              <a:buNone/>
              <a:defRPr sz="2475" b="0">
                <a:solidFill>
                  <a:srgbClr val="333333"/>
                </a:solidFill>
                <a:latin typeface="Calibri"/>
                <a:ea typeface="Calibri"/>
                <a:cs typeface="Calibri"/>
              </a:defRPr>
            </a:lvl2pPr>
            <a:lvl3pPr>
              <a:buNone/>
              <a:defRPr sz="2475" b="0">
                <a:solidFill>
                  <a:srgbClr val="333333"/>
                </a:solidFill>
                <a:latin typeface="Calibri"/>
                <a:ea typeface="Calibri"/>
                <a:cs typeface="Calibri"/>
              </a:defRPr>
            </a:lvl3pPr>
            <a:lvl4pPr>
              <a:buNone/>
              <a:defRPr sz="2475" b="0">
                <a:solidFill>
                  <a:srgbClr val="333333"/>
                </a:solidFill>
                <a:latin typeface="Calibri"/>
                <a:ea typeface="Calibri"/>
                <a:cs typeface="Calibri"/>
              </a:defRPr>
            </a:lvl4pPr>
            <a:lvl5pPr>
              <a:buNone/>
              <a:defRPr sz="2475" b="0">
                <a:solidFill>
                  <a:srgbClr val="333333"/>
                </a:solidFill>
                <a:latin typeface="Calibri"/>
                <a:ea typeface="Calibri"/>
                <a:cs typeface="Calibri"/>
              </a:defRPr>
            </a:lvl5pPr>
            <a:lvl6pPr>
              <a:buNone/>
              <a:defRPr sz="2475" b="0">
                <a:solidFill>
                  <a:srgbClr val="333333"/>
                </a:solidFill>
                <a:latin typeface="Calibri"/>
                <a:ea typeface="Calibri"/>
                <a:cs typeface="Calibri"/>
              </a:defRPr>
            </a:lvl6pPr>
            <a:lvl7pPr>
              <a:buNone/>
              <a:defRPr sz="2475" b="0">
                <a:solidFill>
                  <a:srgbClr val="333333"/>
                </a:solidFill>
                <a:latin typeface="Calibri"/>
                <a:ea typeface="Calibri"/>
                <a:cs typeface="Calibri"/>
              </a:defRPr>
            </a:lvl7pPr>
            <a:lvl8pPr>
              <a:buNone/>
              <a:defRPr sz="2475" b="0">
                <a:solidFill>
                  <a:srgbClr val="333333"/>
                </a:solidFill>
                <a:latin typeface="Calibri"/>
                <a:ea typeface="Calibri"/>
                <a:cs typeface="Calibri"/>
              </a:defRPr>
            </a:lvl8pPr>
            <a:lvl9pPr>
              <a:buNone/>
              <a:defRPr sz="2475" b="0">
                <a:solidFill>
                  <a:srgbClr val="333333"/>
                </a:solidFill>
                <a:latin typeface="Calibri"/>
                <a:ea typeface="Calibri"/>
                <a:cs typeface="Calibri"/>
              </a:defRPr>
            </a:lvl9pPr>
          </a:lstStyle>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Demand falls to 15.3 RPS.</a:t>
            </a:r>
          </a:p>
          <a:p>
            <a:endParaRPr sz="2475" b="0">
              <a:solidFill>
                <a:srgbClr val="333333"/>
              </a:solidFill>
              <a:latin typeface="Calibri"/>
              <a:ea typeface="Calibri"/>
              <a:cs typeface="Calibri"/>
            </a:endParaRPr>
          </a:p>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The controller waits before scaling down.</a:t>
            </a:r>
          </a:p>
          <a:p>
            <a:endParaRPr sz="2475" b="0">
              <a:solidFill>
                <a:srgbClr val="333333"/>
              </a:solidFill>
              <a:latin typeface="Calibri"/>
              <a:ea typeface="Calibri"/>
              <a:cs typeface="Calibri"/>
            </a:endParaRPr>
          </a:p>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Ready / desired still shows 4 / 4 before applying the new target.</a:t>
            </a:r>
          </a:p>
        </p:txBody>
      </p:sp>
      <p:sp>
        <p:nvSpPr>
          <p:cNvPr id="111" name="Rectangle 110">
            <a:extLst>
              <a:ext uri="{FF2B5EF4-FFF2-40B4-BE49-F238E27FC236}">
                <a16:creationId xmlns:a16="http://schemas.microsoft.com/office/drawing/2014/main" id="{1DE69248-D70E-49AC-AAF5-E9E9F675CD02}"/>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10 / 18</a:t>
            </a:r>
          </a:p>
        </p:txBody>
      </p:sp>
    </p:spTree>
    <p:extLst>
      <p:ext uri="{BB962C8B-B14F-4D97-AF65-F5344CB8AC3E}">
        <p14:creationId xmlns:p14="http://schemas.microsoft.com/office/powerpoint/2010/main" val="1518820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6B93730E-FC0B-46DF-8A26-AAAE5462AF84}"/>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buNone/>
              <a:defRPr sz="4000" b="0">
                <a:solidFill>
                  <a:srgbClr val="A83033"/>
                </a:solidFill>
                <a:latin typeface="Marcellus"/>
                <a:ea typeface="Marcellus"/>
                <a:cs typeface="Marcellus"/>
              </a:defRPr>
            </a:lvl1pPr>
            <a:lvl2pPr>
              <a:buNone/>
              <a:defRPr sz="4000" b="0">
                <a:solidFill>
                  <a:srgbClr val="A83033"/>
                </a:solidFill>
                <a:latin typeface="Marcellus"/>
                <a:ea typeface="Marcellus"/>
                <a:cs typeface="Marcellus"/>
              </a:defRPr>
            </a:lvl2pPr>
            <a:lvl3pPr>
              <a:buNone/>
              <a:defRPr sz="4000" b="0">
                <a:solidFill>
                  <a:srgbClr val="A83033"/>
                </a:solidFill>
                <a:latin typeface="Marcellus"/>
                <a:ea typeface="Marcellus"/>
                <a:cs typeface="Marcellus"/>
              </a:defRPr>
            </a:lvl3pPr>
            <a:lvl4pPr>
              <a:buNone/>
              <a:defRPr sz="4000" b="0">
                <a:solidFill>
                  <a:srgbClr val="A83033"/>
                </a:solidFill>
                <a:latin typeface="Marcellus"/>
                <a:ea typeface="Marcellus"/>
                <a:cs typeface="Marcellus"/>
              </a:defRPr>
            </a:lvl4pPr>
            <a:lvl5pPr>
              <a:buNone/>
              <a:defRPr sz="4000" b="0">
                <a:solidFill>
                  <a:srgbClr val="A83033"/>
                </a:solidFill>
                <a:latin typeface="Marcellus"/>
                <a:ea typeface="Marcellus"/>
                <a:cs typeface="Marcellus"/>
              </a:defRPr>
            </a:lvl5pPr>
            <a:lvl6pPr>
              <a:buNone/>
              <a:defRPr sz="4000" b="0">
                <a:solidFill>
                  <a:srgbClr val="A83033"/>
                </a:solidFill>
                <a:latin typeface="Marcellus"/>
                <a:ea typeface="Marcellus"/>
                <a:cs typeface="Marcellus"/>
              </a:defRPr>
            </a:lvl6pPr>
            <a:lvl7pPr>
              <a:buNone/>
              <a:defRPr sz="4000" b="0">
                <a:solidFill>
                  <a:srgbClr val="A83033"/>
                </a:solidFill>
                <a:latin typeface="Marcellus"/>
                <a:ea typeface="Marcellus"/>
                <a:cs typeface="Marcellus"/>
              </a:defRPr>
            </a:lvl7pPr>
            <a:lvl8pPr>
              <a:buNone/>
              <a:defRPr sz="4000" b="0">
                <a:solidFill>
                  <a:srgbClr val="A83033"/>
                </a:solidFill>
                <a:latin typeface="Marcellus"/>
                <a:ea typeface="Marcellus"/>
                <a:cs typeface="Marcellus"/>
              </a:defRPr>
            </a:lvl8pPr>
            <a:lvl9pPr>
              <a:buNone/>
              <a:defRPr sz="4000" b="0">
                <a:solidFill>
                  <a:srgbClr val="A83033"/>
                </a:solidFill>
                <a:latin typeface="Marcellus"/>
                <a:ea typeface="Marcellus"/>
                <a:cs typeface="Marcellus"/>
              </a:defRPr>
            </a:lvl9pPr>
          </a:lstStyle>
          <a:p>
            <a:pPr>
              <a:buNone/>
              <a:defRPr sz="4000" b="0">
                <a:solidFill>
                  <a:srgbClr val="A83033"/>
                </a:solidFill>
                <a:latin typeface="Marcellus"/>
                <a:ea typeface="Marcellus"/>
                <a:cs typeface="Marcellus"/>
              </a:defRPr>
            </a:pPr>
            <a:r>
              <a:rPr sz="4000" b="0">
                <a:solidFill>
                  <a:srgbClr val="A83033"/>
                </a:solidFill>
                <a:latin typeface="Marcellus"/>
                <a:ea typeface="Marcellus"/>
                <a:cs typeface="Marcellus"/>
              </a:rPr>
              <a:t>Demo: the flash burst and replica ceiling</a:t>
            </a:r>
          </a:p>
        </p:txBody>
      </p:sp>
      <p:pic>
        <p:nvPicPr>
          <p:cNvPr id="108" name="Picture 107">
            <a:extLst>
              <a:ext uri="{FF2B5EF4-FFF2-40B4-BE49-F238E27FC236}">
                <a16:creationId xmlns:a16="http://schemas.microsoft.com/office/drawing/2014/main" id="{D7777B59-0D35-4E93-B72F-A7C5BFAC1403}"/>
              </a:ext>
            </a:extLst>
          </p:cNvPr>
          <p:cNvPicPr>
            <a:picLocks noChangeAspect="1"/>
          </p:cNvPicPr>
          <p:nvPr/>
        </p:nvPicPr>
        <p:blipFill>
          <a:blip r:embed="rId5"/>
          <a:stretch/>
        </p:blipFill>
        <p:spPr>
          <a:xfrm>
            <a:off x="2238375" y="2050247"/>
            <a:ext cx="10382250" cy="5843606"/>
          </a:xfrm>
          <a:prstGeom prst="rect">
            <a:avLst/>
          </a:prstGeom>
        </p:spPr>
      </p:pic>
      <p:sp>
        <p:nvSpPr>
          <p:cNvPr id="109" name="Rectangle 108">
            <a:extLst>
              <a:ext uri="{FF2B5EF4-FFF2-40B4-BE49-F238E27FC236}">
                <a16:creationId xmlns:a16="http://schemas.microsoft.com/office/drawing/2014/main" id="{D1270F72-029D-4ABD-8C17-7E15AFB82E28}"/>
              </a:ext>
            </a:extLst>
          </p:cNvPr>
          <p:cNvSpPr>
            <a:spLocks noGrp="1"/>
          </p:cNvSpPr>
          <p:nvPr/>
        </p:nvSpPr>
        <p:spPr>
          <a:xfrm>
            <a:off x="12954000" y="2190750"/>
            <a:ext cx="3267075" cy="1047750"/>
          </a:xfrm>
          <a:prstGeom prst="rect">
            <a:avLst/>
          </a:prstGeom>
          <a:noFill/>
          <a:ln w="0">
            <a:noFill/>
          </a:ln>
        </p:spPr>
        <p:txBody>
          <a:bodyPr lIns="0" tIns="0" rIns="0" bIns="0"/>
          <a:lstStyle>
            <a:defPPr>
              <a:defRPr sz="2700" b="1">
                <a:solidFill>
                  <a:srgbClr val="A83033"/>
                </a:solidFill>
                <a:latin typeface="Calibri"/>
                <a:ea typeface="Calibri"/>
                <a:cs typeface="Calibri"/>
              </a:defRPr>
            </a:defPPr>
            <a:lvl1pPr>
              <a:buNone/>
              <a:defRPr sz="2700" b="1">
                <a:solidFill>
                  <a:srgbClr val="A83033"/>
                </a:solidFill>
                <a:latin typeface="Calibri"/>
                <a:ea typeface="Calibri"/>
                <a:cs typeface="Calibri"/>
              </a:defRPr>
            </a:lvl1pPr>
            <a:lvl2pPr>
              <a:buNone/>
              <a:defRPr sz="2700" b="1">
                <a:solidFill>
                  <a:srgbClr val="A83033"/>
                </a:solidFill>
                <a:latin typeface="Calibri"/>
                <a:ea typeface="Calibri"/>
                <a:cs typeface="Calibri"/>
              </a:defRPr>
            </a:lvl2pPr>
            <a:lvl3pPr>
              <a:buNone/>
              <a:defRPr sz="2700" b="1">
                <a:solidFill>
                  <a:srgbClr val="A83033"/>
                </a:solidFill>
                <a:latin typeface="Calibri"/>
                <a:ea typeface="Calibri"/>
                <a:cs typeface="Calibri"/>
              </a:defRPr>
            </a:lvl3pPr>
            <a:lvl4pPr>
              <a:buNone/>
              <a:defRPr sz="2700" b="1">
                <a:solidFill>
                  <a:srgbClr val="A83033"/>
                </a:solidFill>
                <a:latin typeface="Calibri"/>
                <a:ea typeface="Calibri"/>
                <a:cs typeface="Calibri"/>
              </a:defRPr>
            </a:lvl4pPr>
            <a:lvl5pPr>
              <a:buNone/>
              <a:defRPr sz="2700" b="1">
                <a:solidFill>
                  <a:srgbClr val="A83033"/>
                </a:solidFill>
                <a:latin typeface="Calibri"/>
                <a:ea typeface="Calibri"/>
                <a:cs typeface="Calibri"/>
              </a:defRPr>
            </a:lvl5pPr>
            <a:lvl6pPr>
              <a:buNone/>
              <a:defRPr sz="2700" b="1">
                <a:solidFill>
                  <a:srgbClr val="A83033"/>
                </a:solidFill>
                <a:latin typeface="Calibri"/>
                <a:ea typeface="Calibri"/>
                <a:cs typeface="Calibri"/>
              </a:defRPr>
            </a:lvl6pPr>
            <a:lvl7pPr>
              <a:buNone/>
              <a:defRPr sz="2700" b="1">
                <a:solidFill>
                  <a:srgbClr val="A83033"/>
                </a:solidFill>
                <a:latin typeface="Calibri"/>
                <a:ea typeface="Calibri"/>
                <a:cs typeface="Calibri"/>
              </a:defRPr>
            </a:lvl7pPr>
            <a:lvl8pPr>
              <a:buNone/>
              <a:defRPr sz="2700" b="1">
                <a:solidFill>
                  <a:srgbClr val="A83033"/>
                </a:solidFill>
                <a:latin typeface="Calibri"/>
                <a:ea typeface="Calibri"/>
                <a:cs typeface="Calibri"/>
              </a:defRPr>
            </a:lvl8pPr>
            <a:lvl9pPr>
              <a:buNone/>
              <a:defRPr sz="2700" b="1">
                <a:solidFill>
                  <a:srgbClr val="A83033"/>
                </a:solidFill>
                <a:latin typeface="Calibri"/>
                <a:ea typeface="Calibri"/>
                <a:cs typeface="Calibri"/>
              </a:defRPr>
            </a:lvl9pPr>
          </a:lstStyle>
          <a:p>
            <a:pPr>
              <a:buNone/>
              <a:defRPr sz="2700" b="1">
                <a:solidFill>
                  <a:srgbClr val="A83033"/>
                </a:solidFill>
                <a:latin typeface="Calibri"/>
                <a:ea typeface="Calibri"/>
                <a:cs typeface="Calibri"/>
              </a:defRPr>
            </a:pPr>
            <a:r>
              <a:rPr sz="2700" b="1">
                <a:solidFill>
                  <a:srgbClr val="A83033"/>
                </a:solidFill>
                <a:latin typeface="Calibri"/>
                <a:ea typeface="Calibri"/>
                <a:cs typeface="Calibri"/>
              </a:rPr>
              <a:t>Completed run</a:t>
            </a:r>
          </a:p>
          <a:p>
            <a:pPr>
              <a:buNone/>
              <a:defRPr sz="2700" b="1">
                <a:solidFill>
                  <a:srgbClr val="A83033"/>
                </a:solidFill>
                <a:latin typeface="Calibri"/>
                <a:ea typeface="Calibri"/>
                <a:cs typeface="Calibri"/>
              </a:defRPr>
            </a:pPr>
            <a:r>
              <a:rPr sz="2700" b="1">
                <a:solidFill>
                  <a:srgbClr val="A83033"/>
                </a:solidFill>
                <a:latin typeface="Calibri"/>
                <a:ea typeface="Calibri"/>
                <a:cs typeface="Calibri"/>
              </a:rPr>
              <a:t>Ceiling: 4 workers</a:t>
            </a:r>
          </a:p>
        </p:txBody>
      </p:sp>
      <p:sp>
        <p:nvSpPr>
          <p:cNvPr id="110" name="Rectangle 109">
            <a:extLst>
              <a:ext uri="{FF2B5EF4-FFF2-40B4-BE49-F238E27FC236}">
                <a16:creationId xmlns:a16="http://schemas.microsoft.com/office/drawing/2014/main" id="{A999A62A-4761-4974-9D95-93C6C87F4B22}"/>
              </a:ext>
            </a:extLst>
          </p:cNvPr>
          <p:cNvSpPr>
            <a:spLocks noGrp="1"/>
          </p:cNvSpPr>
          <p:nvPr/>
        </p:nvSpPr>
        <p:spPr>
          <a:xfrm>
            <a:off x="12954000" y="3429000"/>
            <a:ext cx="3267075" cy="4095750"/>
          </a:xfrm>
          <a:prstGeom prst="rect">
            <a:avLst/>
          </a:prstGeom>
          <a:noFill/>
          <a:ln w="0">
            <a:noFill/>
          </a:ln>
        </p:spPr>
        <p:txBody>
          <a:bodyPr lIns="0" tIns="0" rIns="0" bIns="0"/>
          <a:lstStyle>
            <a:defPPr>
              <a:defRPr sz="2475" b="0">
                <a:solidFill>
                  <a:srgbClr val="333333"/>
                </a:solidFill>
                <a:latin typeface="Calibri"/>
                <a:ea typeface="Calibri"/>
                <a:cs typeface="Calibri"/>
              </a:defRPr>
            </a:defPPr>
            <a:lvl1pPr>
              <a:buNone/>
              <a:defRPr sz="2475" b="0">
                <a:solidFill>
                  <a:srgbClr val="333333"/>
                </a:solidFill>
                <a:latin typeface="Calibri"/>
                <a:ea typeface="Calibri"/>
                <a:cs typeface="Calibri"/>
              </a:defRPr>
            </a:lvl1pPr>
            <a:lvl2pPr>
              <a:buNone/>
              <a:defRPr sz="2475" b="0">
                <a:solidFill>
                  <a:srgbClr val="333333"/>
                </a:solidFill>
                <a:latin typeface="Calibri"/>
                <a:ea typeface="Calibri"/>
                <a:cs typeface="Calibri"/>
              </a:defRPr>
            </a:lvl2pPr>
            <a:lvl3pPr>
              <a:buNone/>
              <a:defRPr sz="2475" b="0">
                <a:solidFill>
                  <a:srgbClr val="333333"/>
                </a:solidFill>
                <a:latin typeface="Calibri"/>
                <a:ea typeface="Calibri"/>
                <a:cs typeface="Calibri"/>
              </a:defRPr>
            </a:lvl3pPr>
            <a:lvl4pPr>
              <a:buNone/>
              <a:defRPr sz="2475" b="0">
                <a:solidFill>
                  <a:srgbClr val="333333"/>
                </a:solidFill>
                <a:latin typeface="Calibri"/>
                <a:ea typeface="Calibri"/>
                <a:cs typeface="Calibri"/>
              </a:defRPr>
            </a:lvl4pPr>
            <a:lvl5pPr>
              <a:buNone/>
              <a:defRPr sz="2475" b="0">
                <a:solidFill>
                  <a:srgbClr val="333333"/>
                </a:solidFill>
                <a:latin typeface="Calibri"/>
                <a:ea typeface="Calibri"/>
                <a:cs typeface="Calibri"/>
              </a:defRPr>
            </a:lvl5pPr>
            <a:lvl6pPr>
              <a:buNone/>
              <a:defRPr sz="2475" b="0">
                <a:solidFill>
                  <a:srgbClr val="333333"/>
                </a:solidFill>
                <a:latin typeface="Calibri"/>
                <a:ea typeface="Calibri"/>
                <a:cs typeface="Calibri"/>
              </a:defRPr>
            </a:lvl6pPr>
            <a:lvl7pPr>
              <a:buNone/>
              <a:defRPr sz="2475" b="0">
                <a:solidFill>
                  <a:srgbClr val="333333"/>
                </a:solidFill>
                <a:latin typeface="Calibri"/>
                <a:ea typeface="Calibri"/>
                <a:cs typeface="Calibri"/>
              </a:defRPr>
            </a:lvl7pPr>
            <a:lvl8pPr>
              <a:buNone/>
              <a:defRPr sz="2475" b="0">
                <a:solidFill>
                  <a:srgbClr val="333333"/>
                </a:solidFill>
                <a:latin typeface="Calibri"/>
                <a:ea typeface="Calibri"/>
                <a:cs typeface="Calibri"/>
              </a:defRPr>
            </a:lvl8pPr>
            <a:lvl9pPr>
              <a:buNone/>
              <a:defRPr sz="2475" b="0">
                <a:solidFill>
                  <a:srgbClr val="333333"/>
                </a:solidFill>
                <a:latin typeface="Calibri"/>
                <a:ea typeface="Calibri"/>
                <a:cs typeface="Calibri"/>
              </a:defRPr>
            </a:lvl9pPr>
          </a:lstStyle>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The graph records the burst and recovery.</a:t>
            </a:r>
          </a:p>
          <a:p>
            <a:endParaRPr sz="2475" b="0">
              <a:solidFill>
                <a:srgbClr val="333333"/>
              </a:solidFill>
              <a:latin typeface="Calibri"/>
              <a:ea typeface="Calibri"/>
              <a:cs typeface="Calibri"/>
            </a:endParaRPr>
          </a:p>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The deployment never exceeds four workers.</a:t>
            </a:r>
          </a:p>
          <a:p>
            <a:endParaRPr sz="2475" b="0">
              <a:solidFill>
                <a:srgbClr val="333333"/>
              </a:solidFill>
              <a:latin typeface="Calibri"/>
              <a:ea typeface="Calibri"/>
              <a:cs typeface="Calibri"/>
            </a:endParaRPr>
          </a:p>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The cards show the final recorded window.</a:t>
            </a:r>
          </a:p>
        </p:txBody>
      </p:sp>
      <p:sp>
        <p:nvSpPr>
          <p:cNvPr id="111" name="Rectangle 110">
            <a:extLst>
              <a:ext uri="{FF2B5EF4-FFF2-40B4-BE49-F238E27FC236}">
                <a16:creationId xmlns:a16="http://schemas.microsoft.com/office/drawing/2014/main" id="{7C42C385-2C36-4C57-974A-7F316D73E7CA}"/>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11 / 18</a:t>
            </a:r>
          </a:p>
        </p:txBody>
      </p:sp>
    </p:spTree>
    <p:extLst>
      <p:ext uri="{BB962C8B-B14F-4D97-AF65-F5344CB8AC3E}">
        <p14:creationId xmlns:p14="http://schemas.microsoft.com/office/powerpoint/2010/main" val="1518820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A41CC98B-AC45-41D3-ACC9-C1FF00F814D5}"/>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Measured scaling results</a:t>
            </a:r>
          </a:p>
        </p:txBody>
      </p:sp>
      <p:sp>
        <p:nvSpPr>
          <p:cNvPr id="108" name="Rectangle 107">
            <a:extLst>
              <a:ext uri="{FF2B5EF4-FFF2-40B4-BE49-F238E27FC236}">
                <a16:creationId xmlns:a16="http://schemas.microsoft.com/office/drawing/2014/main" id="{BB1FEA36-B805-4DC7-B0CD-111E6256A768}"/>
              </a:ext>
            </a:extLst>
          </p:cNvPr>
          <p:cNvSpPr>
            <a:spLocks noGrp="1"/>
          </p:cNvSpPr>
          <p:nvPr/>
        </p:nvSpPr>
        <p:spPr>
          <a:xfrm>
            <a:off x="2238375" y="2047875"/>
            <a:ext cx="13982700" cy="1000125"/>
          </a:xfrm>
          <a:prstGeom prst="rect">
            <a:avLst/>
          </a:prstGeom>
          <a:noFill/>
          <a:ln w="0">
            <a:noFill/>
          </a:ln>
        </p:spPr>
        <p:txBody>
          <a:bodyPr lIns="0" tIns="0" rIns="0" bIns="0"/>
          <a:lstStyle>
            <a:defPPr>
              <a:defRPr sz="2700" b="0">
                <a:solidFill>
                  <a:srgbClr val="333333"/>
                </a:solidFill>
                <a:latin typeface="Calibri"/>
                <a:ea typeface="Calibri"/>
                <a:cs typeface="Calibri"/>
              </a:defRPr>
            </a:defPPr>
            <a:lvl1pPr>
              <a:defRPr sz="2700" b="0">
                <a:solidFill>
                  <a:srgbClr val="333333"/>
                </a:solidFill>
                <a:latin typeface="Calibri"/>
                <a:ea typeface="Calibri"/>
                <a:cs typeface="Calibri"/>
              </a:defRPr>
            </a:lvl1pPr>
            <a:lvl2pPr>
              <a:defRPr sz="2700" b="0">
                <a:solidFill>
                  <a:srgbClr val="333333"/>
                </a:solidFill>
                <a:latin typeface="Calibri"/>
                <a:ea typeface="Calibri"/>
                <a:cs typeface="Calibri"/>
              </a:defRPr>
            </a:lvl2pPr>
            <a:lvl3pPr>
              <a:defRPr sz="2700" b="0">
                <a:solidFill>
                  <a:srgbClr val="333333"/>
                </a:solidFill>
                <a:latin typeface="Calibri"/>
                <a:ea typeface="Calibri"/>
                <a:cs typeface="Calibri"/>
              </a:defRPr>
            </a:lvl3pPr>
            <a:lvl4pPr>
              <a:defRPr sz="2700" b="0">
                <a:solidFill>
                  <a:srgbClr val="333333"/>
                </a:solidFill>
                <a:latin typeface="Calibri"/>
                <a:ea typeface="Calibri"/>
                <a:cs typeface="Calibri"/>
              </a:defRPr>
            </a:lvl4pPr>
            <a:lvl5pPr>
              <a:defRPr sz="2700" b="0">
                <a:solidFill>
                  <a:srgbClr val="333333"/>
                </a:solidFill>
                <a:latin typeface="Calibri"/>
                <a:ea typeface="Calibri"/>
                <a:cs typeface="Calibri"/>
              </a:defRPr>
            </a:lvl5pPr>
            <a:lvl6pPr>
              <a:defRPr sz="2700" b="0">
                <a:solidFill>
                  <a:srgbClr val="333333"/>
                </a:solidFill>
                <a:latin typeface="Calibri"/>
                <a:ea typeface="Calibri"/>
                <a:cs typeface="Calibri"/>
              </a:defRPr>
            </a:lvl6pPr>
            <a:lvl7pPr>
              <a:defRPr sz="2700" b="0">
                <a:solidFill>
                  <a:srgbClr val="333333"/>
                </a:solidFill>
                <a:latin typeface="Calibri"/>
                <a:ea typeface="Calibri"/>
                <a:cs typeface="Calibri"/>
              </a:defRPr>
            </a:lvl7pPr>
            <a:lvl8pPr>
              <a:defRPr sz="2700" b="0">
                <a:solidFill>
                  <a:srgbClr val="333333"/>
                </a:solidFill>
                <a:latin typeface="Calibri"/>
                <a:ea typeface="Calibri"/>
                <a:cs typeface="Calibri"/>
              </a:defRPr>
            </a:lvl8pPr>
            <a:lvl9pPr>
              <a:defRPr sz="2700" b="0">
                <a:solidFill>
                  <a:srgbClr val="333333"/>
                </a:solidFill>
                <a:latin typeface="Calibri"/>
                <a:ea typeface="Calibri"/>
                <a:cs typeface="Calibri"/>
              </a:defRPr>
            </a:lvl9pPr>
          </a:lstStyle>
          <a:p>
            <a:pPr>
              <a:defRPr sz="2700" b="0">
                <a:solidFill>
                  <a:srgbClr val="333333"/>
                </a:solidFill>
                <a:latin typeface="Calibri"/>
                <a:ea typeface="Calibri"/>
                <a:cs typeface="Calibri"/>
              </a:defRPr>
            </a:pPr>
            <a:r>
              <a:rPr sz="2700" b="0">
                <a:solidFill>
                  <a:srgbClr val="333333"/>
                </a:solidFill>
                <a:latin typeface="Calibri"/>
                <a:ea typeface="Calibri"/>
                <a:cs typeface="Calibri"/>
              </a:rPr>
              <a:t>12 matched runs: fixed, reactive and guarded policies across two workloads and two seeds.</a:t>
            </a:r>
          </a:p>
        </p:txBody>
      </p:sp>
      <p:graphicFrame>
        <p:nvGraphicFramePr>
          <p:cNvPr id="109" name="Table 108">
            <a:extLst>
              <a:ext uri="{FF2B5EF4-FFF2-40B4-BE49-F238E27FC236}">
                <a16:creationId xmlns:a16="http://schemas.microsoft.com/office/drawing/2014/main" id="{F2E357CB-ECC9-4CF9-A7F0-642B2F2514C2}"/>
              </a:ext>
            </a:extLst>
          </p:cNvPr>
          <p:cNvGraphicFramePr/>
          <p:nvPr/>
        </p:nvGraphicFramePr>
        <p:xfrm>
          <a:off x="2238375" y="3286125"/>
          <a:ext cx="13982700" cy="4048125"/>
        </p:xfrm>
        <a:graphic>
          <a:graphicData uri="http://schemas.openxmlformats.org/drawingml/2006/table">
            <a:tbl>
              <a:tblPr/>
              <a:tblGrid>
                <a:gridCol w="40005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gridCol w="3409950">
                  <a:extLst>
                    <a:ext uri="{9D8B030D-6E8A-4147-A177-3AD203B41FA5}">
                      <a16:colId xmlns:a16="http://schemas.microsoft.com/office/drawing/2014/main" val="20003"/>
                    </a:ext>
                  </a:extLst>
                </a:gridCol>
              </a:tblGrid>
              <a:tr h="578304">
                <a:tc>
                  <a:txBody>
                    <a:bodyPr/>
                    <a:lstStyle/>
                    <a:p>
                      <a:r>
                        <a:rPr sz="2400" b="1">
                          <a:solidFill>
                            <a:srgbClr val="FFFFFF"/>
                          </a:solidFill>
                          <a:latin typeface="Calibri"/>
                          <a:ea typeface="Calibri"/>
                          <a:cs typeface="Calibri"/>
                        </a:rPr>
                        <a:t>Workload / policy</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400" b="1">
                          <a:solidFill>
                            <a:srgbClr val="FFFFFF"/>
                          </a:solidFill>
                          <a:latin typeface="Calibri"/>
                          <a:ea typeface="Calibri"/>
                          <a:cs typeface="Calibri"/>
                        </a:rPr>
                        <a:t>Run p95 range, ms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400" b="1">
                          <a:solidFill>
                            <a:srgbClr val="FFFFFF"/>
                          </a:solidFill>
                          <a:latin typeface="Calibri"/>
                          <a:ea typeface="Calibri"/>
                          <a:cs typeface="Calibri"/>
                        </a:rPr>
                        <a:t>Mean replica-s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400" b="1">
                          <a:solidFill>
                            <a:srgbClr val="FFFFFF"/>
                          </a:solidFill>
                          <a:latin typeface="Calibri"/>
                          <a:ea typeface="Calibri"/>
                          <a:cs typeface="Calibri"/>
                        </a:rPr>
                        <a:t>Violating windows</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578304">
                <a:tc>
                  <a:txBody>
                    <a:bodyPr/>
                    <a:lstStyle/>
                    <a:p>
                      <a:r>
                        <a:rPr sz="2400" b="0">
                          <a:solidFill>
                            <a:srgbClr val="333333"/>
                          </a:solidFill>
                          <a:latin typeface="Calibri"/>
                          <a:ea typeface="Calibri"/>
                          <a:cs typeface="Calibri"/>
                        </a:rPr>
                        <a:t>flash / fixed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42.8–43.2</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720.0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0.00%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1"/>
                  </a:ext>
                </a:extLst>
              </a:tr>
              <a:tr h="578304">
                <a:tc>
                  <a:txBody>
                    <a:bodyPr/>
                    <a:lstStyle/>
                    <a:p>
                      <a:r>
                        <a:rPr sz="2400" b="0">
                          <a:solidFill>
                            <a:srgbClr val="333333"/>
                          </a:solidFill>
                          <a:latin typeface="Calibri"/>
                          <a:ea typeface="Calibri"/>
                          <a:cs typeface="Calibri"/>
                        </a:rPr>
                        <a:t>flash / guarded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44.0–46.9</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705.3</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0.00%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2"/>
                  </a:ext>
                </a:extLst>
              </a:tr>
              <a:tr h="578304">
                <a:tc>
                  <a:txBody>
                    <a:bodyPr/>
                    <a:lstStyle/>
                    <a:p>
                      <a:r>
                        <a:rPr sz="2400" b="0">
                          <a:solidFill>
                            <a:srgbClr val="333333"/>
                          </a:solidFill>
                          <a:latin typeface="Calibri"/>
                          <a:ea typeface="Calibri"/>
                          <a:cs typeface="Calibri"/>
                        </a:rPr>
                        <a:t>flash / reactive</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64.1–65.8</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561.3</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0.00%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3"/>
                  </a:ext>
                </a:extLst>
              </a:tr>
              <a:tr h="578304">
                <a:tc>
                  <a:txBody>
                    <a:bodyPr/>
                    <a:lstStyle/>
                    <a:p>
                      <a:r>
                        <a:rPr sz="2400" b="0">
                          <a:solidFill>
                            <a:srgbClr val="333333"/>
                          </a:solidFill>
                          <a:latin typeface="Calibri"/>
                          <a:ea typeface="Calibri"/>
                          <a:cs typeface="Calibri"/>
                        </a:rPr>
                        <a:t>periodic / fixed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34.6–55.3</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720.0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0.00%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4"/>
                  </a:ext>
                </a:extLst>
              </a:tr>
              <a:tr h="578304">
                <a:tc>
                  <a:txBody>
                    <a:bodyPr/>
                    <a:lstStyle/>
                    <a:p>
                      <a:r>
                        <a:rPr sz="2400" b="0">
                          <a:solidFill>
                            <a:srgbClr val="333333"/>
                          </a:solidFill>
                          <a:latin typeface="Calibri"/>
                          <a:ea typeface="Calibri"/>
                          <a:cs typeface="Calibri"/>
                        </a:rPr>
                        <a:t>periodic / guarded</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49.0–56.6</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643.1</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tc>
                  <a:txBody>
                    <a:bodyPr/>
                    <a:lstStyle/>
                    <a:p>
                      <a:r>
                        <a:rPr sz="2400" b="0">
                          <a:solidFill>
                            <a:srgbClr val="333333"/>
                          </a:solidFill>
                          <a:latin typeface="Calibri"/>
                          <a:ea typeface="Calibri"/>
                          <a:cs typeface="Calibri"/>
                        </a:rPr>
                        <a:t>0.00%</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8EBEB"/>
                    </a:solidFill>
                  </a:tcPr>
                </a:tc>
                <a:extLst>
                  <a:ext uri="{0D108BD9-81ED-4DB2-BD59-A6C34878D82A}">
                    <a16:rowId xmlns:a16="http://schemas.microsoft.com/office/drawing/2014/main" val="10005"/>
                  </a:ext>
                </a:extLst>
              </a:tr>
              <a:tr h="578304">
                <a:tc>
                  <a:txBody>
                    <a:bodyPr/>
                    <a:lstStyle/>
                    <a:p>
                      <a:r>
                        <a:rPr sz="2400" b="0">
                          <a:solidFill>
                            <a:srgbClr val="333333"/>
                          </a:solidFill>
                          <a:latin typeface="Calibri"/>
                          <a:ea typeface="Calibri"/>
                          <a:cs typeface="Calibri"/>
                        </a:rPr>
                        <a:t>periodic / reactive</a:t>
                      </a:r>
                    </a:p>
                  </a:txBody>
                  <a:tcPr>
                    <a:lnL w="28575">
                      <a:solidFill>
                        <a:srgbClr val="FFFFFF"/>
                      </a:solidFill>
                      <a:prstDash val="soli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71.5–503.9</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498.8</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tc>
                  <a:txBody>
                    <a:bodyPr/>
                    <a:lstStyle/>
                    <a:p>
                      <a:r>
                        <a:rPr sz="2400" b="0">
                          <a:solidFill>
                            <a:srgbClr val="333333"/>
                          </a:solidFill>
                          <a:latin typeface="Calibri"/>
                          <a:ea typeface="Calibri"/>
                          <a:cs typeface="Calibri"/>
                        </a:rPr>
                        <a:t>5.56%</a:t>
                      </a:r>
                    </a:p>
                  </a:txBody>
                  <a:tcPr>
                    <a:lnL w="28575" cap="flat" cmpd="sng" algn="ctr">
                      <a:solidFill>
                        <a:srgbClr val="FFFFFF"/>
                      </a:solidFill>
                      <a:prstDash val="solid"/>
                      <a:round/>
                      <a:headEnd type="none" w="med" len="med"/>
                      <a:tailEnd type="none" w="med" len="med"/>
                    </a:lnL>
                    <a:lnR w="28575">
                      <a:solidFill>
                        <a:srgbClr val="FFFFFF"/>
                      </a:solidFill>
                      <a:prstDash val="solid"/>
                    </a:lnR>
                    <a:lnT w="28575" cap="flat" cmpd="sng" algn="ctr">
                      <a:solidFill>
                        <a:srgbClr val="FFFFFF"/>
                      </a:solidFill>
                      <a:prstDash val="solid"/>
                      <a:round/>
                      <a:headEnd type="none" w="med" len="med"/>
                      <a:tailEnd type="none" w="med" len="med"/>
                    </a:lnT>
                    <a:lnB w="28575">
                      <a:solidFill>
                        <a:srgbClr val="FFFFFF"/>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110" name="Rectangle 109">
            <a:extLst>
              <a:ext uri="{FF2B5EF4-FFF2-40B4-BE49-F238E27FC236}">
                <a16:creationId xmlns:a16="http://schemas.microsoft.com/office/drawing/2014/main" id="{AC56FD43-7A27-451F-8AE1-B5D5ECE44703}"/>
              </a:ext>
            </a:extLst>
          </p:cNvPr>
          <p:cNvSpPr>
            <a:spLocks noGrp="1"/>
          </p:cNvSpPr>
          <p:nvPr/>
        </p:nvSpPr>
        <p:spPr>
          <a:xfrm>
            <a:off x="2238375" y="7715250"/>
            <a:ext cx="13982700" cy="809625"/>
          </a:xfrm>
          <a:prstGeom prst="rect">
            <a:avLst/>
          </a:prstGeom>
          <a:noFill/>
          <a:ln w="0">
            <a:noFill/>
          </a:ln>
        </p:spPr>
        <p:txBody>
          <a:bodyPr lIns="0" tIns="0" rIns="0" bIns="0"/>
          <a:lstStyle>
            <a:defPPr>
              <a:defRPr sz="2625" b="1">
                <a:solidFill>
                  <a:srgbClr val="A83033"/>
                </a:solidFill>
                <a:latin typeface="Calibri"/>
                <a:ea typeface="Calibri"/>
                <a:cs typeface="Calibri"/>
              </a:defRPr>
            </a:defPPr>
            <a:lvl1pPr>
              <a:defRPr sz="2625" b="1">
                <a:solidFill>
                  <a:srgbClr val="A83033"/>
                </a:solidFill>
                <a:latin typeface="Calibri"/>
                <a:ea typeface="Calibri"/>
                <a:cs typeface="Calibri"/>
              </a:defRPr>
            </a:lvl1pPr>
            <a:lvl2pPr>
              <a:defRPr sz="2625" b="1">
                <a:solidFill>
                  <a:srgbClr val="A83033"/>
                </a:solidFill>
                <a:latin typeface="Calibri"/>
                <a:ea typeface="Calibri"/>
                <a:cs typeface="Calibri"/>
              </a:defRPr>
            </a:lvl2pPr>
            <a:lvl3pPr>
              <a:defRPr sz="2625" b="1">
                <a:solidFill>
                  <a:srgbClr val="A83033"/>
                </a:solidFill>
                <a:latin typeface="Calibri"/>
                <a:ea typeface="Calibri"/>
                <a:cs typeface="Calibri"/>
              </a:defRPr>
            </a:lvl3pPr>
            <a:lvl4pPr>
              <a:defRPr sz="2625" b="1">
                <a:solidFill>
                  <a:srgbClr val="A83033"/>
                </a:solidFill>
                <a:latin typeface="Calibri"/>
                <a:ea typeface="Calibri"/>
                <a:cs typeface="Calibri"/>
              </a:defRPr>
            </a:lvl4pPr>
            <a:lvl5pPr>
              <a:defRPr sz="2625" b="1">
                <a:solidFill>
                  <a:srgbClr val="A83033"/>
                </a:solidFill>
                <a:latin typeface="Calibri"/>
                <a:ea typeface="Calibri"/>
                <a:cs typeface="Calibri"/>
              </a:defRPr>
            </a:lvl5pPr>
            <a:lvl6pPr>
              <a:defRPr sz="2625" b="1">
                <a:solidFill>
                  <a:srgbClr val="A83033"/>
                </a:solidFill>
                <a:latin typeface="Calibri"/>
                <a:ea typeface="Calibri"/>
                <a:cs typeface="Calibri"/>
              </a:defRPr>
            </a:lvl6pPr>
            <a:lvl7pPr>
              <a:defRPr sz="2625" b="1">
                <a:solidFill>
                  <a:srgbClr val="A83033"/>
                </a:solidFill>
                <a:latin typeface="Calibri"/>
                <a:ea typeface="Calibri"/>
                <a:cs typeface="Calibri"/>
              </a:defRPr>
            </a:lvl7pPr>
            <a:lvl8pPr>
              <a:defRPr sz="2625" b="1">
                <a:solidFill>
                  <a:srgbClr val="A83033"/>
                </a:solidFill>
                <a:latin typeface="Calibri"/>
                <a:ea typeface="Calibri"/>
                <a:cs typeface="Calibri"/>
              </a:defRPr>
            </a:lvl8pPr>
            <a:lvl9pPr>
              <a:defRPr sz="2625" b="1">
                <a:solidFill>
                  <a:srgbClr val="A83033"/>
                </a:solidFill>
                <a:latin typeface="Calibri"/>
                <a:ea typeface="Calibri"/>
                <a:cs typeface="Calibri"/>
              </a:defRPr>
            </a:lvl9pPr>
          </a:lstStyle>
          <a:p>
            <a:pPr>
              <a:defRPr sz="2625" b="1">
                <a:solidFill>
                  <a:srgbClr val="A83033"/>
                </a:solidFill>
                <a:latin typeface="Calibri"/>
                <a:ea typeface="Calibri"/>
                <a:cs typeface="Calibri"/>
              </a:defRPr>
            </a:pPr>
            <a:r>
              <a:rPr sz="2625" b="1">
                <a:solidFill>
                  <a:srgbClr val="A83033"/>
                </a:solidFill>
                <a:latin typeface="Calibri"/>
                <a:ea typeface="Calibri"/>
                <a:cs typeface="Calibri"/>
              </a:rPr>
              <a:t>Guarded saves 10.7% allocation versus fixed in periodic demand, with zero violating windows in the main suite.</a:t>
            </a:r>
          </a:p>
        </p:txBody>
      </p:sp>
      <p:sp>
        <p:nvSpPr>
          <p:cNvPr id="111" name="Rectangle 110">
            <a:extLst>
              <a:ext uri="{FF2B5EF4-FFF2-40B4-BE49-F238E27FC236}">
                <a16:creationId xmlns:a16="http://schemas.microsoft.com/office/drawing/2014/main" id="{94AD2E29-22B5-4DC4-8F29-EF50F19DE919}"/>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12 / 18</a:t>
            </a:r>
          </a:p>
        </p:txBody>
      </p:sp>
    </p:spTree>
    <p:extLst>
      <p:ext uri="{BB962C8B-B14F-4D97-AF65-F5344CB8AC3E}">
        <p14:creationId xmlns:p14="http://schemas.microsoft.com/office/powerpoint/2010/main" val="1518820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5C5459ED-EBCC-4559-8EC4-C6F4628EC6A0}"/>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buNone/>
              <a:defRPr sz="4000" b="0">
                <a:solidFill>
                  <a:srgbClr val="A83033"/>
                </a:solidFill>
                <a:latin typeface="Marcellus"/>
                <a:ea typeface="Marcellus"/>
                <a:cs typeface="Marcellus"/>
              </a:defRPr>
            </a:lvl1pPr>
            <a:lvl2pPr>
              <a:buNone/>
              <a:defRPr sz="4000" b="0">
                <a:solidFill>
                  <a:srgbClr val="A83033"/>
                </a:solidFill>
                <a:latin typeface="Marcellus"/>
                <a:ea typeface="Marcellus"/>
                <a:cs typeface="Marcellus"/>
              </a:defRPr>
            </a:lvl2pPr>
            <a:lvl3pPr>
              <a:buNone/>
              <a:defRPr sz="4000" b="0">
                <a:solidFill>
                  <a:srgbClr val="A83033"/>
                </a:solidFill>
                <a:latin typeface="Marcellus"/>
                <a:ea typeface="Marcellus"/>
                <a:cs typeface="Marcellus"/>
              </a:defRPr>
            </a:lvl3pPr>
            <a:lvl4pPr>
              <a:buNone/>
              <a:defRPr sz="4000" b="0">
                <a:solidFill>
                  <a:srgbClr val="A83033"/>
                </a:solidFill>
                <a:latin typeface="Marcellus"/>
                <a:ea typeface="Marcellus"/>
                <a:cs typeface="Marcellus"/>
              </a:defRPr>
            </a:lvl4pPr>
            <a:lvl5pPr>
              <a:buNone/>
              <a:defRPr sz="4000" b="0">
                <a:solidFill>
                  <a:srgbClr val="A83033"/>
                </a:solidFill>
                <a:latin typeface="Marcellus"/>
                <a:ea typeface="Marcellus"/>
                <a:cs typeface="Marcellus"/>
              </a:defRPr>
            </a:lvl5pPr>
            <a:lvl6pPr>
              <a:buNone/>
              <a:defRPr sz="4000" b="0">
                <a:solidFill>
                  <a:srgbClr val="A83033"/>
                </a:solidFill>
                <a:latin typeface="Marcellus"/>
                <a:ea typeface="Marcellus"/>
                <a:cs typeface="Marcellus"/>
              </a:defRPr>
            </a:lvl6pPr>
            <a:lvl7pPr>
              <a:buNone/>
              <a:defRPr sz="4000" b="0">
                <a:solidFill>
                  <a:srgbClr val="A83033"/>
                </a:solidFill>
                <a:latin typeface="Marcellus"/>
                <a:ea typeface="Marcellus"/>
                <a:cs typeface="Marcellus"/>
              </a:defRPr>
            </a:lvl7pPr>
            <a:lvl8pPr>
              <a:buNone/>
              <a:defRPr sz="4000" b="0">
                <a:solidFill>
                  <a:srgbClr val="A83033"/>
                </a:solidFill>
                <a:latin typeface="Marcellus"/>
                <a:ea typeface="Marcellus"/>
                <a:cs typeface="Marcellus"/>
              </a:defRPr>
            </a:lvl8pPr>
            <a:lvl9pPr>
              <a:buNone/>
              <a:defRPr sz="4000" b="0">
                <a:solidFill>
                  <a:srgbClr val="A83033"/>
                </a:solidFill>
                <a:latin typeface="Marcellus"/>
                <a:ea typeface="Marcellus"/>
                <a:cs typeface="Marcellus"/>
              </a:defRPr>
            </a:lvl9pPr>
          </a:lstStyle>
          <a:p>
            <a:pPr>
              <a:buNone/>
              <a:defRPr sz="4000" b="0">
                <a:solidFill>
                  <a:srgbClr val="A83033"/>
                </a:solidFill>
                <a:latin typeface="Marcellus"/>
                <a:ea typeface="Marcellus"/>
                <a:cs typeface="Marcellus"/>
              </a:defRPr>
            </a:pPr>
            <a:r>
              <a:rPr sz="4000" b="0">
                <a:solidFill>
                  <a:srgbClr val="A83033"/>
                </a:solidFill>
                <a:latin typeface="Marcellus"/>
                <a:ea typeface="Marcellus"/>
                <a:cs typeface="Marcellus"/>
              </a:rPr>
              <a:t>Utilization, cost and energy</a:t>
            </a:r>
          </a:p>
        </p:txBody>
      </p:sp>
      <p:graphicFrame>
        <p:nvGraphicFramePr>
          <p:cNvPr id="108" name="Table 107">
            <a:extLst>
              <a:ext uri="{FF2B5EF4-FFF2-40B4-BE49-F238E27FC236}">
                <a16:creationId xmlns:a16="http://schemas.microsoft.com/office/drawing/2014/main" id="{231FB8E3-E155-4D3D-8360-304FA7C389B1}"/>
              </a:ext>
            </a:extLst>
          </p:cNvPr>
          <p:cNvGraphicFramePr/>
          <p:nvPr/>
        </p:nvGraphicFramePr>
        <p:xfrm>
          <a:off x="2238375" y="2190750"/>
          <a:ext cx="13982700" cy="3143252"/>
        </p:xfrm>
        <a:graphic>
          <a:graphicData uri="http://schemas.openxmlformats.org/drawingml/2006/table">
            <a:tbl>
              <a:tblPr/>
              <a:tblGrid>
                <a:gridCol w="371475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3333750">
                  <a:extLst>
                    <a:ext uri="{9D8B030D-6E8A-4147-A177-3AD203B41FA5}">
                      <a16:colId xmlns:a16="http://schemas.microsoft.com/office/drawing/2014/main" val="20002"/>
                    </a:ext>
                  </a:extLst>
                </a:gridCol>
                <a:gridCol w="3600450">
                  <a:extLst>
                    <a:ext uri="{9D8B030D-6E8A-4147-A177-3AD203B41FA5}">
                      <a16:colId xmlns:a16="http://schemas.microsoft.com/office/drawing/2014/main" val="20003"/>
                    </a:ext>
                  </a:extLst>
                </a:gridCol>
              </a:tblGrid>
              <a:tr h="785813">
                <a:tc>
                  <a:txBody>
                    <a:bodyPr/>
                    <a:lstStyle/>
                    <a:p>
                      <a:r>
                        <a:rPr sz="2700" b="1">
                          <a:solidFill>
                            <a:srgbClr val="FFFFFF"/>
                          </a:solidFill>
                          <a:latin typeface="Calibri"/>
                          <a:ea typeface="Calibri"/>
                          <a:cs typeface="Calibri"/>
                        </a:rPr>
                        <a:t>Periodic policy</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700" b="1">
                          <a:solidFill>
                            <a:srgbClr val="FFFFFF"/>
                          </a:solidFill>
                          <a:latin typeface="Calibri"/>
                          <a:ea typeface="Calibri"/>
                          <a:cs typeface="Calibri"/>
                        </a:rPr>
                        <a:t>CPU utilization</a:t>
                      </a:r>
                    </a:p>
                  </a:txBody>
                  <a:tcPr>
                    <a:lnL w="28575" cmpd="sng">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700" b="1">
                          <a:solidFill>
                            <a:srgbClr val="FFFFFF"/>
                          </a:solidFill>
                          <a:latin typeface="Calibri"/>
                          <a:ea typeface="Calibri"/>
                          <a:cs typeface="Calibri"/>
                        </a:rPr>
                        <a:t>Cost proxy</a:t>
                      </a:r>
                    </a:p>
                  </a:txBody>
                  <a:tcPr>
                    <a:lnL w="28575" cmpd="sng">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700" b="1">
                          <a:solidFill>
                            <a:srgbClr val="FFFFFF"/>
                          </a:solidFill>
                          <a:latin typeface="Calibri"/>
                          <a:ea typeface="Calibri"/>
                          <a:cs typeface="Calibri"/>
                        </a:rPr>
                        <a:t>Energy proxy</a:t>
                      </a:r>
                    </a:p>
                  </a:txBody>
                  <a:tcPr>
                    <a:lnL w="28575" cmpd="sng">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785813">
                <a:tc>
                  <a:txBody>
                    <a:bodyPr/>
                    <a:lstStyle/>
                    <a:p>
                      <a:r>
                        <a:rPr sz="2700" b="0">
                          <a:solidFill>
                            <a:srgbClr val="333333"/>
                          </a:solidFill>
                          <a:latin typeface="Calibri"/>
                          <a:ea typeface="Calibri"/>
                          <a:cs typeface="Calibri"/>
                        </a:rPr>
                        <a:t>Fixed</a:t>
                      </a:r>
                    </a:p>
                  </a:txBody>
                  <a:tcPr>
                    <a:lnL w="28575">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22.2%</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0.00400</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2.22 Wh</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8EBEB"/>
                    </a:solidFill>
                  </a:tcPr>
                </a:tc>
                <a:extLst>
                  <a:ext uri="{0D108BD9-81ED-4DB2-BD59-A6C34878D82A}">
                    <a16:rowId xmlns:a16="http://schemas.microsoft.com/office/drawing/2014/main" val="10001"/>
                  </a:ext>
                </a:extLst>
              </a:tr>
              <a:tr h="785813">
                <a:tc>
                  <a:txBody>
                    <a:bodyPr/>
                    <a:lstStyle/>
                    <a:p>
                      <a:r>
                        <a:rPr sz="2700" b="0">
                          <a:solidFill>
                            <a:srgbClr val="333333"/>
                          </a:solidFill>
                          <a:latin typeface="Calibri"/>
                          <a:ea typeface="Calibri"/>
                          <a:cs typeface="Calibri"/>
                        </a:rPr>
                        <a:t>Reactive</a:t>
                      </a:r>
                    </a:p>
                  </a:txBody>
                  <a:tcPr>
                    <a:lnL w="28575">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FFFFF"/>
                    </a:solidFill>
                  </a:tcPr>
                </a:tc>
                <a:tc>
                  <a:txBody>
                    <a:bodyPr/>
                    <a:lstStyle/>
                    <a:p>
                      <a:r>
                        <a:rPr sz="2700" b="0">
                          <a:solidFill>
                            <a:srgbClr val="333333"/>
                          </a:solidFill>
                          <a:latin typeface="Calibri"/>
                          <a:ea typeface="Calibri"/>
                          <a:cs typeface="Calibri"/>
                        </a:rPr>
                        <a:t>31.9%</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FFFFF"/>
                    </a:solidFill>
                  </a:tcPr>
                </a:tc>
                <a:tc>
                  <a:txBody>
                    <a:bodyPr/>
                    <a:lstStyle/>
                    <a:p>
                      <a:r>
                        <a:rPr sz="2700" b="0">
                          <a:solidFill>
                            <a:srgbClr val="333333"/>
                          </a:solidFill>
                          <a:latin typeface="Calibri"/>
                          <a:ea typeface="Calibri"/>
                          <a:cs typeface="Calibri"/>
                        </a:rPr>
                        <a:t>0.00277</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FFFFF"/>
                    </a:solidFill>
                  </a:tcPr>
                </a:tc>
                <a:tc>
                  <a:txBody>
                    <a:bodyPr/>
                    <a:lstStyle/>
                    <a:p>
                      <a:r>
                        <a:rPr sz="2700" b="0">
                          <a:solidFill>
                            <a:srgbClr val="333333"/>
                          </a:solidFill>
                          <a:latin typeface="Calibri"/>
                          <a:ea typeface="Calibri"/>
                          <a:cs typeface="Calibri"/>
                        </a:rPr>
                        <a:t>1.61 Wh</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FFFFF"/>
                    </a:solidFill>
                  </a:tcPr>
                </a:tc>
                <a:extLst>
                  <a:ext uri="{0D108BD9-81ED-4DB2-BD59-A6C34878D82A}">
                    <a16:rowId xmlns:a16="http://schemas.microsoft.com/office/drawing/2014/main" val="10002"/>
                  </a:ext>
                </a:extLst>
              </a:tr>
              <a:tr h="785813">
                <a:tc>
                  <a:txBody>
                    <a:bodyPr/>
                    <a:lstStyle/>
                    <a:p>
                      <a:r>
                        <a:rPr sz="2700" b="0">
                          <a:solidFill>
                            <a:srgbClr val="333333"/>
                          </a:solidFill>
                          <a:latin typeface="Calibri"/>
                          <a:ea typeface="Calibri"/>
                          <a:cs typeface="Calibri"/>
                        </a:rPr>
                        <a:t>Guarded</a:t>
                      </a:r>
                    </a:p>
                  </a:txBody>
                  <a:tcPr>
                    <a:lnL w="28575">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25.4%</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0.00357</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8EBEB"/>
                    </a:solidFill>
                  </a:tcPr>
                </a:tc>
                <a:tc>
                  <a:txBody>
                    <a:bodyPr/>
                    <a:lstStyle/>
                    <a:p>
                      <a:r>
                        <a:rPr sz="2700" b="0">
                          <a:solidFill>
                            <a:srgbClr val="333333"/>
                          </a:solidFill>
                          <a:latin typeface="Calibri"/>
                          <a:ea typeface="Calibri"/>
                          <a:cs typeface="Calibri"/>
                        </a:rPr>
                        <a:t>2.01 Wh</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8EBEB"/>
                    </a:solidFill>
                  </a:tcPr>
                </a:tc>
                <a:extLst>
                  <a:ext uri="{0D108BD9-81ED-4DB2-BD59-A6C34878D82A}">
                    <a16:rowId xmlns:a16="http://schemas.microsoft.com/office/drawing/2014/main" val="10003"/>
                  </a:ext>
                </a:extLst>
              </a:tr>
            </a:tbl>
          </a:graphicData>
        </a:graphic>
      </p:graphicFrame>
      <p:sp>
        <p:nvSpPr>
          <p:cNvPr id="109" name="Rectangle 108">
            <a:extLst>
              <a:ext uri="{FF2B5EF4-FFF2-40B4-BE49-F238E27FC236}">
                <a16:creationId xmlns:a16="http://schemas.microsoft.com/office/drawing/2014/main" id="{8414EC4C-6C80-4908-A5B3-D689F6E93379}"/>
              </a:ext>
            </a:extLst>
          </p:cNvPr>
          <p:cNvSpPr>
            <a:spLocks noGrp="1"/>
          </p:cNvSpPr>
          <p:nvPr/>
        </p:nvSpPr>
        <p:spPr>
          <a:xfrm>
            <a:off x="2238375" y="6000750"/>
            <a:ext cx="13982700" cy="1285875"/>
          </a:xfrm>
          <a:prstGeom prst="rect">
            <a:avLst/>
          </a:prstGeom>
          <a:noFill/>
          <a:ln w="0">
            <a:noFill/>
          </a:ln>
        </p:spPr>
        <p:txBody>
          <a:bodyPr lIns="0" tIns="0" rIns="0" bIns="0"/>
          <a:lstStyle>
            <a:defPPr>
              <a:defRPr sz="2700" b="0">
                <a:solidFill>
                  <a:srgbClr val="333333"/>
                </a:solidFill>
                <a:latin typeface="Calibri"/>
                <a:ea typeface="Calibri"/>
                <a:cs typeface="Calibri"/>
              </a:defRPr>
            </a:defPPr>
            <a:lvl1pPr>
              <a:buNone/>
              <a:defRPr sz="2700" b="0">
                <a:solidFill>
                  <a:srgbClr val="333333"/>
                </a:solidFill>
                <a:latin typeface="Calibri"/>
                <a:ea typeface="Calibri"/>
                <a:cs typeface="Calibri"/>
              </a:defRPr>
            </a:lvl1pPr>
            <a:lvl2pPr>
              <a:buNone/>
              <a:defRPr sz="2700" b="0">
                <a:solidFill>
                  <a:srgbClr val="333333"/>
                </a:solidFill>
                <a:latin typeface="Calibri"/>
                <a:ea typeface="Calibri"/>
                <a:cs typeface="Calibri"/>
              </a:defRPr>
            </a:lvl2pPr>
            <a:lvl3pPr>
              <a:buNone/>
              <a:defRPr sz="2700" b="0">
                <a:solidFill>
                  <a:srgbClr val="333333"/>
                </a:solidFill>
                <a:latin typeface="Calibri"/>
                <a:ea typeface="Calibri"/>
                <a:cs typeface="Calibri"/>
              </a:defRPr>
            </a:lvl3pPr>
            <a:lvl4pPr>
              <a:buNone/>
              <a:defRPr sz="2700" b="0">
                <a:solidFill>
                  <a:srgbClr val="333333"/>
                </a:solidFill>
                <a:latin typeface="Calibri"/>
                <a:ea typeface="Calibri"/>
                <a:cs typeface="Calibri"/>
              </a:defRPr>
            </a:lvl4pPr>
            <a:lvl5pPr>
              <a:buNone/>
              <a:defRPr sz="2700" b="0">
                <a:solidFill>
                  <a:srgbClr val="333333"/>
                </a:solidFill>
                <a:latin typeface="Calibri"/>
                <a:ea typeface="Calibri"/>
                <a:cs typeface="Calibri"/>
              </a:defRPr>
            </a:lvl5pPr>
            <a:lvl6pPr>
              <a:buNone/>
              <a:defRPr sz="2700" b="0">
                <a:solidFill>
                  <a:srgbClr val="333333"/>
                </a:solidFill>
                <a:latin typeface="Calibri"/>
                <a:ea typeface="Calibri"/>
                <a:cs typeface="Calibri"/>
              </a:defRPr>
            </a:lvl6pPr>
            <a:lvl7pPr>
              <a:buNone/>
              <a:defRPr sz="2700" b="0">
                <a:solidFill>
                  <a:srgbClr val="333333"/>
                </a:solidFill>
                <a:latin typeface="Calibri"/>
                <a:ea typeface="Calibri"/>
                <a:cs typeface="Calibri"/>
              </a:defRPr>
            </a:lvl7pPr>
            <a:lvl8pPr>
              <a:buNone/>
              <a:defRPr sz="2700" b="0">
                <a:solidFill>
                  <a:srgbClr val="333333"/>
                </a:solidFill>
                <a:latin typeface="Calibri"/>
                <a:ea typeface="Calibri"/>
                <a:cs typeface="Calibri"/>
              </a:defRPr>
            </a:lvl8pPr>
            <a:lvl9pPr>
              <a:buNone/>
              <a:defRPr sz="2700" b="0">
                <a:solidFill>
                  <a:srgbClr val="333333"/>
                </a:solidFill>
                <a:latin typeface="Calibri"/>
                <a:ea typeface="Calibri"/>
                <a:cs typeface="Calibri"/>
              </a:defRPr>
            </a:lvl9pPr>
          </a:lstStyle>
          <a:p>
            <a:pPr>
              <a:buNone/>
              <a:defRPr sz="2700" b="0">
                <a:solidFill>
                  <a:srgbClr val="333333"/>
                </a:solidFill>
                <a:latin typeface="Calibri"/>
                <a:ea typeface="Calibri"/>
                <a:cs typeface="Calibri"/>
              </a:defRPr>
            </a:pPr>
            <a:r>
              <a:rPr sz="2700" b="0">
                <a:solidFill>
                  <a:srgbClr val="333333"/>
                </a:solidFill>
                <a:latin typeface="Calibri"/>
                <a:ea typeface="Calibri"/>
                <a:cs typeface="Calibri"/>
              </a:rPr>
              <a:t>Cost = replica-hours × 0.02 illustrative units</a:t>
            </a:r>
          </a:p>
          <a:p>
            <a:pPr>
              <a:buNone/>
              <a:defRPr sz="2700" b="0">
                <a:solidFill>
                  <a:srgbClr val="333333"/>
                </a:solidFill>
                <a:latin typeface="Calibri"/>
                <a:ea typeface="Calibri"/>
                <a:cs typeface="Calibri"/>
              </a:defRPr>
            </a:pPr>
            <a:r>
              <a:rPr sz="2700" b="0">
                <a:solidFill>
                  <a:srgbClr val="333333"/>
                </a:solidFill>
                <a:latin typeface="Calibri"/>
                <a:ea typeface="Calibri"/>
                <a:cs typeface="Calibri"/>
              </a:rPr>
              <a:t>Power proxy = 10 W per worker + 20 W per measured CPU core</a:t>
            </a:r>
          </a:p>
        </p:txBody>
      </p:sp>
      <p:sp>
        <p:nvSpPr>
          <p:cNvPr id="110" name="Rectangle 109">
            <a:extLst>
              <a:ext uri="{FF2B5EF4-FFF2-40B4-BE49-F238E27FC236}">
                <a16:creationId xmlns:a16="http://schemas.microsoft.com/office/drawing/2014/main" id="{91D798F3-9576-45FD-ACA4-4789D525159E}"/>
              </a:ext>
            </a:extLst>
          </p:cNvPr>
          <p:cNvSpPr>
            <a:spLocks noGrp="1"/>
          </p:cNvSpPr>
          <p:nvPr/>
        </p:nvSpPr>
        <p:spPr>
          <a:xfrm>
            <a:off x="2238375" y="7524750"/>
            <a:ext cx="13982700" cy="904875"/>
          </a:xfrm>
          <a:prstGeom prst="rect">
            <a:avLst/>
          </a:prstGeom>
          <a:noFill/>
          <a:ln w="0">
            <a:noFill/>
          </a:ln>
        </p:spPr>
        <p:txBody>
          <a:bodyPr lIns="0" tIns="0" rIns="0" bIns="0"/>
          <a:lstStyle>
            <a:defPPr>
              <a:defRPr sz="2400" b="0">
                <a:solidFill>
                  <a:srgbClr val="A83033"/>
                </a:solidFill>
                <a:latin typeface="Calibri"/>
                <a:ea typeface="Calibri"/>
                <a:cs typeface="Calibri"/>
              </a:defRPr>
            </a:defPPr>
            <a:lvl1pPr>
              <a:buNone/>
              <a:defRPr sz="2400" b="0">
                <a:solidFill>
                  <a:srgbClr val="A83033"/>
                </a:solidFill>
                <a:latin typeface="Calibri"/>
                <a:ea typeface="Calibri"/>
                <a:cs typeface="Calibri"/>
              </a:defRPr>
            </a:lvl1pPr>
            <a:lvl2pPr>
              <a:buNone/>
              <a:defRPr sz="2400" b="0">
                <a:solidFill>
                  <a:srgbClr val="A83033"/>
                </a:solidFill>
                <a:latin typeface="Calibri"/>
                <a:ea typeface="Calibri"/>
                <a:cs typeface="Calibri"/>
              </a:defRPr>
            </a:lvl2pPr>
            <a:lvl3pPr>
              <a:buNone/>
              <a:defRPr sz="2400" b="0">
                <a:solidFill>
                  <a:srgbClr val="A83033"/>
                </a:solidFill>
                <a:latin typeface="Calibri"/>
                <a:ea typeface="Calibri"/>
                <a:cs typeface="Calibri"/>
              </a:defRPr>
            </a:lvl3pPr>
            <a:lvl4pPr>
              <a:buNone/>
              <a:defRPr sz="2400" b="0">
                <a:solidFill>
                  <a:srgbClr val="A83033"/>
                </a:solidFill>
                <a:latin typeface="Calibri"/>
                <a:ea typeface="Calibri"/>
                <a:cs typeface="Calibri"/>
              </a:defRPr>
            </a:lvl4pPr>
            <a:lvl5pPr>
              <a:buNone/>
              <a:defRPr sz="2400" b="0">
                <a:solidFill>
                  <a:srgbClr val="A83033"/>
                </a:solidFill>
                <a:latin typeface="Calibri"/>
                <a:ea typeface="Calibri"/>
                <a:cs typeface="Calibri"/>
              </a:defRPr>
            </a:lvl5pPr>
            <a:lvl6pPr>
              <a:buNone/>
              <a:defRPr sz="2400" b="0">
                <a:solidFill>
                  <a:srgbClr val="A83033"/>
                </a:solidFill>
                <a:latin typeface="Calibri"/>
                <a:ea typeface="Calibri"/>
                <a:cs typeface="Calibri"/>
              </a:defRPr>
            </a:lvl6pPr>
            <a:lvl7pPr>
              <a:buNone/>
              <a:defRPr sz="2400" b="0">
                <a:solidFill>
                  <a:srgbClr val="A83033"/>
                </a:solidFill>
                <a:latin typeface="Calibri"/>
                <a:ea typeface="Calibri"/>
                <a:cs typeface="Calibri"/>
              </a:defRPr>
            </a:lvl7pPr>
            <a:lvl8pPr>
              <a:buNone/>
              <a:defRPr sz="2400" b="0">
                <a:solidFill>
                  <a:srgbClr val="A83033"/>
                </a:solidFill>
                <a:latin typeface="Calibri"/>
                <a:ea typeface="Calibri"/>
                <a:cs typeface="Calibri"/>
              </a:defRPr>
            </a:lvl8pPr>
            <a:lvl9pPr>
              <a:buNone/>
              <a:defRPr sz="2400" b="0">
                <a:solidFill>
                  <a:srgbClr val="A83033"/>
                </a:solidFill>
                <a:latin typeface="Calibri"/>
                <a:ea typeface="Calibri"/>
                <a:cs typeface="Calibri"/>
              </a:defRPr>
            </a:lvl9pPr>
          </a:lstStyle>
          <a:p>
            <a:pPr>
              <a:buNone/>
              <a:defRPr sz="2400" b="0">
                <a:solidFill>
                  <a:srgbClr val="A83033"/>
                </a:solidFill>
                <a:latin typeface="Calibri"/>
                <a:ea typeface="Calibri"/>
                <a:cs typeface="Calibri"/>
              </a:defRPr>
            </a:pPr>
            <a:r>
              <a:rPr sz="2400" b="0">
                <a:solidFill>
                  <a:srgbClr val="A83033"/>
                </a:solidFill>
                <a:latin typeface="Calibri"/>
                <a:ea typeface="Calibri"/>
                <a:cs typeface="Calibri"/>
              </a:rPr>
              <a:t>CPU utilization is measured. Cost is illustrative. Energy integrates the assumed power over time.</a:t>
            </a:r>
          </a:p>
        </p:txBody>
      </p:sp>
      <p:sp>
        <p:nvSpPr>
          <p:cNvPr id="111" name="Rectangle 110">
            <a:extLst>
              <a:ext uri="{FF2B5EF4-FFF2-40B4-BE49-F238E27FC236}">
                <a16:creationId xmlns:a16="http://schemas.microsoft.com/office/drawing/2014/main" id="{17DCA90A-5A89-4D33-8710-86BDF85A5B09}"/>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13 / 18</a:t>
            </a:r>
          </a:p>
        </p:txBody>
      </p:sp>
    </p:spTree>
    <p:extLst>
      <p:ext uri="{BB962C8B-B14F-4D97-AF65-F5344CB8AC3E}">
        <p14:creationId xmlns:p14="http://schemas.microsoft.com/office/powerpoint/2010/main" val="1518820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3E903A84-9025-457D-B247-1ADAA714129E}"/>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buNone/>
              <a:defRPr sz="4000" b="0">
                <a:solidFill>
                  <a:srgbClr val="A83033"/>
                </a:solidFill>
                <a:latin typeface="Marcellus"/>
                <a:ea typeface="Marcellus"/>
                <a:cs typeface="Marcellus"/>
              </a:defRPr>
            </a:lvl1pPr>
            <a:lvl2pPr>
              <a:buNone/>
              <a:defRPr sz="4000" b="0">
                <a:solidFill>
                  <a:srgbClr val="A83033"/>
                </a:solidFill>
                <a:latin typeface="Marcellus"/>
                <a:ea typeface="Marcellus"/>
                <a:cs typeface="Marcellus"/>
              </a:defRPr>
            </a:lvl2pPr>
            <a:lvl3pPr>
              <a:buNone/>
              <a:defRPr sz="4000" b="0">
                <a:solidFill>
                  <a:srgbClr val="A83033"/>
                </a:solidFill>
                <a:latin typeface="Marcellus"/>
                <a:ea typeface="Marcellus"/>
                <a:cs typeface="Marcellus"/>
              </a:defRPr>
            </a:lvl3pPr>
            <a:lvl4pPr>
              <a:buNone/>
              <a:defRPr sz="4000" b="0">
                <a:solidFill>
                  <a:srgbClr val="A83033"/>
                </a:solidFill>
                <a:latin typeface="Marcellus"/>
                <a:ea typeface="Marcellus"/>
                <a:cs typeface="Marcellus"/>
              </a:defRPr>
            </a:lvl4pPr>
            <a:lvl5pPr>
              <a:buNone/>
              <a:defRPr sz="4000" b="0">
                <a:solidFill>
                  <a:srgbClr val="A83033"/>
                </a:solidFill>
                <a:latin typeface="Marcellus"/>
                <a:ea typeface="Marcellus"/>
                <a:cs typeface="Marcellus"/>
              </a:defRPr>
            </a:lvl5pPr>
            <a:lvl6pPr>
              <a:buNone/>
              <a:defRPr sz="4000" b="0">
                <a:solidFill>
                  <a:srgbClr val="A83033"/>
                </a:solidFill>
                <a:latin typeface="Marcellus"/>
                <a:ea typeface="Marcellus"/>
                <a:cs typeface="Marcellus"/>
              </a:defRPr>
            </a:lvl6pPr>
            <a:lvl7pPr>
              <a:buNone/>
              <a:defRPr sz="4000" b="0">
                <a:solidFill>
                  <a:srgbClr val="A83033"/>
                </a:solidFill>
                <a:latin typeface="Marcellus"/>
                <a:ea typeface="Marcellus"/>
                <a:cs typeface="Marcellus"/>
              </a:defRPr>
            </a:lvl7pPr>
            <a:lvl8pPr>
              <a:buNone/>
              <a:defRPr sz="4000" b="0">
                <a:solidFill>
                  <a:srgbClr val="A83033"/>
                </a:solidFill>
                <a:latin typeface="Marcellus"/>
                <a:ea typeface="Marcellus"/>
                <a:cs typeface="Marcellus"/>
              </a:defRPr>
            </a:lvl8pPr>
            <a:lvl9pPr>
              <a:buNone/>
              <a:defRPr sz="4000" b="0">
                <a:solidFill>
                  <a:srgbClr val="A83033"/>
                </a:solidFill>
                <a:latin typeface="Marcellus"/>
                <a:ea typeface="Marcellus"/>
                <a:cs typeface="Marcellus"/>
              </a:defRPr>
            </a:lvl9pPr>
          </a:lstStyle>
          <a:p>
            <a:pPr>
              <a:buNone/>
              <a:defRPr sz="4000" b="0">
                <a:solidFill>
                  <a:srgbClr val="A83033"/>
                </a:solidFill>
                <a:latin typeface="Marcellus"/>
                <a:ea typeface="Marcellus"/>
                <a:cs typeface="Marcellus"/>
              </a:defRPr>
            </a:pPr>
            <a:r>
              <a:rPr sz="4000" b="0">
                <a:solidFill>
                  <a:srgbClr val="A83033"/>
                </a:solidFill>
                <a:latin typeface="Marcellus"/>
                <a:ea typeface="Marcellus"/>
                <a:cs typeface="Marcellus"/>
              </a:rPr>
              <a:t>Fault test: plain prediction under zero forecasts</a:t>
            </a:r>
          </a:p>
        </p:txBody>
      </p:sp>
      <p:pic>
        <p:nvPicPr>
          <p:cNvPr id="108" name="Picture 107">
            <a:extLst>
              <a:ext uri="{FF2B5EF4-FFF2-40B4-BE49-F238E27FC236}">
                <a16:creationId xmlns:a16="http://schemas.microsoft.com/office/drawing/2014/main" id="{4232F6C7-5339-48D9-8AA1-FE375F06D5DA}"/>
              </a:ext>
            </a:extLst>
          </p:cNvPr>
          <p:cNvPicPr>
            <a:picLocks noChangeAspect="1"/>
          </p:cNvPicPr>
          <p:nvPr/>
        </p:nvPicPr>
        <p:blipFill>
          <a:blip r:embed="rId5"/>
          <a:stretch/>
        </p:blipFill>
        <p:spPr>
          <a:xfrm>
            <a:off x="2238375" y="2050247"/>
            <a:ext cx="10382250" cy="5843606"/>
          </a:xfrm>
          <a:prstGeom prst="rect">
            <a:avLst/>
          </a:prstGeom>
        </p:spPr>
      </p:pic>
      <p:sp>
        <p:nvSpPr>
          <p:cNvPr id="109" name="Rectangle 108">
            <a:extLst>
              <a:ext uri="{FF2B5EF4-FFF2-40B4-BE49-F238E27FC236}">
                <a16:creationId xmlns:a16="http://schemas.microsoft.com/office/drawing/2014/main" id="{E40A9792-AB54-4139-A71C-A3AAAC9EAAE4}"/>
              </a:ext>
            </a:extLst>
          </p:cNvPr>
          <p:cNvSpPr>
            <a:spLocks noGrp="1"/>
          </p:cNvSpPr>
          <p:nvPr/>
        </p:nvSpPr>
        <p:spPr>
          <a:xfrm>
            <a:off x="12954000" y="2190750"/>
            <a:ext cx="3267075" cy="1047750"/>
          </a:xfrm>
          <a:prstGeom prst="rect">
            <a:avLst/>
          </a:prstGeom>
          <a:noFill/>
          <a:ln w="0">
            <a:noFill/>
          </a:ln>
        </p:spPr>
        <p:txBody>
          <a:bodyPr lIns="0" tIns="0" rIns="0" bIns="0"/>
          <a:lstStyle>
            <a:defPPr>
              <a:defRPr sz="2700" b="1">
                <a:solidFill>
                  <a:srgbClr val="A83033"/>
                </a:solidFill>
                <a:latin typeface="Calibri"/>
                <a:ea typeface="Calibri"/>
                <a:cs typeface="Calibri"/>
              </a:defRPr>
            </a:defPPr>
            <a:lvl1pPr>
              <a:buNone/>
              <a:defRPr sz="2700" b="1">
                <a:solidFill>
                  <a:srgbClr val="A83033"/>
                </a:solidFill>
                <a:latin typeface="Calibri"/>
                <a:ea typeface="Calibri"/>
                <a:cs typeface="Calibri"/>
              </a:defRPr>
            </a:lvl1pPr>
            <a:lvl2pPr>
              <a:buNone/>
              <a:defRPr sz="2700" b="1">
                <a:solidFill>
                  <a:srgbClr val="A83033"/>
                </a:solidFill>
                <a:latin typeface="Calibri"/>
                <a:ea typeface="Calibri"/>
                <a:cs typeface="Calibri"/>
              </a:defRPr>
            </a:lvl2pPr>
            <a:lvl3pPr>
              <a:buNone/>
              <a:defRPr sz="2700" b="1">
                <a:solidFill>
                  <a:srgbClr val="A83033"/>
                </a:solidFill>
                <a:latin typeface="Calibri"/>
                <a:ea typeface="Calibri"/>
                <a:cs typeface="Calibri"/>
              </a:defRPr>
            </a:lvl3pPr>
            <a:lvl4pPr>
              <a:buNone/>
              <a:defRPr sz="2700" b="1">
                <a:solidFill>
                  <a:srgbClr val="A83033"/>
                </a:solidFill>
                <a:latin typeface="Calibri"/>
                <a:ea typeface="Calibri"/>
                <a:cs typeface="Calibri"/>
              </a:defRPr>
            </a:lvl4pPr>
            <a:lvl5pPr>
              <a:buNone/>
              <a:defRPr sz="2700" b="1">
                <a:solidFill>
                  <a:srgbClr val="A83033"/>
                </a:solidFill>
                <a:latin typeface="Calibri"/>
                <a:ea typeface="Calibri"/>
                <a:cs typeface="Calibri"/>
              </a:defRPr>
            </a:lvl5pPr>
            <a:lvl6pPr>
              <a:buNone/>
              <a:defRPr sz="2700" b="1">
                <a:solidFill>
                  <a:srgbClr val="A83033"/>
                </a:solidFill>
                <a:latin typeface="Calibri"/>
                <a:ea typeface="Calibri"/>
                <a:cs typeface="Calibri"/>
              </a:defRPr>
            </a:lvl6pPr>
            <a:lvl7pPr>
              <a:buNone/>
              <a:defRPr sz="2700" b="1">
                <a:solidFill>
                  <a:srgbClr val="A83033"/>
                </a:solidFill>
                <a:latin typeface="Calibri"/>
                <a:ea typeface="Calibri"/>
                <a:cs typeface="Calibri"/>
              </a:defRPr>
            </a:lvl7pPr>
            <a:lvl8pPr>
              <a:buNone/>
              <a:defRPr sz="2700" b="1">
                <a:solidFill>
                  <a:srgbClr val="A83033"/>
                </a:solidFill>
                <a:latin typeface="Calibri"/>
                <a:ea typeface="Calibri"/>
                <a:cs typeface="Calibri"/>
              </a:defRPr>
            </a:lvl8pPr>
            <a:lvl9pPr>
              <a:buNone/>
              <a:defRPr sz="2700" b="1">
                <a:solidFill>
                  <a:srgbClr val="A83033"/>
                </a:solidFill>
                <a:latin typeface="Calibri"/>
                <a:ea typeface="Calibri"/>
                <a:cs typeface="Calibri"/>
              </a:defRPr>
            </a:lvl9pPr>
          </a:lstStyle>
          <a:p>
            <a:pPr>
              <a:buNone/>
              <a:defRPr sz="2700" b="1">
                <a:solidFill>
                  <a:srgbClr val="A83033"/>
                </a:solidFill>
                <a:latin typeface="Calibri"/>
                <a:ea typeface="Calibri"/>
                <a:cs typeface="Calibri"/>
              </a:defRPr>
            </a:pPr>
            <a:r>
              <a:rPr sz="2700" b="1">
                <a:solidFill>
                  <a:srgbClr val="A83033"/>
                </a:solidFill>
                <a:latin typeface="Calibri"/>
                <a:ea typeface="Calibri"/>
                <a:cs typeface="Calibri"/>
              </a:rPr>
              <a:t>13.35% failures</a:t>
            </a:r>
          </a:p>
          <a:p>
            <a:pPr>
              <a:buNone/>
              <a:defRPr sz="2700" b="1">
                <a:solidFill>
                  <a:srgbClr val="A83033"/>
                </a:solidFill>
                <a:latin typeface="Calibri"/>
                <a:ea typeface="Calibri"/>
                <a:cs typeface="Calibri"/>
              </a:defRPr>
            </a:pPr>
            <a:r>
              <a:rPr sz="2700" b="1">
                <a:solidFill>
                  <a:srgbClr val="A83033"/>
                </a:solidFill>
                <a:latin typeface="Calibri"/>
                <a:ea typeface="Calibri"/>
                <a:cs typeface="Calibri"/>
              </a:rPr>
              <a:t>1,547.7 ms run p95</a:t>
            </a:r>
          </a:p>
        </p:txBody>
      </p:sp>
      <p:sp>
        <p:nvSpPr>
          <p:cNvPr id="110" name="Rectangle 109">
            <a:extLst>
              <a:ext uri="{FF2B5EF4-FFF2-40B4-BE49-F238E27FC236}">
                <a16:creationId xmlns:a16="http://schemas.microsoft.com/office/drawing/2014/main" id="{0DDFFF39-8687-4CE8-8C1A-03E514B7958C}"/>
              </a:ext>
            </a:extLst>
          </p:cNvPr>
          <p:cNvSpPr>
            <a:spLocks noGrp="1"/>
          </p:cNvSpPr>
          <p:nvPr/>
        </p:nvSpPr>
        <p:spPr>
          <a:xfrm>
            <a:off x="12954000" y="3429000"/>
            <a:ext cx="3267075" cy="4095750"/>
          </a:xfrm>
          <a:prstGeom prst="rect">
            <a:avLst/>
          </a:prstGeom>
          <a:noFill/>
          <a:ln w="0">
            <a:noFill/>
          </a:ln>
        </p:spPr>
        <p:txBody>
          <a:bodyPr lIns="0" tIns="0" rIns="0" bIns="0"/>
          <a:lstStyle>
            <a:defPPr>
              <a:defRPr sz="2475" b="0">
                <a:solidFill>
                  <a:srgbClr val="333333"/>
                </a:solidFill>
                <a:latin typeface="Calibri"/>
                <a:ea typeface="Calibri"/>
                <a:cs typeface="Calibri"/>
              </a:defRPr>
            </a:defPPr>
            <a:lvl1pPr>
              <a:buNone/>
              <a:defRPr sz="2475" b="0">
                <a:solidFill>
                  <a:srgbClr val="333333"/>
                </a:solidFill>
                <a:latin typeface="Calibri"/>
                <a:ea typeface="Calibri"/>
                <a:cs typeface="Calibri"/>
              </a:defRPr>
            </a:lvl1pPr>
            <a:lvl2pPr>
              <a:buNone/>
              <a:defRPr sz="2475" b="0">
                <a:solidFill>
                  <a:srgbClr val="333333"/>
                </a:solidFill>
                <a:latin typeface="Calibri"/>
                <a:ea typeface="Calibri"/>
                <a:cs typeface="Calibri"/>
              </a:defRPr>
            </a:lvl2pPr>
            <a:lvl3pPr>
              <a:buNone/>
              <a:defRPr sz="2475" b="0">
                <a:solidFill>
                  <a:srgbClr val="333333"/>
                </a:solidFill>
                <a:latin typeface="Calibri"/>
                <a:ea typeface="Calibri"/>
                <a:cs typeface="Calibri"/>
              </a:defRPr>
            </a:lvl3pPr>
            <a:lvl4pPr>
              <a:buNone/>
              <a:defRPr sz="2475" b="0">
                <a:solidFill>
                  <a:srgbClr val="333333"/>
                </a:solidFill>
                <a:latin typeface="Calibri"/>
                <a:ea typeface="Calibri"/>
                <a:cs typeface="Calibri"/>
              </a:defRPr>
            </a:lvl4pPr>
            <a:lvl5pPr>
              <a:buNone/>
              <a:defRPr sz="2475" b="0">
                <a:solidFill>
                  <a:srgbClr val="333333"/>
                </a:solidFill>
                <a:latin typeface="Calibri"/>
                <a:ea typeface="Calibri"/>
                <a:cs typeface="Calibri"/>
              </a:defRPr>
            </a:lvl5pPr>
            <a:lvl6pPr>
              <a:buNone/>
              <a:defRPr sz="2475" b="0">
                <a:solidFill>
                  <a:srgbClr val="333333"/>
                </a:solidFill>
                <a:latin typeface="Calibri"/>
                <a:ea typeface="Calibri"/>
                <a:cs typeface="Calibri"/>
              </a:defRPr>
            </a:lvl6pPr>
            <a:lvl7pPr>
              <a:buNone/>
              <a:defRPr sz="2475" b="0">
                <a:solidFill>
                  <a:srgbClr val="333333"/>
                </a:solidFill>
                <a:latin typeface="Calibri"/>
                <a:ea typeface="Calibri"/>
                <a:cs typeface="Calibri"/>
              </a:defRPr>
            </a:lvl7pPr>
            <a:lvl8pPr>
              <a:buNone/>
              <a:defRPr sz="2475" b="0">
                <a:solidFill>
                  <a:srgbClr val="333333"/>
                </a:solidFill>
                <a:latin typeface="Calibri"/>
                <a:ea typeface="Calibri"/>
                <a:cs typeface="Calibri"/>
              </a:defRPr>
            </a:lvl8pPr>
            <a:lvl9pPr>
              <a:buNone/>
              <a:defRPr sz="2475" b="0">
                <a:solidFill>
                  <a:srgbClr val="333333"/>
                </a:solidFill>
                <a:latin typeface="Calibri"/>
                <a:ea typeface="Calibri"/>
                <a:cs typeface="Calibri"/>
              </a:defRPr>
            </a:lvl9pPr>
          </a:lstStyle>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The predictor deliberately returns zero.</a:t>
            </a:r>
          </a:p>
          <a:p>
            <a:endParaRPr sz="2475" b="0">
              <a:solidFill>
                <a:srgbClr val="333333"/>
              </a:solidFill>
              <a:latin typeface="Calibri"/>
              <a:ea typeface="Calibri"/>
              <a:cs typeface="Calibri"/>
            </a:endParaRPr>
          </a:p>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Plain prediction removes capacity despite rising demand.</a:t>
            </a:r>
          </a:p>
          <a:p>
            <a:endParaRPr sz="2475" b="0">
              <a:solidFill>
                <a:srgbClr val="333333"/>
              </a:solidFill>
              <a:latin typeface="Calibri"/>
              <a:ea typeface="Calibri"/>
              <a:cs typeface="Calibri"/>
            </a:endParaRPr>
          </a:p>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The screenshot shows one overloaded window.</a:t>
            </a:r>
          </a:p>
        </p:txBody>
      </p:sp>
      <p:sp>
        <p:nvSpPr>
          <p:cNvPr id="111" name="Rectangle 110">
            <a:extLst>
              <a:ext uri="{FF2B5EF4-FFF2-40B4-BE49-F238E27FC236}">
                <a16:creationId xmlns:a16="http://schemas.microsoft.com/office/drawing/2014/main" id="{CFE084EE-A472-45F1-BDA5-0C7ACC5857E6}"/>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14 / 18</a:t>
            </a:r>
          </a:p>
        </p:txBody>
      </p:sp>
    </p:spTree>
    <p:extLst>
      <p:ext uri="{BB962C8B-B14F-4D97-AF65-F5344CB8AC3E}">
        <p14:creationId xmlns:p14="http://schemas.microsoft.com/office/powerpoint/2010/main" val="1518820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E6ADCB40-6DEE-4187-8812-B4DE85576717}"/>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buNone/>
              <a:defRPr sz="4000" b="0">
                <a:solidFill>
                  <a:srgbClr val="A83033"/>
                </a:solidFill>
                <a:latin typeface="Marcellus"/>
                <a:ea typeface="Marcellus"/>
                <a:cs typeface="Marcellus"/>
              </a:defRPr>
            </a:lvl1pPr>
            <a:lvl2pPr>
              <a:buNone/>
              <a:defRPr sz="4000" b="0">
                <a:solidFill>
                  <a:srgbClr val="A83033"/>
                </a:solidFill>
                <a:latin typeface="Marcellus"/>
                <a:ea typeface="Marcellus"/>
                <a:cs typeface="Marcellus"/>
              </a:defRPr>
            </a:lvl2pPr>
            <a:lvl3pPr>
              <a:buNone/>
              <a:defRPr sz="4000" b="0">
                <a:solidFill>
                  <a:srgbClr val="A83033"/>
                </a:solidFill>
                <a:latin typeface="Marcellus"/>
                <a:ea typeface="Marcellus"/>
                <a:cs typeface="Marcellus"/>
              </a:defRPr>
            </a:lvl3pPr>
            <a:lvl4pPr>
              <a:buNone/>
              <a:defRPr sz="4000" b="0">
                <a:solidFill>
                  <a:srgbClr val="A83033"/>
                </a:solidFill>
                <a:latin typeface="Marcellus"/>
                <a:ea typeface="Marcellus"/>
                <a:cs typeface="Marcellus"/>
              </a:defRPr>
            </a:lvl4pPr>
            <a:lvl5pPr>
              <a:buNone/>
              <a:defRPr sz="4000" b="0">
                <a:solidFill>
                  <a:srgbClr val="A83033"/>
                </a:solidFill>
                <a:latin typeface="Marcellus"/>
                <a:ea typeface="Marcellus"/>
                <a:cs typeface="Marcellus"/>
              </a:defRPr>
            </a:lvl5pPr>
            <a:lvl6pPr>
              <a:buNone/>
              <a:defRPr sz="4000" b="0">
                <a:solidFill>
                  <a:srgbClr val="A83033"/>
                </a:solidFill>
                <a:latin typeface="Marcellus"/>
                <a:ea typeface="Marcellus"/>
                <a:cs typeface="Marcellus"/>
              </a:defRPr>
            </a:lvl6pPr>
            <a:lvl7pPr>
              <a:buNone/>
              <a:defRPr sz="4000" b="0">
                <a:solidFill>
                  <a:srgbClr val="A83033"/>
                </a:solidFill>
                <a:latin typeface="Marcellus"/>
                <a:ea typeface="Marcellus"/>
                <a:cs typeface="Marcellus"/>
              </a:defRPr>
            </a:lvl7pPr>
            <a:lvl8pPr>
              <a:buNone/>
              <a:defRPr sz="4000" b="0">
                <a:solidFill>
                  <a:srgbClr val="A83033"/>
                </a:solidFill>
                <a:latin typeface="Marcellus"/>
                <a:ea typeface="Marcellus"/>
                <a:cs typeface="Marcellus"/>
              </a:defRPr>
            </a:lvl8pPr>
            <a:lvl9pPr>
              <a:buNone/>
              <a:defRPr sz="4000" b="0">
                <a:solidFill>
                  <a:srgbClr val="A83033"/>
                </a:solidFill>
                <a:latin typeface="Marcellus"/>
                <a:ea typeface="Marcellus"/>
                <a:cs typeface="Marcellus"/>
              </a:defRPr>
            </a:lvl9pPr>
          </a:lstStyle>
          <a:p>
            <a:pPr>
              <a:buNone/>
              <a:defRPr sz="4000" b="0">
                <a:solidFill>
                  <a:srgbClr val="A83033"/>
                </a:solidFill>
                <a:latin typeface="Marcellus"/>
                <a:ea typeface="Marcellus"/>
                <a:cs typeface="Marcellus"/>
              </a:defRPr>
            </a:pPr>
            <a:r>
              <a:rPr sz="4000" b="0">
                <a:solidFill>
                  <a:srgbClr val="A83033"/>
                </a:solidFill>
                <a:latin typeface="Marcellus"/>
                <a:ea typeface="Marcellus"/>
                <a:cs typeface="Marcellus"/>
              </a:rPr>
              <a:t>Fault test: recovery despite a zero forecast</a:t>
            </a:r>
          </a:p>
        </p:txBody>
      </p:sp>
      <p:pic>
        <p:nvPicPr>
          <p:cNvPr id="108" name="Picture 107">
            <a:extLst>
              <a:ext uri="{FF2B5EF4-FFF2-40B4-BE49-F238E27FC236}">
                <a16:creationId xmlns:a16="http://schemas.microsoft.com/office/drawing/2014/main" id="{E3B878BA-59CA-471B-9860-D4E743814D8C}"/>
              </a:ext>
            </a:extLst>
          </p:cNvPr>
          <p:cNvPicPr>
            <a:picLocks noChangeAspect="1"/>
          </p:cNvPicPr>
          <p:nvPr/>
        </p:nvPicPr>
        <p:blipFill>
          <a:blip r:embed="rId5"/>
          <a:stretch/>
        </p:blipFill>
        <p:spPr>
          <a:xfrm>
            <a:off x="2238375" y="2050247"/>
            <a:ext cx="10382250" cy="5843606"/>
          </a:xfrm>
          <a:prstGeom prst="rect">
            <a:avLst/>
          </a:prstGeom>
        </p:spPr>
      </p:pic>
      <p:sp>
        <p:nvSpPr>
          <p:cNvPr id="109" name="Rectangle 108">
            <a:extLst>
              <a:ext uri="{FF2B5EF4-FFF2-40B4-BE49-F238E27FC236}">
                <a16:creationId xmlns:a16="http://schemas.microsoft.com/office/drawing/2014/main" id="{82E18F63-1BBE-4486-87B7-0E4227C886B1}"/>
              </a:ext>
            </a:extLst>
          </p:cNvPr>
          <p:cNvSpPr>
            <a:spLocks noGrp="1"/>
          </p:cNvSpPr>
          <p:nvPr/>
        </p:nvSpPr>
        <p:spPr>
          <a:xfrm>
            <a:off x="12954000" y="2190750"/>
            <a:ext cx="3267075" cy="1047750"/>
          </a:xfrm>
          <a:prstGeom prst="rect">
            <a:avLst/>
          </a:prstGeom>
          <a:noFill/>
          <a:ln w="0">
            <a:noFill/>
          </a:ln>
        </p:spPr>
        <p:txBody>
          <a:bodyPr lIns="0" tIns="0" rIns="0" bIns="0"/>
          <a:lstStyle>
            <a:defPPr>
              <a:defRPr sz="2700" b="1">
                <a:solidFill>
                  <a:srgbClr val="A83033"/>
                </a:solidFill>
                <a:latin typeface="Calibri"/>
                <a:ea typeface="Calibri"/>
                <a:cs typeface="Calibri"/>
              </a:defRPr>
            </a:defPPr>
            <a:lvl1pPr>
              <a:buNone/>
              <a:defRPr sz="2700" b="1">
                <a:solidFill>
                  <a:srgbClr val="A83033"/>
                </a:solidFill>
                <a:latin typeface="Calibri"/>
                <a:ea typeface="Calibri"/>
                <a:cs typeface="Calibri"/>
              </a:defRPr>
            </a:lvl1pPr>
            <a:lvl2pPr>
              <a:buNone/>
              <a:defRPr sz="2700" b="1">
                <a:solidFill>
                  <a:srgbClr val="A83033"/>
                </a:solidFill>
                <a:latin typeface="Calibri"/>
                <a:ea typeface="Calibri"/>
                <a:cs typeface="Calibri"/>
              </a:defRPr>
            </a:lvl2pPr>
            <a:lvl3pPr>
              <a:buNone/>
              <a:defRPr sz="2700" b="1">
                <a:solidFill>
                  <a:srgbClr val="A83033"/>
                </a:solidFill>
                <a:latin typeface="Calibri"/>
                <a:ea typeface="Calibri"/>
                <a:cs typeface="Calibri"/>
              </a:defRPr>
            </a:lvl3pPr>
            <a:lvl4pPr>
              <a:buNone/>
              <a:defRPr sz="2700" b="1">
                <a:solidFill>
                  <a:srgbClr val="A83033"/>
                </a:solidFill>
                <a:latin typeface="Calibri"/>
                <a:ea typeface="Calibri"/>
                <a:cs typeface="Calibri"/>
              </a:defRPr>
            </a:lvl4pPr>
            <a:lvl5pPr>
              <a:buNone/>
              <a:defRPr sz="2700" b="1">
                <a:solidFill>
                  <a:srgbClr val="A83033"/>
                </a:solidFill>
                <a:latin typeface="Calibri"/>
                <a:ea typeface="Calibri"/>
                <a:cs typeface="Calibri"/>
              </a:defRPr>
            </a:lvl5pPr>
            <a:lvl6pPr>
              <a:buNone/>
              <a:defRPr sz="2700" b="1">
                <a:solidFill>
                  <a:srgbClr val="A83033"/>
                </a:solidFill>
                <a:latin typeface="Calibri"/>
                <a:ea typeface="Calibri"/>
                <a:cs typeface="Calibri"/>
              </a:defRPr>
            </a:lvl6pPr>
            <a:lvl7pPr>
              <a:buNone/>
              <a:defRPr sz="2700" b="1">
                <a:solidFill>
                  <a:srgbClr val="A83033"/>
                </a:solidFill>
                <a:latin typeface="Calibri"/>
                <a:ea typeface="Calibri"/>
                <a:cs typeface="Calibri"/>
              </a:defRPr>
            </a:lvl7pPr>
            <a:lvl8pPr>
              <a:buNone/>
              <a:defRPr sz="2700" b="1">
                <a:solidFill>
                  <a:srgbClr val="A83033"/>
                </a:solidFill>
                <a:latin typeface="Calibri"/>
                <a:ea typeface="Calibri"/>
                <a:cs typeface="Calibri"/>
              </a:defRPr>
            </a:lvl8pPr>
            <a:lvl9pPr>
              <a:buNone/>
              <a:defRPr sz="2700" b="1">
                <a:solidFill>
                  <a:srgbClr val="A83033"/>
                </a:solidFill>
                <a:latin typeface="Calibri"/>
                <a:ea typeface="Calibri"/>
                <a:cs typeface="Calibri"/>
              </a:defRPr>
            </a:lvl9pPr>
          </a:lstStyle>
          <a:p>
            <a:pPr>
              <a:buNone/>
              <a:defRPr sz="2700" b="1">
                <a:solidFill>
                  <a:srgbClr val="A83033"/>
                </a:solidFill>
                <a:latin typeface="Calibri"/>
                <a:ea typeface="Calibri"/>
                <a:cs typeface="Calibri"/>
              </a:defRPr>
            </a:pPr>
            <a:r>
              <a:rPr sz="2700" b="1">
                <a:solidFill>
                  <a:srgbClr val="A83033"/>
                </a:solidFill>
                <a:latin typeface="Calibri"/>
                <a:ea typeface="Calibri"/>
                <a:cs typeface="Calibri"/>
              </a:rPr>
              <a:t>0% failures</a:t>
            </a:r>
          </a:p>
          <a:p>
            <a:pPr>
              <a:buNone/>
              <a:defRPr sz="2700" b="1">
                <a:solidFill>
                  <a:srgbClr val="A83033"/>
                </a:solidFill>
                <a:latin typeface="Calibri"/>
                <a:ea typeface="Calibri"/>
                <a:cs typeface="Calibri"/>
              </a:defRPr>
            </a:pPr>
            <a:r>
              <a:rPr sz="2700" b="1">
                <a:solidFill>
                  <a:srgbClr val="A83033"/>
                </a:solidFill>
                <a:latin typeface="Calibri"/>
                <a:ea typeface="Calibri"/>
                <a:cs typeface="Calibri"/>
              </a:rPr>
              <a:t>215.1 ms run p95</a:t>
            </a:r>
          </a:p>
        </p:txBody>
      </p:sp>
      <p:sp>
        <p:nvSpPr>
          <p:cNvPr id="110" name="Rectangle 109">
            <a:extLst>
              <a:ext uri="{FF2B5EF4-FFF2-40B4-BE49-F238E27FC236}">
                <a16:creationId xmlns:a16="http://schemas.microsoft.com/office/drawing/2014/main" id="{F6D54A83-0EDC-40CF-B927-731168F68573}"/>
              </a:ext>
            </a:extLst>
          </p:cNvPr>
          <p:cNvSpPr>
            <a:spLocks noGrp="1"/>
          </p:cNvSpPr>
          <p:nvPr/>
        </p:nvSpPr>
        <p:spPr>
          <a:xfrm>
            <a:off x="12954000" y="3429000"/>
            <a:ext cx="3267075" cy="4095750"/>
          </a:xfrm>
          <a:prstGeom prst="rect">
            <a:avLst/>
          </a:prstGeom>
          <a:noFill/>
          <a:ln w="0">
            <a:noFill/>
          </a:ln>
        </p:spPr>
        <p:txBody>
          <a:bodyPr lIns="0" tIns="0" rIns="0" bIns="0"/>
          <a:lstStyle>
            <a:defPPr>
              <a:defRPr sz="2475" b="0">
                <a:solidFill>
                  <a:srgbClr val="333333"/>
                </a:solidFill>
                <a:latin typeface="Calibri"/>
                <a:ea typeface="Calibri"/>
                <a:cs typeface="Calibri"/>
              </a:defRPr>
            </a:defPPr>
            <a:lvl1pPr>
              <a:buNone/>
              <a:defRPr sz="2475" b="0">
                <a:solidFill>
                  <a:srgbClr val="333333"/>
                </a:solidFill>
                <a:latin typeface="Calibri"/>
                <a:ea typeface="Calibri"/>
                <a:cs typeface="Calibri"/>
              </a:defRPr>
            </a:lvl1pPr>
            <a:lvl2pPr>
              <a:buNone/>
              <a:defRPr sz="2475" b="0">
                <a:solidFill>
                  <a:srgbClr val="333333"/>
                </a:solidFill>
                <a:latin typeface="Calibri"/>
                <a:ea typeface="Calibri"/>
                <a:cs typeface="Calibri"/>
              </a:defRPr>
            </a:lvl2pPr>
            <a:lvl3pPr>
              <a:buNone/>
              <a:defRPr sz="2475" b="0">
                <a:solidFill>
                  <a:srgbClr val="333333"/>
                </a:solidFill>
                <a:latin typeface="Calibri"/>
                <a:ea typeface="Calibri"/>
                <a:cs typeface="Calibri"/>
              </a:defRPr>
            </a:lvl3pPr>
            <a:lvl4pPr>
              <a:buNone/>
              <a:defRPr sz="2475" b="0">
                <a:solidFill>
                  <a:srgbClr val="333333"/>
                </a:solidFill>
                <a:latin typeface="Calibri"/>
                <a:ea typeface="Calibri"/>
                <a:cs typeface="Calibri"/>
              </a:defRPr>
            </a:lvl4pPr>
            <a:lvl5pPr>
              <a:buNone/>
              <a:defRPr sz="2475" b="0">
                <a:solidFill>
                  <a:srgbClr val="333333"/>
                </a:solidFill>
                <a:latin typeface="Calibri"/>
                <a:ea typeface="Calibri"/>
                <a:cs typeface="Calibri"/>
              </a:defRPr>
            </a:lvl5pPr>
            <a:lvl6pPr>
              <a:buNone/>
              <a:defRPr sz="2475" b="0">
                <a:solidFill>
                  <a:srgbClr val="333333"/>
                </a:solidFill>
                <a:latin typeface="Calibri"/>
                <a:ea typeface="Calibri"/>
                <a:cs typeface="Calibri"/>
              </a:defRPr>
            </a:lvl6pPr>
            <a:lvl7pPr>
              <a:buNone/>
              <a:defRPr sz="2475" b="0">
                <a:solidFill>
                  <a:srgbClr val="333333"/>
                </a:solidFill>
                <a:latin typeface="Calibri"/>
                <a:ea typeface="Calibri"/>
                <a:cs typeface="Calibri"/>
              </a:defRPr>
            </a:lvl7pPr>
            <a:lvl8pPr>
              <a:buNone/>
              <a:defRPr sz="2475" b="0">
                <a:solidFill>
                  <a:srgbClr val="333333"/>
                </a:solidFill>
                <a:latin typeface="Calibri"/>
                <a:ea typeface="Calibri"/>
                <a:cs typeface="Calibri"/>
              </a:defRPr>
            </a:lvl8pPr>
            <a:lvl9pPr>
              <a:buNone/>
              <a:defRPr sz="2475" b="0">
                <a:solidFill>
                  <a:srgbClr val="333333"/>
                </a:solidFill>
                <a:latin typeface="Calibri"/>
                <a:ea typeface="Calibri"/>
                <a:cs typeface="Calibri"/>
              </a:defRPr>
            </a:lvl9pPr>
          </a:lstStyle>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Same planned workload and zero forecast.</a:t>
            </a:r>
          </a:p>
          <a:p>
            <a:endParaRPr sz="2475" b="0">
              <a:solidFill>
                <a:srgbClr val="333333"/>
              </a:solidFill>
              <a:latin typeface="Calibri"/>
              <a:ea typeface="Calibri"/>
              <a:cs typeface="Calibri"/>
            </a:endParaRPr>
          </a:p>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Guarded scaling adds capacity using observed demand and SLA signals.</a:t>
            </a:r>
          </a:p>
          <a:p>
            <a:endParaRPr sz="2475" b="0">
              <a:solidFill>
                <a:srgbClr val="333333"/>
              </a:solidFill>
              <a:latin typeface="Calibri"/>
              <a:ea typeface="Calibri"/>
              <a:cs typeface="Calibri"/>
            </a:endParaRPr>
          </a:p>
          <a:p>
            <a:pPr>
              <a:buNone/>
              <a:defRPr sz="2475" b="0">
                <a:solidFill>
                  <a:srgbClr val="333333"/>
                </a:solidFill>
                <a:latin typeface="Calibri"/>
                <a:ea typeface="Calibri"/>
                <a:cs typeface="Calibri"/>
              </a:defRPr>
            </a:pPr>
            <a:r>
              <a:rPr sz="2475" b="0">
                <a:solidFill>
                  <a:srgbClr val="333333"/>
                </a:solidFill>
                <a:latin typeface="Calibri"/>
                <a:ea typeface="Calibri"/>
                <a:cs typeface="Calibri"/>
              </a:rPr>
              <a:t>One scored window still violates the target.</a:t>
            </a:r>
          </a:p>
        </p:txBody>
      </p:sp>
      <p:sp>
        <p:nvSpPr>
          <p:cNvPr id="111" name="Rectangle 110">
            <a:extLst>
              <a:ext uri="{FF2B5EF4-FFF2-40B4-BE49-F238E27FC236}">
                <a16:creationId xmlns:a16="http://schemas.microsoft.com/office/drawing/2014/main" id="{B8383A38-F6A9-4989-B22B-6F16FF0133DD}"/>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15 / 18</a:t>
            </a:r>
          </a:p>
        </p:txBody>
      </p:sp>
    </p:spTree>
    <p:extLst>
      <p:ext uri="{BB962C8B-B14F-4D97-AF65-F5344CB8AC3E}">
        <p14:creationId xmlns:p14="http://schemas.microsoft.com/office/powerpoint/2010/main" val="1518820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4518FFDF-AB78-425E-8D23-799CF04584E8}"/>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buNone/>
              <a:defRPr sz="4000" b="0">
                <a:solidFill>
                  <a:srgbClr val="A83033"/>
                </a:solidFill>
                <a:latin typeface="Marcellus"/>
                <a:ea typeface="Marcellus"/>
                <a:cs typeface="Marcellus"/>
              </a:defRPr>
            </a:lvl1pPr>
            <a:lvl2pPr>
              <a:buNone/>
              <a:defRPr sz="4000" b="0">
                <a:solidFill>
                  <a:srgbClr val="A83033"/>
                </a:solidFill>
                <a:latin typeface="Marcellus"/>
                <a:ea typeface="Marcellus"/>
                <a:cs typeface="Marcellus"/>
              </a:defRPr>
            </a:lvl2pPr>
            <a:lvl3pPr>
              <a:buNone/>
              <a:defRPr sz="4000" b="0">
                <a:solidFill>
                  <a:srgbClr val="A83033"/>
                </a:solidFill>
                <a:latin typeface="Marcellus"/>
                <a:ea typeface="Marcellus"/>
                <a:cs typeface="Marcellus"/>
              </a:defRPr>
            </a:lvl3pPr>
            <a:lvl4pPr>
              <a:buNone/>
              <a:defRPr sz="4000" b="0">
                <a:solidFill>
                  <a:srgbClr val="A83033"/>
                </a:solidFill>
                <a:latin typeface="Marcellus"/>
                <a:ea typeface="Marcellus"/>
                <a:cs typeface="Marcellus"/>
              </a:defRPr>
            </a:lvl4pPr>
            <a:lvl5pPr>
              <a:buNone/>
              <a:defRPr sz="4000" b="0">
                <a:solidFill>
                  <a:srgbClr val="A83033"/>
                </a:solidFill>
                <a:latin typeface="Marcellus"/>
                <a:ea typeface="Marcellus"/>
                <a:cs typeface="Marcellus"/>
              </a:defRPr>
            </a:lvl5pPr>
            <a:lvl6pPr>
              <a:buNone/>
              <a:defRPr sz="4000" b="0">
                <a:solidFill>
                  <a:srgbClr val="A83033"/>
                </a:solidFill>
                <a:latin typeface="Marcellus"/>
                <a:ea typeface="Marcellus"/>
                <a:cs typeface="Marcellus"/>
              </a:defRPr>
            </a:lvl6pPr>
            <a:lvl7pPr>
              <a:buNone/>
              <a:defRPr sz="4000" b="0">
                <a:solidFill>
                  <a:srgbClr val="A83033"/>
                </a:solidFill>
                <a:latin typeface="Marcellus"/>
                <a:ea typeface="Marcellus"/>
                <a:cs typeface="Marcellus"/>
              </a:defRPr>
            </a:lvl7pPr>
            <a:lvl8pPr>
              <a:buNone/>
              <a:defRPr sz="4000" b="0">
                <a:solidFill>
                  <a:srgbClr val="A83033"/>
                </a:solidFill>
                <a:latin typeface="Marcellus"/>
                <a:ea typeface="Marcellus"/>
                <a:cs typeface="Marcellus"/>
              </a:defRPr>
            </a:lvl8pPr>
            <a:lvl9pPr>
              <a:buNone/>
              <a:defRPr sz="4000" b="0">
                <a:solidFill>
                  <a:srgbClr val="A83033"/>
                </a:solidFill>
                <a:latin typeface="Marcellus"/>
                <a:ea typeface="Marcellus"/>
                <a:cs typeface="Marcellus"/>
              </a:defRPr>
            </a:lvl9pPr>
          </a:lstStyle>
          <a:p>
            <a:pPr>
              <a:buNone/>
              <a:defRPr sz="4000" b="0">
                <a:solidFill>
                  <a:srgbClr val="A83033"/>
                </a:solidFill>
                <a:latin typeface="Marcellus"/>
                <a:ea typeface="Marcellus"/>
                <a:cs typeface="Marcellus"/>
              </a:defRPr>
            </a:pPr>
            <a:r>
              <a:rPr sz="4000" b="0">
                <a:solidFill>
                  <a:srgbClr val="A83033"/>
                </a:solidFill>
                <a:latin typeface="Marcellus"/>
                <a:ea typeface="Marcellus"/>
                <a:cs typeface="Marcellus"/>
              </a:rPr>
              <a:t>A hard budget can prevent SLA recovery</a:t>
            </a:r>
          </a:p>
        </p:txBody>
      </p:sp>
      <p:graphicFrame>
        <p:nvGraphicFramePr>
          <p:cNvPr id="108" name="Table 107">
            <a:extLst>
              <a:ext uri="{FF2B5EF4-FFF2-40B4-BE49-F238E27FC236}">
                <a16:creationId xmlns:a16="http://schemas.microsoft.com/office/drawing/2014/main" id="{49B04F34-E2C7-4013-ACC5-C82D8F995B52}"/>
              </a:ext>
            </a:extLst>
          </p:cNvPr>
          <p:cNvGraphicFramePr/>
          <p:nvPr/>
        </p:nvGraphicFramePr>
        <p:xfrm>
          <a:off x="2238375" y="2190750"/>
          <a:ext cx="13982700" cy="4191000"/>
        </p:xfrm>
        <a:graphic>
          <a:graphicData uri="http://schemas.openxmlformats.org/drawingml/2006/table">
            <a:tbl>
              <a:tblPr/>
              <a:tblGrid>
                <a:gridCol w="9620250">
                  <a:extLst>
                    <a:ext uri="{9D8B030D-6E8A-4147-A177-3AD203B41FA5}">
                      <a16:colId xmlns:a16="http://schemas.microsoft.com/office/drawing/2014/main" val="20000"/>
                    </a:ext>
                  </a:extLst>
                </a:gridCol>
                <a:gridCol w="4362450">
                  <a:extLst>
                    <a:ext uri="{9D8B030D-6E8A-4147-A177-3AD203B41FA5}">
                      <a16:colId xmlns:a16="http://schemas.microsoft.com/office/drawing/2014/main" val="20001"/>
                    </a:ext>
                  </a:extLst>
                </a:gridCol>
              </a:tblGrid>
              <a:tr h="838200">
                <a:tc>
                  <a:txBody>
                    <a:bodyPr/>
                    <a:lstStyle/>
                    <a:p>
                      <a:r>
                        <a:rPr sz="2775" b="1">
                          <a:solidFill>
                            <a:srgbClr val="FFFFFF"/>
                          </a:solidFill>
                          <a:latin typeface="Calibri"/>
                          <a:ea typeface="Calibri"/>
                          <a:cs typeface="Calibri"/>
                        </a:rPr>
                        <a:t>One-replica budget stress</a:t>
                      </a:r>
                    </a:p>
                  </a:txBody>
                  <a:tcPr>
                    <a:lnL w="28575">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tc>
                  <a:txBody>
                    <a:bodyPr/>
                    <a:lstStyle/>
                    <a:p>
                      <a:r>
                        <a:rPr sz="2775" b="1">
                          <a:solidFill>
                            <a:srgbClr val="FFFFFF"/>
                          </a:solidFill>
                          <a:latin typeface="Calibri"/>
                          <a:ea typeface="Calibri"/>
                          <a:cs typeface="Calibri"/>
                        </a:rPr>
                        <a:t>Measured outcome</a:t>
                      </a:r>
                    </a:p>
                  </a:txBody>
                  <a:tcPr>
                    <a:lnL w="28575" cmpd="sng">
                      <a:solidFill>
                        <a:srgbClr val="FFFFFF"/>
                      </a:solidFill>
                      <a:prstDash val="solid"/>
                    </a:lnL>
                    <a:lnR w="28575">
                      <a:solidFill>
                        <a:srgbClr val="FFFFFF"/>
                      </a:solidFill>
                      <a:prstDash val="solid"/>
                    </a:lnR>
                    <a:lnT w="28575">
                      <a:solidFill>
                        <a:srgbClr val="FFFFFF"/>
                      </a:solidFill>
                      <a:prstDash val="solid"/>
                    </a:lnT>
                    <a:lnB w="28575">
                      <a:solidFill>
                        <a:srgbClr val="FFFFFF"/>
                      </a:solidFill>
                      <a:prstDash val="solid"/>
                    </a:lnB>
                    <a:solidFill>
                      <a:srgbClr val="A83033"/>
                    </a:solidFill>
                  </a:tcPr>
                </a:tc>
                <a:extLst>
                  <a:ext uri="{0D108BD9-81ED-4DB2-BD59-A6C34878D82A}">
                    <a16:rowId xmlns:a16="http://schemas.microsoft.com/office/drawing/2014/main" val="10000"/>
                  </a:ext>
                </a:extLst>
              </a:tr>
              <a:tr h="838200">
                <a:tc>
                  <a:txBody>
                    <a:bodyPr/>
                    <a:lstStyle/>
                    <a:p>
                      <a:r>
                        <a:rPr sz="2775" b="0">
                          <a:solidFill>
                            <a:srgbClr val="333333"/>
                          </a:solidFill>
                          <a:latin typeface="Calibri"/>
                          <a:ea typeface="Calibri"/>
                          <a:cs typeface="Calibri"/>
                        </a:rPr>
                        <a:t>Maximum allowed replicas</a:t>
                      </a:r>
                    </a:p>
                  </a:txBody>
                  <a:tcPr>
                    <a:lnL w="28575">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8EBEB"/>
                    </a:solidFill>
                  </a:tcPr>
                </a:tc>
                <a:tc>
                  <a:txBody>
                    <a:bodyPr/>
                    <a:lstStyle/>
                    <a:p>
                      <a:r>
                        <a:rPr sz="2775" b="0">
                          <a:solidFill>
                            <a:srgbClr val="333333"/>
                          </a:solidFill>
                          <a:latin typeface="Calibri"/>
                          <a:ea typeface="Calibri"/>
                          <a:cs typeface="Calibri"/>
                        </a:rPr>
                        <a:t>1</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8EBEB"/>
                    </a:solidFill>
                  </a:tcPr>
                </a:tc>
                <a:extLst>
                  <a:ext uri="{0D108BD9-81ED-4DB2-BD59-A6C34878D82A}">
                    <a16:rowId xmlns:a16="http://schemas.microsoft.com/office/drawing/2014/main" val="10001"/>
                  </a:ext>
                </a:extLst>
              </a:tr>
              <a:tr h="838200">
                <a:tc>
                  <a:txBody>
                    <a:bodyPr/>
                    <a:lstStyle/>
                    <a:p>
                      <a:r>
                        <a:rPr sz="2775" b="0">
                          <a:solidFill>
                            <a:srgbClr val="333333"/>
                          </a:solidFill>
                          <a:latin typeface="Calibri"/>
                          <a:ea typeface="Calibri"/>
                          <a:cs typeface="Calibri"/>
                        </a:rPr>
                        <a:t>Failed requests</a:t>
                      </a:r>
                    </a:p>
                  </a:txBody>
                  <a:tcPr>
                    <a:lnL w="28575">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FFFFF"/>
                    </a:solidFill>
                  </a:tcPr>
                </a:tc>
                <a:tc>
                  <a:txBody>
                    <a:bodyPr/>
                    <a:lstStyle/>
                    <a:p>
                      <a:r>
                        <a:rPr sz="2775" b="0">
                          <a:solidFill>
                            <a:srgbClr val="333333"/>
                          </a:solidFill>
                          <a:latin typeface="Calibri"/>
                          <a:ea typeface="Calibri"/>
                          <a:cs typeface="Calibri"/>
                        </a:rPr>
                        <a:t>17.73%</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FFFFF"/>
                    </a:solidFill>
                  </a:tcPr>
                </a:tc>
                <a:extLst>
                  <a:ext uri="{0D108BD9-81ED-4DB2-BD59-A6C34878D82A}">
                    <a16:rowId xmlns:a16="http://schemas.microsoft.com/office/drawing/2014/main" val="10002"/>
                  </a:ext>
                </a:extLst>
              </a:tr>
              <a:tr h="838200">
                <a:tc>
                  <a:txBody>
                    <a:bodyPr/>
                    <a:lstStyle/>
                    <a:p>
                      <a:r>
                        <a:rPr sz="2775" b="0">
                          <a:solidFill>
                            <a:srgbClr val="333333"/>
                          </a:solidFill>
                          <a:latin typeface="Calibri"/>
                          <a:ea typeface="Calibri"/>
                          <a:cs typeface="Calibri"/>
                        </a:rPr>
                        <a:t>Run p95 latency</a:t>
                      </a:r>
                    </a:p>
                  </a:txBody>
                  <a:tcPr>
                    <a:lnL w="28575">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8EBEB"/>
                    </a:solidFill>
                  </a:tcPr>
                </a:tc>
                <a:tc>
                  <a:txBody>
                    <a:bodyPr/>
                    <a:lstStyle/>
                    <a:p>
                      <a:r>
                        <a:rPr sz="2775" b="0">
                          <a:solidFill>
                            <a:srgbClr val="333333"/>
                          </a:solidFill>
                          <a:latin typeface="Calibri"/>
                          <a:ea typeface="Calibri"/>
                          <a:cs typeface="Calibri"/>
                        </a:rPr>
                        <a:t>1,563.2 ms</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8EBEB"/>
                    </a:solidFill>
                  </a:tcPr>
                </a:tc>
                <a:extLst>
                  <a:ext uri="{0D108BD9-81ED-4DB2-BD59-A6C34878D82A}">
                    <a16:rowId xmlns:a16="http://schemas.microsoft.com/office/drawing/2014/main" val="10003"/>
                  </a:ext>
                </a:extLst>
              </a:tr>
              <a:tr h="838200">
                <a:tc>
                  <a:txBody>
                    <a:bodyPr/>
                    <a:lstStyle/>
                    <a:p>
                      <a:r>
                        <a:rPr sz="2775" b="0">
                          <a:solidFill>
                            <a:srgbClr val="333333"/>
                          </a:solidFill>
                          <a:latin typeface="Calibri"/>
                          <a:ea typeface="Calibri"/>
                          <a:cs typeface="Calibri"/>
                        </a:rPr>
                        <a:t>Violating scored windows</a:t>
                      </a:r>
                    </a:p>
                  </a:txBody>
                  <a:tcPr>
                    <a:lnL w="28575">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FFFFF"/>
                    </a:solidFill>
                  </a:tcPr>
                </a:tc>
                <a:tc>
                  <a:txBody>
                    <a:bodyPr/>
                    <a:lstStyle/>
                    <a:p>
                      <a:r>
                        <a:rPr sz="2775" b="0">
                          <a:solidFill>
                            <a:srgbClr val="333333"/>
                          </a:solidFill>
                          <a:latin typeface="Calibri"/>
                          <a:ea typeface="Calibri"/>
                          <a:cs typeface="Calibri"/>
                        </a:rPr>
                        <a:t>66.7%</a:t>
                      </a:r>
                    </a:p>
                  </a:txBody>
                  <a:tcPr>
                    <a:lnL w="28575" cmpd="sng">
                      <a:solidFill>
                        <a:srgbClr val="FFFFFF"/>
                      </a:solidFill>
                      <a:prstDash val="solid"/>
                    </a:lnL>
                    <a:lnR w="28575">
                      <a:solidFill>
                        <a:srgbClr val="FFFFFF"/>
                      </a:solidFill>
                      <a:prstDash val="solid"/>
                    </a:lnR>
                    <a:lnT w="28575" cmpd="sng">
                      <a:solidFill>
                        <a:srgbClr val="FFFFFF"/>
                      </a:solidFill>
                      <a:prstDash val="solid"/>
                    </a:lnT>
                    <a:lnB w="28575">
                      <a:solidFill>
                        <a:srgbClr val="FFFFF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09" name="Rectangle 108">
            <a:extLst>
              <a:ext uri="{FF2B5EF4-FFF2-40B4-BE49-F238E27FC236}">
                <a16:creationId xmlns:a16="http://schemas.microsoft.com/office/drawing/2014/main" id="{C0246F59-6AE0-4BFB-BDB2-65C198917878}"/>
              </a:ext>
            </a:extLst>
          </p:cNvPr>
          <p:cNvSpPr>
            <a:spLocks noGrp="1"/>
          </p:cNvSpPr>
          <p:nvPr/>
        </p:nvSpPr>
        <p:spPr>
          <a:xfrm>
            <a:off x="2238375" y="7048500"/>
            <a:ext cx="13982700" cy="1285875"/>
          </a:xfrm>
          <a:prstGeom prst="rect">
            <a:avLst/>
          </a:prstGeom>
          <a:noFill/>
          <a:ln w="0">
            <a:noFill/>
          </a:ln>
        </p:spPr>
        <p:txBody>
          <a:bodyPr lIns="0" tIns="0" rIns="0" bIns="0"/>
          <a:lstStyle>
            <a:defPPr>
              <a:defRPr sz="2925" b="1">
                <a:solidFill>
                  <a:srgbClr val="A83033"/>
                </a:solidFill>
                <a:latin typeface="Calibri"/>
                <a:ea typeface="Calibri"/>
                <a:cs typeface="Calibri"/>
              </a:defRPr>
            </a:defPPr>
            <a:lvl1pPr>
              <a:buNone/>
              <a:defRPr sz="2925" b="1">
                <a:solidFill>
                  <a:srgbClr val="A83033"/>
                </a:solidFill>
                <a:latin typeface="Calibri"/>
                <a:ea typeface="Calibri"/>
                <a:cs typeface="Calibri"/>
              </a:defRPr>
            </a:lvl1pPr>
            <a:lvl2pPr>
              <a:buNone/>
              <a:defRPr sz="2925" b="1">
                <a:solidFill>
                  <a:srgbClr val="A83033"/>
                </a:solidFill>
                <a:latin typeface="Calibri"/>
                <a:ea typeface="Calibri"/>
                <a:cs typeface="Calibri"/>
              </a:defRPr>
            </a:lvl2pPr>
            <a:lvl3pPr>
              <a:buNone/>
              <a:defRPr sz="2925" b="1">
                <a:solidFill>
                  <a:srgbClr val="A83033"/>
                </a:solidFill>
                <a:latin typeface="Calibri"/>
                <a:ea typeface="Calibri"/>
                <a:cs typeface="Calibri"/>
              </a:defRPr>
            </a:lvl3pPr>
            <a:lvl4pPr>
              <a:buNone/>
              <a:defRPr sz="2925" b="1">
                <a:solidFill>
                  <a:srgbClr val="A83033"/>
                </a:solidFill>
                <a:latin typeface="Calibri"/>
                <a:ea typeface="Calibri"/>
                <a:cs typeface="Calibri"/>
              </a:defRPr>
            </a:lvl4pPr>
            <a:lvl5pPr>
              <a:buNone/>
              <a:defRPr sz="2925" b="1">
                <a:solidFill>
                  <a:srgbClr val="A83033"/>
                </a:solidFill>
                <a:latin typeface="Calibri"/>
                <a:ea typeface="Calibri"/>
                <a:cs typeface="Calibri"/>
              </a:defRPr>
            </a:lvl5pPr>
            <a:lvl6pPr>
              <a:buNone/>
              <a:defRPr sz="2925" b="1">
                <a:solidFill>
                  <a:srgbClr val="A83033"/>
                </a:solidFill>
                <a:latin typeface="Calibri"/>
                <a:ea typeface="Calibri"/>
                <a:cs typeface="Calibri"/>
              </a:defRPr>
            </a:lvl6pPr>
            <a:lvl7pPr>
              <a:buNone/>
              <a:defRPr sz="2925" b="1">
                <a:solidFill>
                  <a:srgbClr val="A83033"/>
                </a:solidFill>
                <a:latin typeface="Calibri"/>
                <a:ea typeface="Calibri"/>
                <a:cs typeface="Calibri"/>
              </a:defRPr>
            </a:lvl7pPr>
            <a:lvl8pPr>
              <a:buNone/>
              <a:defRPr sz="2925" b="1">
                <a:solidFill>
                  <a:srgbClr val="A83033"/>
                </a:solidFill>
                <a:latin typeface="Calibri"/>
                <a:ea typeface="Calibri"/>
                <a:cs typeface="Calibri"/>
              </a:defRPr>
            </a:lvl8pPr>
            <a:lvl9pPr>
              <a:buNone/>
              <a:defRPr sz="2925" b="1">
                <a:solidFill>
                  <a:srgbClr val="A83033"/>
                </a:solidFill>
                <a:latin typeface="Calibri"/>
                <a:ea typeface="Calibri"/>
                <a:cs typeface="Calibri"/>
              </a:defRPr>
            </a:lvl9pPr>
          </a:lstStyle>
          <a:p>
            <a:pPr>
              <a:buNone/>
              <a:defRPr sz="2925" b="1">
                <a:solidFill>
                  <a:srgbClr val="A83033"/>
                </a:solidFill>
                <a:latin typeface="Calibri"/>
                <a:ea typeface="Calibri"/>
                <a:cs typeface="Calibri"/>
              </a:defRPr>
            </a:pPr>
            <a:r>
              <a:rPr sz="2925" b="1">
                <a:solidFill>
                  <a:srgbClr val="A83033"/>
                </a:solidFill>
                <a:latin typeface="Calibri"/>
                <a:ea typeface="Calibri"/>
                <a:cs typeface="Calibri"/>
              </a:rPr>
              <a:t>The controller respects the budget and records insufficient capacity. More forecasting accuracy cannot create unavailable resources.</a:t>
            </a:r>
          </a:p>
        </p:txBody>
      </p:sp>
      <p:sp>
        <p:nvSpPr>
          <p:cNvPr id="110" name="Rectangle 109">
            <a:extLst>
              <a:ext uri="{FF2B5EF4-FFF2-40B4-BE49-F238E27FC236}">
                <a16:creationId xmlns:a16="http://schemas.microsoft.com/office/drawing/2014/main" id="{C0FD9973-74BB-4BB1-9CF8-EDA13B2AE0DF}"/>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16 / 18</a:t>
            </a:r>
          </a:p>
        </p:txBody>
      </p:sp>
    </p:spTree>
    <p:extLst>
      <p:ext uri="{BB962C8B-B14F-4D97-AF65-F5344CB8AC3E}">
        <p14:creationId xmlns:p14="http://schemas.microsoft.com/office/powerpoint/2010/main" val="1518820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C00EF83C-ADF4-4288-964B-5DCB258ADBC8}"/>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Scope and limitations</a:t>
            </a:r>
          </a:p>
        </p:txBody>
      </p:sp>
      <p:sp>
        <p:nvSpPr>
          <p:cNvPr id="108" name="Rectangle 107">
            <a:extLst>
              <a:ext uri="{FF2B5EF4-FFF2-40B4-BE49-F238E27FC236}">
                <a16:creationId xmlns:a16="http://schemas.microsoft.com/office/drawing/2014/main" id="{A7563185-853A-4985-B8A4-039978607732}"/>
              </a:ext>
            </a:extLst>
          </p:cNvPr>
          <p:cNvSpPr>
            <a:spLocks noGrp="1"/>
          </p:cNvSpPr>
          <p:nvPr/>
        </p:nvSpPr>
        <p:spPr>
          <a:xfrm>
            <a:off x="2238375" y="2143125"/>
            <a:ext cx="6477000" cy="666750"/>
          </a:xfrm>
          <a:prstGeom prst="rect">
            <a:avLst/>
          </a:prstGeom>
          <a:noFill/>
          <a:ln w="0">
            <a:noFill/>
          </a:ln>
        </p:spPr>
        <p:txBody>
          <a:bodyPr lIns="0" tIns="0" rIns="0" bIns="0"/>
          <a:lstStyle>
            <a:defPPr>
              <a:defRPr sz="3225" b="1">
                <a:solidFill>
                  <a:srgbClr val="A83033"/>
                </a:solidFill>
                <a:latin typeface="Calibri"/>
                <a:ea typeface="Calibri"/>
                <a:cs typeface="Calibri"/>
              </a:defRPr>
            </a:defPPr>
            <a:lvl1pPr>
              <a:defRPr sz="3225" b="1">
                <a:solidFill>
                  <a:srgbClr val="A83033"/>
                </a:solidFill>
                <a:latin typeface="Calibri"/>
                <a:ea typeface="Calibri"/>
                <a:cs typeface="Calibri"/>
              </a:defRPr>
            </a:lvl1pPr>
            <a:lvl2pPr>
              <a:defRPr sz="3225" b="1">
                <a:solidFill>
                  <a:srgbClr val="A83033"/>
                </a:solidFill>
                <a:latin typeface="Calibri"/>
                <a:ea typeface="Calibri"/>
                <a:cs typeface="Calibri"/>
              </a:defRPr>
            </a:lvl2pPr>
            <a:lvl3pPr>
              <a:defRPr sz="3225" b="1">
                <a:solidFill>
                  <a:srgbClr val="A83033"/>
                </a:solidFill>
                <a:latin typeface="Calibri"/>
                <a:ea typeface="Calibri"/>
                <a:cs typeface="Calibri"/>
              </a:defRPr>
            </a:lvl3pPr>
            <a:lvl4pPr>
              <a:defRPr sz="3225" b="1">
                <a:solidFill>
                  <a:srgbClr val="A83033"/>
                </a:solidFill>
                <a:latin typeface="Calibri"/>
                <a:ea typeface="Calibri"/>
                <a:cs typeface="Calibri"/>
              </a:defRPr>
            </a:lvl4pPr>
            <a:lvl5pPr>
              <a:defRPr sz="3225" b="1">
                <a:solidFill>
                  <a:srgbClr val="A83033"/>
                </a:solidFill>
                <a:latin typeface="Calibri"/>
                <a:ea typeface="Calibri"/>
                <a:cs typeface="Calibri"/>
              </a:defRPr>
            </a:lvl5pPr>
            <a:lvl6pPr>
              <a:defRPr sz="3225" b="1">
                <a:solidFill>
                  <a:srgbClr val="A83033"/>
                </a:solidFill>
                <a:latin typeface="Calibri"/>
                <a:ea typeface="Calibri"/>
                <a:cs typeface="Calibri"/>
              </a:defRPr>
            </a:lvl6pPr>
            <a:lvl7pPr>
              <a:defRPr sz="3225" b="1">
                <a:solidFill>
                  <a:srgbClr val="A83033"/>
                </a:solidFill>
                <a:latin typeface="Calibri"/>
                <a:ea typeface="Calibri"/>
                <a:cs typeface="Calibri"/>
              </a:defRPr>
            </a:lvl7pPr>
            <a:lvl8pPr>
              <a:defRPr sz="3225" b="1">
                <a:solidFill>
                  <a:srgbClr val="A83033"/>
                </a:solidFill>
                <a:latin typeface="Calibri"/>
                <a:ea typeface="Calibri"/>
                <a:cs typeface="Calibri"/>
              </a:defRPr>
            </a:lvl8pPr>
            <a:lvl9pPr>
              <a:defRPr sz="3225" b="1">
                <a:solidFill>
                  <a:srgbClr val="A83033"/>
                </a:solidFill>
                <a:latin typeface="Calibri"/>
                <a:ea typeface="Calibri"/>
                <a:cs typeface="Calibri"/>
              </a:defRPr>
            </a:lvl9pPr>
          </a:lstStyle>
          <a:p>
            <a:pPr>
              <a:defRPr sz="3225" b="1">
                <a:solidFill>
                  <a:srgbClr val="A83033"/>
                </a:solidFill>
                <a:latin typeface="Calibri"/>
                <a:ea typeface="Calibri"/>
                <a:cs typeface="Calibri"/>
              </a:defRPr>
            </a:pPr>
            <a:r>
              <a:rPr sz="3225" b="1">
                <a:solidFill>
                  <a:srgbClr val="A83033"/>
                </a:solidFill>
                <a:latin typeface="Calibri"/>
                <a:ea typeface="Calibri"/>
                <a:cs typeface="Calibri"/>
              </a:rPr>
              <a:t>What we measured</a:t>
            </a:r>
          </a:p>
        </p:txBody>
      </p:sp>
      <p:sp>
        <p:nvSpPr>
          <p:cNvPr id="109" name="Rectangle 108">
            <a:extLst>
              <a:ext uri="{FF2B5EF4-FFF2-40B4-BE49-F238E27FC236}">
                <a16:creationId xmlns:a16="http://schemas.microsoft.com/office/drawing/2014/main" id="{1B31E5F0-EA6A-4825-9D98-3D562E4517C5}"/>
              </a:ext>
            </a:extLst>
          </p:cNvPr>
          <p:cNvSpPr>
            <a:spLocks noGrp="1"/>
          </p:cNvSpPr>
          <p:nvPr/>
        </p:nvSpPr>
        <p:spPr>
          <a:xfrm>
            <a:off x="2238375" y="3286125"/>
            <a:ext cx="6477000" cy="3714750"/>
          </a:xfrm>
          <a:prstGeom prst="rect">
            <a:avLst/>
          </a:prstGeom>
          <a:noFill/>
          <a:ln w="0">
            <a:noFill/>
          </a:ln>
        </p:spPr>
        <p:txBody>
          <a:bodyPr lIns="0" tIns="0" rIns="0" bIns="0"/>
          <a:lstStyle>
            <a:defPPr>
              <a:defRPr sz="3075" b="0">
                <a:solidFill>
                  <a:srgbClr val="333333"/>
                </a:solidFill>
                <a:latin typeface="Calibri"/>
                <a:ea typeface="Calibri"/>
                <a:cs typeface="Calibri"/>
              </a:defRPr>
            </a:defPPr>
            <a:lvl1pPr>
              <a:defRPr sz="3075" b="0">
                <a:solidFill>
                  <a:srgbClr val="333333"/>
                </a:solidFill>
                <a:latin typeface="Calibri"/>
                <a:ea typeface="Calibri"/>
                <a:cs typeface="Calibri"/>
              </a:defRPr>
            </a:lvl1pPr>
            <a:lvl2pPr>
              <a:defRPr sz="3075" b="0">
                <a:solidFill>
                  <a:srgbClr val="333333"/>
                </a:solidFill>
                <a:latin typeface="Calibri"/>
                <a:ea typeface="Calibri"/>
                <a:cs typeface="Calibri"/>
              </a:defRPr>
            </a:lvl2pPr>
            <a:lvl3pPr>
              <a:defRPr sz="3075" b="0">
                <a:solidFill>
                  <a:srgbClr val="333333"/>
                </a:solidFill>
                <a:latin typeface="Calibri"/>
                <a:ea typeface="Calibri"/>
                <a:cs typeface="Calibri"/>
              </a:defRPr>
            </a:lvl3pPr>
            <a:lvl4pPr>
              <a:defRPr sz="3075" b="0">
                <a:solidFill>
                  <a:srgbClr val="333333"/>
                </a:solidFill>
                <a:latin typeface="Calibri"/>
                <a:ea typeface="Calibri"/>
                <a:cs typeface="Calibri"/>
              </a:defRPr>
            </a:lvl4pPr>
            <a:lvl5pPr>
              <a:defRPr sz="3075" b="0">
                <a:solidFill>
                  <a:srgbClr val="333333"/>
                </a:solidFill>
                <a:latin typeface="Calibri"/>
                <a:ea typeface="Calibri"/>
                <a:cs typeface="Calibri"/>
              </a:defRPr>
            </a:lvl5pPr>
            <a:lvl6pPr>
              <a:defRPr sz="3075" b="0">
                <a:solidFill>
                  <a:srgbClr val="333333"/>
                </a:solidFill>
                <a:latin typeface="Calibri"/>
                <a:ea typeface="Calibri"/>
                <a:cs typeface="Calibri"/>
              </a:defRPr>
            </a:lvl6pPr>
            <a:lvl7pPr>
              <a:defRPr sz="3075" b="0">
                <a:solidFill>
                  <a:srgbClr val="333333"/>
                </a:solidFill>
                <a:latin typeface="Calibri"/>
                <a:ea typeface="Calibri"/>
                <a:cs typeface="Calibri"/>
              </a:defRPr>
            </a:lvl7pPr>
            <a:lvl8pPr>
              <a:defRPr sz="3075" b="0">
                <a:solidFill>
                  <a:srgbClr val="333333"/>
                </a:solidFill>
                <a:latin typeface="Calibri"/>
                <a:ea typeface="Calibri"/>
                <a:cs typeface="Calibri"/>
              </a:defRPr>
            </a:lvl8pPr>
            <a:lvl9pPr>
              <a:defRPr sz="3075" b="0">
                <a:solidFill>
                  <a:srgbClr val="333333"/>
                </a:solidFill>
                <a:latin typeface="Calibri"/>
                <a:ea typeface="Calibri"/>
                <a:cs typeface="Calibri"/>
              </a:defRPr>
            </a:lvl9pPr>
          </a:lstStyle>
          <a:p>
            <a:pPr>
              <a:defRPr sz="3075" b="0">
                <a:solidFill>
                  <a:srgbClr val="333333"/>
                </a:solidFill>
                <a:latin typeface="Calibri"/>
                <a:ea typeface="Calibri"/>
                <a:cs typeface="Calibri"/>
              </a:defRPr>
            </a:pPr>
            <a:r>
              <a:rPr sz="3075" b="0">
                <a:solidFill>
                  <a:srgbClr val="333333"/>
                </a:solidFill>
                <a:latin typeface="Calibri"/>
                <a:ea typeface="Calibri"/>
                <a:cs typeface="Calibri"/>
              </a:rPr>
              <a:t>Real HTTP latency and failures</a:t>
            </a:r>
          </a:p>
          <a:p>
            <a:pPr>
              <a:defRPr sz="3075" b="0">
                <a:solidFill>
                  <a:srgbClr val="333333"/>
                </a:solidFill>
                <a:latin typeface="Calibri"/>
                <a:ea typeface="Calibri"/>
                <a:cs typeface="Calibri"/>
              </a:defRPr>
            </a:pPr>
            <a:r>
              <a:rPr sz="3075" b="0">
                <a:solidFill>
                  <a:srgbClr val="333333"/>
                </a:solidFill>
                <a:latin typeface="Calibri"/>
                <a:ea typeface="Calibri"/>
                <a:cs typeface="Calibri"/>
              </a:rPr>
              <a:t>Worker CPU utilization</a:t>
            </a:r>
          </a:p>
          <a:p>
            <a:pPr>
              <a:defRPr sz="3075" b="0">
                <a:solidFill>
                  <a:srgbClr val="333333"/>
                </a:solidFill>
                <a:latin typeface="Calibri"/>
                <a:ea typeface="Calibri"/>
                <a:cs typeface="Calibri"/>
              </a:defRPr>
            </a:pPr>
            <a:r>
              <a:rPr sz="3075" b="0">
                <a:solidFill>
                  <a:srgbClr val="333333"/>
                </a:solidFill>
                <a:latin typeface="Calibri"/>
                <a:ea typeface="Calibri"/>
                <a:cs typeface="Calibri"/>
              </a:rPr>
              <a:t>Kubernetes replica changes</a:t>
            </a:r>
          </a:p>
          <a:p>
            <a:endParaRPr sz="3075" b="0">
              <a:solidFill>
                <a:srgbClr val="333333"/>
              </a:solidFill>
              <a:latin typeface="Calibri"/>
              <a:ea typeface="Calibri"/>
              <a:cs typeface="Calibri"/>
            </a:endParaRPr>
          </a:p>
          <a:p>
            <a:pPr>
              <a:defRPr sz="3075" b="0">
                <a:solidFill>
                  <a:srgbClr val="333333"/>
                </a:solidFill>
                <a:latin typeface="Calibri"/>
                <a:ea typeface="Calibri"/>
                <a:cs typeface="Calibri"/>
              </a:defRPr>
            </a:pPr>
            <a:r>
              <a:rPr sz="3075" b="0">
                <a:solidFill>
                  <a:srgbClr val="333333"/>
                </a:solidFill>
                <a:latin typeface="Calibri"/>
                <a:ea typeface="Calibri"/>
                <a:cs typeface="Calibri"/>
              </a:rPr>
              <a:t>Behaviour under wrong predictions</a:t>
            </a:r>
          </a:p>
          <a:p>
            <a:pPr>
              <a:defRPr sz="3075" b="0">
                <a:solidFill>
                  <a:srgbClr val="333333"/>
                </a:solidFill>
                <a:latin typeface="Calibri"/>
                <a:ea typeface="Calibri"/>
                <a:cs typeface="Calibri"/>
              </a:defRPr>
            </a:pPr>
            <a:r>
              <a:rPr sz="3075" b="0">
                <a:solidFill>
                  <a:srgbClr val="333333"/>
                </a:solidFill>
                <a:latin typeface="Calibri"/>
                <a:ea typeface="Calibri"/>
                <a:cs typeface="Calibri"/>
              </a:rPr>
              <a:t>and a constrained resource budget</a:t>
            </a:r>
          </a:p>
        </p:txBody>
      </p:sp>
      <p:sp>
        <p:nvSpPr>
          <p:cNvPr id="110" name="Rectangle 109">
            <a:extLst>
              <a:ext uri="{FF2B5EF4-FFF2-40B4-BE49-F238E27FC236}">
                <a16:creationId xmlns:a16="http://schemas.microsoft.com/office/drawing/2014/main" id="{6EFD8CD2-8577-4260-922E-D899BFFD315D}"/>
              </a:ext>
            </a:extLst>
          </p:cNvPr>
          <p:cNvSpPr>
            <a:spLocks noGrp="1"/>
          </p:cNvSpPr>
          <p:nvPr/>
        </p:nvSpPr>
        <p:spPr>
          <a:xfrm>
            <a:off x="9906000" y="2143125"/>
            <a:ext cx="6315075" cy="666750"/>
          </a:xfrm>
          <a:prstGeom prst="rect">
            <a:avLst/>
          </a:prstGeom>
          <a:noFill/>
          <a:ln w="0">
            <a:noFill/>
          </a:ln>
        </p:spPr>
        <p:txBody>
          <a:bodyPr lIns="0" tIns="0" rIns="0" bIns="0"/>
          <a:lstStyle>
            <a:defPPr>
              <a:defRPr sz="3225" b="1">
                <a:solidFill>
                  <a:srgbClr val="A83033"/>
                </a:solidFill>
                <a:latin typeface="Calibri"/>
                <a:ea typeface="Calibri"/>
                <a:cs typeface="Calibri"/>
              </a:defRPr>
            </a:defPPr>
            <a:lvl1pPr>
              <a:defRPr sz="3225" b="1">
                <a:solidFill>
                  <a:srgbClr val="A83033"/>
                </a:solidFill>
                <a:latin typeface="Calibri"/>
                <a:ea typeface="Calibri"/>
                <a:cs typeface="Calibri"/>
              </a:defRPr>
            </a:lvl1pPr>
            <a:lvl2pPr>
              <a:defRPr sz="3225" b="1">
                <a:solidFill>
                  <a:srgbClr val="A83033"/>
                </a:solidFill>
                <a:latin typeface="Calibri"/>
                <a:ea typeface="Calibri"/>
                <a:cs typeface="Calibri"/>
              </a:defRPr>
            </a:lvl2pPr>
            <a:lvl3pPr>
              <a:defRPr sz="3225" b="1">
                <a:solidFill>
                  <a:srgbClr val="A83033"/>
                </a:solidFill>
                <a:latin typeface="Calibri"/>
                <a:ea typeface="Calibri"/>
                <a:cs typeface="Calibri"/>
              </a:defRPr>
            </a:lvl3pPr>
            <a:lvl4pPr>
              <a:defRPr sz="3225" b="1">
                <a:solidFill>
                  <a:srgbClr val="A83033"/>
                </a:solidFill>
                <a:latin typeface="Calibri"/>
                <a:ea typeface="Calibri"/>
                <a:cs typeface="Calibri"/>
              </a:defRPr>
            </a:lvl4pPr>
            <a:lvl5pPr>
              <a:defRPr sz="3225" b="1">
                <a:solidFill>
                  <a:srgbClr val="A83033"/>
                </a:solidFill>
                <a:latin typeface="Calibri"/>
                <a:ea typeface="Calibri"/>
                <a:cs typeface="Calibri"/>
              </a:defRPr>
            </a:lvl5pPr>
            <a:lvl6pPr>
              <a:defRPr sz="3225" b="1">
                <a:solidFill>
                  <a:srgbClr val="A83033"/>
                </a:solidFill>
                <a:latin typeface="Calibri"/>
                <a:ea typeface="Calibri"/>
                <a:cs typeface="Calibri"/>
              </a:defRPr>
            </a:lvl6pPr>
            <a:lvl7pPr>
              <a:defRPr sz="3225" b="1">
                <a:solidFill>
                  <a:srgbClr val="A83033"/>
                </a:solidFill>
                <a:latin typeface="Calibri"/>
                <a:ea typeface="Calibri"/>
                <a:cs typeface="Calibri"/>
              </a:defRPr>
            </a:lvl7pPr>
            <a:lvl8pPr>
              <a:defRPr sz="3225" b="1">
                <a:solidFill>
                  <a:srgbClr val="A83033"/>
                </a:solidFill>
                <a:latin typeface="Calibri"/>
                <a:ea typeface="Calibri"/>
                <a:cs typeface="Calibri"/>
              </a:defRPr>
            </a:lvl8pPr>
            <a:lvl9pPr>
              <a:defRPr sz="3225" b="1">
                <a:solidFill>
                  <a:srgbClr val="A83033"/>
                </a:solidFill>
                <a:latin typeface="Calibri"/>
                <a:ea typeface="Calibri"/>
                <a:cs typeface="Calibri"/>
              </a:defRPr>
            </a:lvl9pPr>
          </a:lstStyle>
          <a:p>
            <a:pPr>
              <a:defRPr sz="3225" b="1">
                <a:solidFill>
                  <a:srgbClr val="A83033"/>
                </a:solidFill>
                <a:latin typeface="Calibri"/>
                <a:ea typeface="Calibri"/>
                <a:cs typeface="Calibri"/>
              </a:defRPr>
            </a:pPr>
            <a:r>
              <a:rPr sz="3225" b="1">
                <a:solidFill>
                  <a:srgbClr val="A83033"/>
                </a:solidFill>
                <a:latin typeface="Calibri"/>
                <a:ea typeface="Calibri"/>
                <a:cs typeface="Calibri"/>
              </a:rPr>
              <a:t>Limits of this prototype</a:t>
            </a:r>
          </a:p>
        </p:txBody>
      </p:sp>
      <p:sp>
        <p:nvSpPr>
          <p:cNvPr id="111" name="Rectangle 110">
            <a:extLst>
              <a:ext uri="{FF2B5EF4-FFF2-40B4-BE49-F238E27FC236}">
                <a16:creationId xmlns:a16="http://schemas.microsoft.com/office/drawing/2014/main" id="{BA77470F-FC71-4006-BF81-A6262B4BCAEA}"/>
              </a:ext>
            </a:extLst>
          </p:cNvPr>
          <p:cNvSpPr>
            <a:spLocks noGrp="1"/>
          </p:cNvSpPr>
          <p:nvPr/>
        </p:nvSpPr>
        <p:spPr>
          <a:xfrm>
            <a:off x="9906000" y="3286125"/>
            <a:ext cx="6315075" cy="3714750"/>
          </a:xfrm>
          <a:prstGeom prst="rect">
            <a:avLst/>
          </a:prstGeom>
          <a:noFill/>
          <a:ln w="0">
            <a:noFill/>
          </a:ln>
        </p:spPr>
        <p:txBody>
          <a:bodyPr lIns="0" tIns="0" rIns="0" bIns="0"/>
          <a:lstStyle>
            <a:defPPr>
              <a:defRPr sz="3075" b="0">
                <a:solidFill>
                  <a:srgbClr val="333333"/>
                </a:solidFill>
                <a:latin typeface="Calibri"/>
                <a:ea typeface="Calibri"/>
                <a:cs typeface="Calibri"/>
              </a:defRPr>
            </a:defPPr>
            <a:lvl1pPr>
              <a:defRPr sz="3075" b="0">
                <a:solidFill>
                  <a:srgbClr val="333333"/>
                </a:solidFill>
                <a:latin typeface="Calibri"/>
                <a:ea typeface="Calibri"/>
                <a:cs typeface="Calibri"/>
              </a:defRPr>
            </a:lvl1pPr>
            <a:lvl2pPr>
              <a:defRPr sz="3075" b="0">
                <a:solidFill>
                  <a:srgbClr val="333333"/>
                </a:solidFill>
                <a:latin typeface="Calibri"/>
                <a:ea typeface="Calibri"/>
                <a:cs typeface="Calibri"/>
              </a:defRPr>
            </a:lvl2pPr>
            <a:lvl3pPr>
              <a:defRPr sz="3075" b="0">
                <a:solidFill>
                  <a:srgbClr val="333333"/>
                </a:solidFill>
                <a:latin typeface="Calibri"/>
                <a:ea typeface="Calibri"/>
                <a:cs typeface="Calibri"/>
              </a:defRPr>
            </a:lvl3pPr>
            <a:lvl4pPr>
              <a:defRPr sz="3075" b="0">
                <a:solidFill>
                  <a:srgbClr val="333333"/>
                </a:solidFill>
                <a:latin typeface="Calibri"/>
                <a:ea typeface="Calibri"/>
                <a:cs typeface="Calibri"/>
              </a:defRPr>
            </a:lvl4pPr>
            <a:lvl5pPr>
              <a:defRPr sz="3075" b="0">
                <a:solidFill>
                  <a:srgbClr val="333333"/>
                </a:solidFill>
                <a:latin typeface="Calibri"/>
                <a:ea typeface="Calibri"/>
                <a:cs typeface="Calibri"/>
              </a:defRPr>
            </a:lvl5pPr>
            <a:lvl6pPr>
              <a:defRPr sz="3075" b="0">
                <a:solidFill>
                  <a:srgbClr val="333333"/>
                </a:solidFill>
                <a:latin typeface="Calibri"/>
                <a:ea typeface="Calibri"/>
                <a:cs typeface="Calibri"/>
              </a:defRPr>
            </a:lvl6pPr>
            <a:lvl7pPr>
              <a:defRPr sz="3075" b="0">
                <a:solidFill>
                  <a:srgbClr val="333333"/>
                </a:solidFill>
                <a:latin typeface="Calibri"/>
                <a:ea typeface="Calibri"/>
                <a:cs typeface="Calibri"/>
              </a:defRPr>
            </a:lvl7pPr>
            <a:lvl8pPr>
              <a:defRPr sz="3075" b="0">
                <a:solidFill>
                  <a:srgbClr val="333333"/>
                </a:solidFill>
                <a:latin typeface="Calibri"/>
                <a:ea typeface="Calibri"/>
                <a:cs typeface="Calibri"/>
              </a:defRPr>
            </a:lvl8pPr>
            <a:lvl9pPr>
              <a:defRPr sz="3075" b="0">
                <a:solidFill>
                  <a:srgbClr val="333333"/>
                </a:solidFill>
                <a:latin typeface="Calibri"/>
                <a:ea typeface="Calibri"/>
                <a:cs typeface="Calibri"/>
              </a:defRPr>
            </a:lvl9pPr>
          </a:lstStyle>
          <a:p>
            <a:pPr>
              <a:defRPr sz="3075" b="0">
                <a:solidFill>
                  <a:srgbClr val="333333"/>
                </a:solidFill>
                <a:latin typeface="Calibri"/>
                <a:ea typeface="Calibri"/>
                <a:cs typeface="Calibri"/>
              </a:defRPr>
            </a:pPr>
            <a:r>
              <a:rPr sz="3075" b="0">
                <a:solidFill>
                  <a:srgbClr val="333333"/>
                </a:solidFill>
                <a:latin typeface="Calibri"/>
                <a:ea typeface="Calibri"/>
                <a:cs typeface="Calibri"/>
              </a:rPr>
              <a:t>Synthetic workload arrivals</a:t>
            </a:r>
          </a:p>
          <a:p>
            <a:pPr>
              <a:defRPr sz="3075" b="0">
                <a:solidFill>
                  <a:srgbClr val="333333"/>
                </a:solidFill>
                <a:latin typeface="Calibri"/>
                <a:ea typeface="Calibri"/>
                <a:cs typeface="Calibri"/>
              </a:defRPr>
            </a:pPr>
            <a:r>
              <a:rPr sz="3075" b="0">
                <a:solidFill>
                  <a:srgbClr val="333333"/>
                </a:solidFill>
                <a:latin typeface="Calibri"/>
                <a:ea typeface="Calibri"/>
                <a:cs typeface="Calibri"/>
              </a:rPr>
              <a:t>One laptop and one Kubernetes node</a:t>
            </a:r>
          </a:p>
          <a:p>
            <a:pPr>
              <a:defRPr sz="3075" b="0">
                <a:solidFill>
                  <a:srgbClr val="333333"/>
                </a:solidFill>
                <a:latin typeface="Calibri"/>
                <a:ea typeface="Calibri"/>
                <a:cs typeface="Calibri"/>
              </a:defRPr>
            </a:pPr>
            <a:r>
              <a:rPr sz="3075" b="0">
                <a:solidFill>
                  <a:srgbClr val="333333"/>
                </a:solidFill>
                <a:latin typeface="Calibri"/>
                <a:ea typeface="Calibri"/>
                <a:cs typeface="Calibri"/>
              </a:rPr>
              <a:t>Cost and energy use assumed rates</a:t>
            </a:r>
          </a:p>
          <a:p>
            <a:endParaRPr sz="3075" b="0">
              <a:solidFill>
                <a:srgbClr val="333333"/>
              </a:solidFill>
              <a:latin typeface="Calibri"/>
              <a:ea typeface="Calibri"/>
              <a:cs typeface="Calibri"/>
            </a:endParaRPr>
          </a:p>
          <a:p>
            <a:pPr>
              <a:defRPr sz="3075" b="0">
                <a:solidFill>
                  <a:srgbClr val="333333"/>
                </a:solidFill>
                <a:latin typeface="Calibri"/>
                <a:ea typeface="Calibri"/>
                <a:cs typeface="Calibri"/>
              </a:defRPr>
            </a:pPr>
            <a:r>
              <a:rPr sz="3075" b="0">
                <a:solidFill>
                  <a:srgbClr val="333333"/>
                </a:solidFill>
                <a:latin typeface="Calibri"/>
                <a:ea typeface="Calibri"/>
                <a:cs typeface="Calibri"/>
              </a:rPr>
              <a:t>Forecast quality needs broader</a:t>
            </a:r>
          </a:p>
          <a:p>
            <a:pPr>
              <a:defRPr sz="3075" b="0">
                <a:solidFill>
                  <a:srgbClr val="333333"/>
                </a:solidFill>
                <a:latin typeface="Calibri"/>
                <a:ea typeface="Calibri"/>
                <a:cs typeface="Calibri"/>
              </a:defRPr>
            </a:pPr>
            <a:r>
              <a:rPr sz="3075" b="0">
                <a:solidFill>
                  <a:srgbClr val="333333"/>
                </a:solidFill>
                <a:latin typeface="Calibri"/>
                <a:ea typeface="Calibri"/>
                <a:cs typeface="Calibri"/>
              </a:rPr>
              <a:t>workload validation</a:t>
            </a:r>
          </a:p>
        </p:txBody>
      </p:sp>
      <p:sp>
        <p:nvSpPr>
          <p:cNvPr id="112" name="Rectangle 111">
            <a:extLst>
              <a:ext uri="{FF2B5EF4-FFF2-40B4-BE49-F238E27FC236}">
                <a16:creationId xmlns:a16="http://schemas.microsoft.com/office/drawing/2014/main" id="{3A413987-BC7D-4CB5-B5B1-DCDF8F9C0EE1}"/>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17 / 18</a:t>
            </a:r>
          </a:p>
        </p:txBody>
      </p:sp>
    </p:spTree>
    <p:extLst>
      <p:ext uri="{BB962C8B-B14F-4D97-AF65-F5344CB8AC3E}">
        <p14:creationId xmlns:p14="http://schemas.microsoft.com/office/powerpoint/2010/main" val="1518820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E8D22122-9FA1-46B3-A669-7957A434B0E4}"/>
              </a:ext>
            </a:extLst>
          </p:cNvPr>
          <p:cNvSpPr>
            <a:spLocks noGrp="1"/>
          </p:cNvSpPr>
          <p:nvPr/>
        </p:nvSpPr>
        <p:spPr>
          <a:xfrm>
            <a:off x="0" y="-1"/>
            <a:ext cx="708364" cy="8198466"/>
          </a:xfrm>
          <a:custGeom>
            <a:avLst/>
            <a:gdLst/>
            <a:ahLst/>
            <a:cxnLst/>
            <a:rect l="l" t="t" r="r" b="b"/>
            <a:pathLst>
              <a:path w="186565" h="2159267">
                <a:moveTo>
                  <a:pt x="0" y="0"/>
                </a:moveTo>
                <a:lnTo>
                  <a:pt x="186565" y="0"/>
                </a:lnTo>
                <a:lnTo>
                  <a:pt x="186565" y="2159267"/>
                </a:lnTo>
                <a:lnTo>
                  <a:pt x="0" y="2159267"/>
                </a:lnTo>
                <a:close/>
              </a:path>
            </a:pathLst>
          </a:custGeom>
          <a:solidFill>
            <a:srgbClr val="DA3831"/>
          </a:solidFill>
          <a:ln>
            <a:noFill/>
          </a:ln>
        </p:spPr>
      </p:sp>
      <p:sp>
        <p:nvSpPr>
          <p:cNvPr id="101" name="Google Shape;101;p14">
            <a:extLst>
              <a:ext uri="{FF2B5EF4-FFF2-40B4-BE49-F238E27FC236}">
                <a16:creationId xmlns:a16="http://schemas.microsoft.com/office/drawing/2014/main" id="{DCE0C62A-8DE0-49C2-B349-E0C8B2FE77BC}"/>
              </a:ext>
            </a:extLst>
          </p:cNvPr>
          <p:cNvSpPr>
            <a:spLocks noGrp="1"/>
          </p:cNvSpPr>
          <p:nvPr/>
        </p:nvSpPr>
        <p:spPr>
          <a:xfrm>
            <a:off x="0" y="-144661"/>
            <a:ext cx="708364" cy="8343127"/>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3" name="Google Shape;103;p14">
            <a:extLst>
              <a:ext uri="{FF2B5EF4-FFF2-40B4-BE49-F238E27FC236}">
                <a16:creationId xmlns:a16="http://schemas.microsoft.com/office/drawing/2014/main" id="{E8F3BB31-56EE-46F2-BEA0-BDE65DE148EC}"/>
              </a:ext>
            </a:extLst>
          </p:cNvPr>
          <p:cNvSpPr>
            <a:spLocks noGrp="1"/>
          </p:cNvSpPr>
          <p:nvPr/>
        </p:nvSpPr>
        <p:spPr>
          <a:xfrm>
            <a:off x="0" y="-18666"/>
            <a:ext cx="458873" cy="10305665"/>
          </a:xfrm>
          <a:custGeom>
            <a:avLst/>
            <a:gdLst/>
            <a:ahLst/>
            <a:cxnLst/>
            <a:rect l="l" t="t" r="r" b="b"/>
            <a:pathLst>
              <a:path w="120855" h="2714249">
                <a:moveTo>
                  <a:pt x="0" y="0"/>
                </a:moveTo>
                <a:lnTo>
                  <a:pt x="120855" y="0"/>
                </a:lnTo>
                <a:lnTo>
                  <a:pt x="120855" y="2714249"/>
                </a:lnTo>
                <a:lnTo>
                  <a:pt x="0" y="2714249"/>
                </a:lnTo>
                <a:close/>
              </a:path>
            </a:pathLst>
          </a:custGeom>
          <a:solidFill>
            <a:srgbClr val="A83033"/>
          </a:solidFill>
          <a:ln>
            <a:noFill/>
          </a:ln>
        </p:spPr>
      </p:sp>
      <p:sp>
        <p:nvSpPr>
          <p:cNvPr id="104" name="Google Shape;104;p14">
            <a:extLst>
              <a:ext uri="{FF2B5EF4-FFF2-40B4-BE49-F238E27FC236}">
                <a16:creationId xmlns:a16="http://schemas.microsoft.com/office/drawing/2014/main" id="{367E784E-12F3-4291-B686-7B3C68985433}"/>
              </a:ext>
            </a:extLst>
          </p:cNvPr>
          <p:cNvSpPr>
            <a:spLocks noGrp="1"/>
          </p:cNvSpPr>
          <p:nvPr/>
        </p:nvSpPr>
        <p:spPr>
          <a:xfrm>
            <a:off x="0" y="-163326"/>
            <a:ext cx="458873" cy="10450326"/>
          </a:xfrm>
          <a:prstGeom prst="rect">
            <a:avLst/>
          </a:prstGeom>
          <a:noFill/>
          <a:ln>
            <a:noFill/>
          </a:ln>
        </p:spPr>
        <p:txBody>
          <a:bodyPr spcFirstLastPara="1" wrap="square" lIns="50800" tIns="50800" rIns="50800" bIns="50800" anchor="ctr">
            <a:noAutofit/>
          </a:bodyPr>
          <a:lstStyle/>
          <a:p>
            <a:pPr marL="0" marR="0" lvl="0" indent="0" algn="ctr">
              <a:lnSpc>
                <a:spcPct val="147722"/>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endParaRPr>
          </a:p>
        </p:txBody>
      </p:sp>
      <p:sp>
        <p:nvSpPr>
          <p:cNvPr id="105" name="Google Shape;105;p14">
            <a:extLst>
              <a:ext uri="{FF2B5EF4-FFF2-40B4-BE49-F238E27FC236}">
                <a16:creationId xmlns:a16="http://schemas.microsoft.com/office/drawing/2014/main" id="{8FED8C34-DFBE-45E4-973E-A21934A1931A}"/>
              </a:ext>
            </a:extLst>
          </p:cNvPr>
          <p:cNvSpPr>
            <a:spLocks noGrp="1"/>
          </p:cNvSpPr>
          <p:nvPr/>
        </p:nvSpPr>
        <p:spPr>
          <a:xfrm>
            <a:off x="16222015" y="8783096"/>
            <a:ext cx="1273548" cy="950409"/>
          </a:xfrm>
          <a:custGeom>
            <a:avLst/>
            <a:gdLst/>
            <a:ahLst/>
            <a:cxnLst/>
            <a:rect l="l" t="t" r="r" b="b"/>
            <a:pathLst>
              <a:path w="1273548" h="950409">
                <a:moveTo>
                  <a:pt x="0" y="0"/>
                </a:moveTo>
                <a:lnTo>
                  <a:pt x="1273548" y="0"/>
                </a:lnTo>
                <a:lnTo>
                  <a:pt x="1273548" y="950408"/>
                </a:lnTo>
                <a:lnTo>
                  <a:pt x="0" y="950408"/>
                </a:lnTo>
                <a:lnTo>
                  <a:pt x="0" y="0"/>
                </a:lnTo>
                <a:close/>
              </a:path>
            </a:pathLst>
          </a:custGeom>
          <a:blipFill rotWithShape="1">
            <a:blip r:embed="rId3">
              <a:alphaModFix/>
            </a:blip>
            <a:stretch>
              <a:fillRect/>
            </a:stretch>
          </a:blipFill>
          <a:ln>
            <a:noFill/>
          </a:ln>
        </p:spPr>
      </p:sp>
      <p:sp>
        <p:nvSpPr>
          <p:cNvPr id="106" name="Google Shape;106;p14">
            <a:extLst>
              <a:ext uri="{FF2B5EF4-FFF2-40B4-BE49-F238E27FC236}">
                <a16:creationId xmlns:a16="http://schemas.microsoft.com/office/drawing/2014/main" id="{5EAA5F24-EFF0-404D-8BBD-D96C50C0BE9D}"/>
              </a:ext>
            </a:extLst>
          </p:cNvPr>
          <p:cNvSpPr>
            <a:spLocks noGrp="1"/>
          </p:cNvSpPr>
          <p:nvPr/>
        </p:nvSpPr>
        <p:spPr>
          <a:xfrm>
            <a:off x="1028700" y="8750140"/>
            <a:ext cx="3166959" cy="1030701"/>
          </a:xfrm>
          <a:custGeom>
            <a:avLst/>
            <a:gdLst/>
            <a:ahLst/>
            <a:cxnLst/>
            <a:rect l="l" t="t" r="r" b="b"/>
            <a:pathLst>
              <a:path w="3166959" h="1030701">
                <a:moveTo>
                  <a:pt x="0" y="0"/>
                </a:moveTo>
                <a:lnTo>
                  <a:pt x="3166959" y="0"/>
                </a:lnTo>
                <a:lnTo>
                  <a:pt x="3166959" y="1030701"/>
                </a:lnTo>
                <a:lnTo>
                  <a:pt x="0" y="1030701"/>
                </a:lnTo>
                <a:lnTo>
                  <a:pt x="0" y="0"/>
                </a:lnTo>
                <a:close/>
              </a:path>
            </a:pathLst>
          </a:custGeom>
          <a:blipFill rotWithShape="1">
            <a:blip r:embed="rId4">
              <a:alphaModFix/>
            </a:blip>
            <a:stretch>
              <a:fillRect/>
            </a:stretch>
          </a:blipFill>
          <a:ln>
            <a:noFill/>
          </a:ln>
        </p:spPr>
      </p:sp>
      <p:sp>
        <p:nvSpPr>
          <p:cNvPr id="107" name="Rectangle 106">
            <a:extLst>
              <a:ext uri="{FF2B5EF4-FFF2-40B4-BE49-F238E27FC236}">
                <a16:creationId xmlns:a16="http://schemas.microsoft.com/office/drawing/2014/main" id="{3C9FEBBF-E978-4B27-A61E-8DF825E1E608}"/>
              </a:ext>
            </a:extLst>
          </p:cNvPr>
          <p:cNvSpPr>
            <a:spLocks noGrp="1"/>
          </p:cNvSpPr>
          <p:nvPr/>
        </p:nvSpPr>
        <p:spPr>
          <a:xfrm>
            <a:off x="2238375" y="933450"/>
            <a:ext cx="13982700" cy="809625"/>
          </a:xfrm>
          <a:prstGeom prst="rect">
            <a:avLst/>
          </a:prstGeom>
          <a:noFill/>
          <a:ln w="0">
            <a:noFill/>
          </a:ln>
        </p:spPr>
        <p:txBody>
          <a:bodyPr lIns="0" tIns="0" rIns="0" bIns="0"/>
          <a:lstStyle>
            <a:defPPr>
              <a:defRPr sz="4000" b="0">
                <a:solidFill>
                  <a:srgbClr val="A83033"/>
                </a:solidFill>
                <a:latin typeface="Marcellus"/>
                <a:ea typeface="Marcellus"/>
                <a:cs typeface="Marcellus"/>
              </a:defRPr>
            </a:defPPr>
            <a:lvl1pPr>
              <a:defRPr sz="4000" b="0">
                <a:solidFill>
                  <a:srgbClr val="A83033"/>
                </a:solidFill>
                <a:latin typeface="Marcellus"/>
                <a:ea typeface="Marcellus"/>
                <a:cs typeface="Marcellus"/>
              </a:defRPr>
            </a:lvl1pPr>
            <a:lvl2pPr>
              <a:defRPr sz="4000" b="0">
                <a:solidFill>
                  <a:srgbClr val="A83033"/>
                </a:solidFill>
                <a:latin typeface="Marcellus"/>
                <a:ea typeface="Marcellus"/>
                <a:cs typeface="Marcellus"/>
              </a:defRPr>
            </a:lvl2pPr>
            <a:lvl3pPr>
              <a:defRPr sz="4000" b="0">
                <a:solidFill>
                  <a:srgbClr val="A83033"/>
                </a:solidFill>
                <a:latin typeface="Marcellus"/>
                <a:ea typeface="Marcellus"/>
                <a:cs typeface="Marcellus"/>
              </a:defRPr>
            </a:lvl3pPr>
            <a:lvl4pPr>
              <a:defRPr sz="4000" b="0">
                <a:solidFill>
                  <a:srgbClr val="A83033"/>
                </a:solidFill>
                <a:latin typeface="Marcellus"/>
                <a:ea typeface="Marcellus"/>
                <a:cs typeface="Marcellus"/>
              </a:defRPr>
            </a:lvl4pPr>
            <a:lvl5pPr>
              <a:defRPr sz="4000" b="0">
                <a:solidFill>
                  <a:srgbClr val="A83033"/>
                </a:solidFill>
                <a:latin typeface="Marcellus"/>
                <a:ea typeface="Marcellus"/>
                <a:cs typeface="Marcellus"/>
              </a:defRPr>
            </a:lvl5pPr>
            <a:lvl6pPr>
              <a:defRPr sz="4000" b="0">
                <a:solidFill>
                  <a:srgbClr val="A83033"/>
                </a:solidFill>
                <a:latin typeface="Marcellus"/>
                <a:ea typeface="Marcellus"/>
                <a:cs typeface="Marcellus"/>
              </a:defRPr>
            </a:lvl6pPr>
            <a:lvl7pPr>
              <a:defRPr sz="4000" b="0">
                <a:solidFill>
                  <a:srgbClr val="A83033"/>
                </a:solidFill>
                <a:latin typeface="Marcellus"/>
                <a:ea typeface="Marcellus"/>
                <a:cs typeface="Marcellus"/>
              </a:defRPr>
            </a:lvl7pPr>
            <a:lvl8pPr>
              <a:defRPr sz="4000" b="0">
                <a:solidFill>
                  <a:srgbClr val="A83033"/>
                </a:solidFill>
                <a:latin typeface="Marcellus"/>
                <a:ea typeface="Marcellus"/>
                <a:cs typeface="Marcellus"/>
              </a:defRPr>
            </a:lvl8pPr>
            <a:lvl9pPr>
              <a:defRPr sz="4000" b="0">
                <a:solidFill>
                  <a:srgbClr val="A83033"/>
                </a:solidFill>
                <a:latin typeface="Marcellus"/>
                <a:ea typeface="Marcellus"/>
                <a:cs typeface="Marcellus"/>
              </a:defRPr>
            </a:lvl9pPr>
          </a:lstStyle>
          <a:p>
            <a:pPr>
              <a:defRPr sz="4000" b="0">
                <a:solidFill>
                  <a:srgbClr val="A83033"/>
                </a:solidFill>
                <a:latin typeface="Marcellus"/>
                <a:ea typeface="Marcellus"/>
                <a:cs typeface="Marcellus"/>
              </a:defRPr>
            </a:pPr>
            <a:r>
              <a:rPr sz="4000" b="0">
                <a:solidFill>
                  <a:srgbClr val="A83033"/>
                </a:solidFill>
                <a:latin typeface="Marcellus"/>
                <a:ea typeface="Marcellus"/>
                <a:cs typeface="Marcellus"/>
              </a:rPr>
              <a:t>Conclusion</a:t>
            </a:r>
          </a:p>
        </p:txBody>
      </p:sp>
      <p:sp>
        <p:nvSpPr>
          <p:cNvPr id="108" name="Rectangle 107">
            <a:extLst>
              <a:ext uri="{FF2B5EF4-FFF2-40B4-BE49-F238E27FC236}">
                <a16:creationId xmlns:a16="http://schemas.microsoft.com/office/drawing/2014/main" id="{5F117FDB-8923-417B-BFF1-F3C00D572714}"/>
              </a:ext>
            </a:extLst>
          </p:cNvPr>
          <p:cNvSpPr>
            <a:spLocks noGrp="1"/>
          </p:cNvSpPr>
          <p:nvPr/>
        </p:nvSpPr>
        <p:spPr>
          <a:xfrm>
            <a:off x="2238375" y="2238375"/>
            <a:ext cx="13982700" cy="904875"/>
          </a:xfrm>
          <a:prstGeom prst="rect">
            <a:avLst/>
          </a:prstGeom>
          <a:noFill/>
          <a:ln w="0">
            <a:noFill/>
          </a:ln>
        </p:spPr>
        <p:txBody>
          <a:bodyPr lIns="0" tIns="0" rIns="0" bIns="0"/>
          <a:lstStyle>
            <a:defPPr>
              <a:defRPr sz="3600" b="1">
                <a:solidFill>
                  <a:srgbClr val="A83033"/>
                </a:solidFill>
                <a:latin typeface="Calibri"/>
                <a:ea typeface="Calibri"/>
                <a:cs typeface="Calibri"/>
              </a:defRPr>
            </a:defPPr>
            <a:lvl1pPr>
              <a:defRPr sz="3600" b="1">
                <a:solidFill>
                  <a:srgbClr val="A83033"/>
                </a:solidFill>
                <a:latin typeface="Calibri"/>
                <a:ea typeface="Calibri"/>
                <a:cs typeface="Calibri"/>
              </a:defRPr>
            </a:lvl1pPr>
            <a:lvl2pPr>
              <a:defRPr sz="3600" b="1">
                <a:solidFill>
                  <a:srgbClr val="A83033"/>
                </a:solidFill>
                <a:latin typeface="Calibri"/>
                <a:ea typeface="Calibri"/>
                <a:cs typeface="Calibri"/>
              </a:defRPr>
            </a:lvl2pPr>
            <a:lvl3pPr>
              <a:defRPr sz="3600" b="1">
                <a:solidFill>
                  <a:srgbClr val="A83033"/>
                </a:solidFill>
                <a:latin typeface="Calibri"/>
                <a:ea typeface="Calibri"/>
                <a:cs typeface="Calibri"/>
              </a:defRPr>
            </a:lvl3pPr>
            <a:lvl4pPr>
              <a:defRPr sz="3600" b="1">
                <a:solidFill>
                  <a:srgbClr val="A83033"/>
                </a:solidFill>
                <a:latin typeface="Calibri"/>
                <a:ea typeface="Calibri"/>
                <a:cs typeface="Calibri"/>
              </a:defRPr>
            </a:lvl4pPr>
            <a:lvl5pPr>
              <a:defRPr sz="3600" b="1">
                <a:solidFill>
                  <a:srgbClr val="A83033"/>
                </a:solidFill>
                <a:latin typeface="Calibri"/>
                <a:ea typeface="Calibri"/>
                <a:cs typeface="Calibri"/>
              </a:defRPr>
            </a:lvl5pPr>
            <a:lvl6pPr>
              <a:defRPr sz="3600" b="1">
                <a:solidFill>
                  <a:srgbClr val="A83033"/>
                </a:solidFill>
                <a:latin typeface="Calibri"/>
                <a:ea typeface="Calibri"/>
                <a:cs typeface="Calibri"/>
              </a:defRPr>
            </a:lvl6pPr>
            <a:lvl7pPr>
              <a:defRPr sz="3600" b="1">
                <a:solidFill>
                  <a:srgbClr val="A83033"/>
                </a:solidFill>
                <a:latin typeface="Calibri"/>
                <a:ea typeface="Calibri"/>
                <a:cs typeface="Calibri"/>
              </a:defRPr>
            </a:lvl7pPr>
            <a:lvl8pPr>
              <a:defRPr sz="3600" b="1">
                <a:solidFill>
                  <a:srgbClr val="A83033"/>
                </a:solidFill>
                <a:latin typeface="Calibri"/>
                <a:ea typeface="Calibri"/>
                <a:cs typeface="Calibri"/>
              </a:defRPr>
            </a:lvl8pPr>
            <a:lvl9pPr>
              <a:defRPr sz="3600" b="1">
                <a:solidFill>
                  <a:srgbClr val="A83033"/>
                </a:solidFill>
                <a:latin typeface="Calibri"/>
                <a:ea typeface="Calibri"/>
                <a:cs typeface="Calibri"/>
              </a:defRPr>
            </a:lvl9pPr>
          </a:lstStyle>
          <a:p>
            <a:pPr>
              <a:defRPr sz="3600" b="1">
                <a:solidFill>
                  <a:srgbClr val="A83033"/>
                </a:solidFill>
                <a:latin typeface="Calibri"/>
                <a:ea typeface="Calibri"/>
                <a:cs typeface="Calibri"/>
              </a:defRPr>
            </a:pPr>
            <a:r>
              <a:rPr sz="3600" b="1">
                <a:solidFill>
                  <a:srgbClr val="A83033"/>
                </a:solidFill>
                <a:latin typeface="Calibri"/>
                <a:ea typeface="Calibri"/>
                <a:cs typeface="Calibri"/>
              </a:rPr>
              <a:t>The system predicts workload and scales real workers.</a:t>
            </a:r>
          </a:p>
        </p:txBody>
      </p:sp>
      <p:sp>
        <p:nvSpPr>
          <p:cNvPr id="109" name="Rectangle 108">
            <a:extLst>
              <a:ext uri="{FF2B5EF4-FFF2-40B4-BE49-F238E27FC236}">
                <a16:creationId xmlns:a16="http://schemas.microsoft.com/office/drawing/2014/main" id="{57E72C2A-12D9-4266-B1AC-A7A48E9556EC}"/>
              </a:ext>
            </a:extLst>
          </p:cNvPr>
          <p:cNvSpPr>
            <a:spLocks noGrp="1"/>
          </p:cNvSpPr>
          <p:nvPr/>
        </p:nvSpPr>
        <p:spPr>
          <a:xfrm>
            <a:off x="2238375" y="3714750"/>
            <a:ext cx="13982700" cy="3476625"/>
          </a:xfrm>
          <a:prstGeom prst="rect">
            <a:avLst/>
          </a:prstGeom>
          <a:noFill/>
          <a:ln w="0">
            <a:noFill/>
          </a:ln>
        </p:spPr>
        <p:txBody>
          <a:bodyPr lIns="0" tIns="0" rIns="0" bIns="0"/>
          <a:lstStyle>
            <a:defPPr>
              <a:defRPr sz="3150" b="0">
                <a:solidFill>
                  <a:srgbClr val="333333"/>
                </a:solidFill>
                <a:latin typeface="Calibri"/>
                <a:ea typeface="Calibri"/>
                <a:cs typeface="Calibri"/>
              </a:defRPr>
            </a:defPPr>
            <a:lvl1pPr>
              <a:defRPr sz="3150" b="0">
                <a:solidFill>
                  <a:srgbClr val="333333"/>
                </a:solidFill>
                <a:latin typeface="Calibri"/>
                <a:ea typeface="Calibri"/>
                <a:cs typeface="Calibri"/>
              </a:defRPr>
            </a:lvl1pPr>
            <a:lvl2pPr>
              <a:defRPr sz="3150" b="0">
                <a:solidFill>
                  <a:srgbClr val="333333"/>
                </a:solidFill>
                <a:latin typeface="Calibri"/>
                <a:ea typeface="Calibri"/>
                <a:cs typeface="Calibri"/>
              </a:defRPr>
            </a:lvl2pPr>
            <a:lvl3pPr>
              <a:defRPr sz="3150" b="0">
                <a:solidFill>
                  <a:srgbClr val="333333"/>
                </a:solidFill>
                <a:latin typeface="Calibri"/>
                <a:ea typeface="Calibri"/>
                <a:cs typeface="Calibri"/>
              </a:defRPr>
            </a:lvl3pPr>
            <a:lvl4pPr>
              <a:defRPr sz="3150" b="0">
                <a:solidFill>
                  <a:srgbClr val="333333"/>
                </a:solidFill>
                <a:latin typeface="Calibri"/>
                <a:ea typeface="Calibri"/>
                <a:cs typeface="Calibri"/>
              </a:defRPr>
            </a:lvl4pPr>
            <a:lvl5pPr>
              <a:defRPr sz="3150" b="0">
                <a:solidFill>
                  <a:srgbClr val="333333"/>
                </a:solidFill>
                <a:latin typeface="Calibri"/>
                <a:ea typeface="Calibri"/>
                <a:cs typeface="Calibri"/>
              </a:defRPr>
            </a:lvl5pPr>
            <a:lvl6pPr>
              <a:defRPr sz="3150" b="0">
                <a:solidFill>
                  <a:srgbClr val="333333"/>
                </a:solidFill>
                <a:latin typeface="Calibri"/>
                <a:ea typeface="Calibri"/>
                <a:cs typeface="Calibri"/>
              </a:defRPr>
            </a:lvl6pPr>
            <a:lvl7pPr>
              <a:defRPr sz="3150" b="0">
                <a:solidFill>
                  <a:srgbClr val="333333"/>
                </a:solidFill>
                <a:latin typeface="Calibri"/>
                <a:ea typeface="Calibri"/>
                <a:cs typeface="Calibri"/>
              </a:defRPr>
            </a:lvl7pPr>
            <a:lvl8pPr>
              <a:defRPr sz="3150" b="0">
                <a:solidFill>
                  <a:srgbClr val="333333"/>
                </a:solidFill>
                <a:latin typeface="Calibri"/>
                <a:ea typeface="Calibri"/>
                <a:cs typeface="Calibri"/>
              </a:defRPr>
            </a:lvl8pPr>
            <a:lvl9pPr>
              <a:defRPr sz="3150" b="0">
                <a:solidFill>
                  <a:srgbClr val="333333"/>
                </a:solidFill>
                <a:latin typeface="Calibri"/>
                <a:ea typeface="Calibri"/>
                <a:cs typeface="Calibri"/>
              </a:defRPr>
            </a:lvl9pPr>
          </a:lstStyle>
          <a:p>
            <a:pPr>
              <a:defRPr sz="3150" b="0">
                <a:solidFill>
                  <a:srgbClr val="333333"/>
                </a:solidFill>
                <a:latin typeface="Calibri"/>
                <a:ea typeface="Calibri"/>
                <a:cs typeface="Calibri"/>
              </a:defRPr>
            </a:pPr>
            <a:r>
              <a:rPr sz="3150" b="0">
                <a:solidFill>
                  <a:srgbClr val="333333"/>
                </a:solidFill>
                <a:latin typeface="Calibri"/>
                <a:ea typeface="Calibri"/>
                <a:cs typeface="Calibri"/>
              </a:rPr>
              <a:t>Guarded scaling protects service quality when the forecast is wrong.</a:t>
            </a:r>
          </a:p>
          <a:p>
            <a:endParaRPr sz="3150" b="0">
              <a:solidFill>
                <a:srgbClr val="333333"/>
              </a:solidFill>
              <a:latin typeface="Calibri"/>
              <a:ea typeface="Calibri"/>
              <a:cs typeface="Calibri"/>
            </a:endParaRPr>
          </a:p>
          <a:p>
            <a:pPr>
              <a:defRPr sz="3150" b="0">
                <a:solidFill>
                  <a:srgbClr val="333333"/>
                </a:solidFill>
                <a:latin typeface="Calibri"/>
                <a:ea typeface="Calibri"/>
                <a:cs typeface="Calibri"/>
              </a:defRPr>
            </a:pPr>
            <a:r>
              <a:rPr sz="3150" b="0">
                <a:solidFill>
                  <a:srgbClr val="333333"/>
                </a:solidFill>
                <a:latin typeface="Calibri"/>
                <a:ea typeface="Calibri"/>
                <a:cs typeface="Calibri"/>
              </a:rPr>
              <a:t>It reduces allocation versus fixed maximum capacity, while exposing the cost of extra headroom.</a:t>
            </a:r>
          </a:p>
          <a:p>
            <a:endParaRPr sz="3150" b="0">
              <a:solidFill>
                <a:srgbClr val="333333"/>
              </a:solidFill>
              <a:latin typeface="Calibri"/>
              <a:ea typeface="Calibri"/>
              <a:cs typeface="Calibri"/>
            </a:endParaRPr>
          </a:p>
          <a:p>
            <a:pPr>
              <a:defRPr sz="3150" b="0">
                <a:solidFill>
                  <a:srgbClr val="333333"/>
                </a:solidFill>
                <a:latin typeface="Calibri"/>
                <a:ea typeface="Calibri"/>
                <a:cs typeface="Calibri"/>
              </a:defRPr>
            </a:pPr>
            <a:r>
              <a:rPr sz="3150" b="0">
                <a:solidFill>
                  <a:srgbClr val="333333"/>
                </a:solidFill>
                <a:latin typeface="Calibri"/>
                <a:ea typeface="Calibri"/>
                <a:cs typeface="Calibri"/>
              </a:rPr>
              <a:t>The next improvement is a stronger forecast validated on more varied workloads.</a:t>
            </a:r>
          </a:p>
        </p:txBody>
      </p:sp>
      <p:sp>
        <p:nvSpPr>
          <p:cNvPr id="110" name="Rectangle 109">
            <a:extLst>
              <a:ext uri="{FF2B5EF4-FFF2-40B4-BE49-F238E27FC236}">
                <a16:creationId xmlns:a16="http://schemas.microsoft.com/office/drawing/2014/main" id="{AB1DE70F-C1E5-45BE-8534-1B0E20205F49}"/>
              </a:ext>
            </a:extLst>
          </p:cNvPr>
          <p:cNvSpPr>
            <a:spLocks noGrp="1"/>
          </p:cNvSpPr>
          <p:nvPr/>
        </p:nvSpPr>
        <p:spPr>
          <a:xfrm>
            <a:off x="2238375" y="7810500"/>
            <a:ext cx="13982700" cy="619125"/>
          </a:xfrm>
          <a:prstGeom prst="rect">
            <a:avLst/>
          </a:prstGeom>
          <a:noFill/>
          <a:ln w="0">
            <a:noFill/>
          </a:ln>
        </p:spPr>
        <p:txBody>
          <a:bodyPr lIns="0" tIns="0" rIns="0" bIns="0"/>
          <a:lstStyle>
            <a:defPPr>
              <a:defRPr sz="2550" b="0">
                <a:solidFill>
                  <a:srgbClr val="A83033"/>
                </a:solidFill>
                <a:latin typeface="Calibri"/>
                <a:ea typeface="Calibri"/>
                <a:cs typeface="Calibri"/>
              </a:defRPr>
            </a:defPPr>
            <a:lvl1pPr>
              <a:defRPr sz="2550" b="0">
                <a:solidFill>
                  <a:srgbClr val="A83033"/>
                </a:solidFill>
                <a:latin typeface="Calibri"/>
                <a:ea typeface="Calibri"/>
                <a:cs typeface="Calibri"/>
              </a:defRPr>
            </a:lvl1pPr>
            <a:lvl2pPr>
              <a:defRPr sz="2550" b="0">
                <a:solidFill>
                  <a:srgbClr val="A83033"/>
                </a:solidFill>
                <a:latin typeface="Calibri"/>
                <a:ea typeface="Calibri"/>
                <a:cs typeface="Calibri"/>
              </a:defRPr>
            </a:lvl2pPr>
            <a:lvl3pPr>
              <a:defRPr sz="2550" b="0">
                <a:solidFill>
                  <a:srgbClr val="A83033"/>
                </a:solidFill>
                <a:latin typeface="Calibri"/>
                <a:ea typeface="Calibri"/>
                <a:cs typeface="Calibri"/>
              </a:defRPr>
            </a:lvl3pPr>
            <a:lvl4pPr>
              <a:defRPr sz="2550" b="0">
                <a:solidFill>
                  <a:srgbClr val="A83033"/>
                </a:solidFill>
                <a:latin typeface="Calibri"/>
                <a:ea typeface="Calibri"/>
                <a:cs typeface="Calibri"/>
              </a:defRPr>
            </a:lvl4pPr>
            <a:lvl5pPr>
              <a:defRPr sz="2550" b="0">
                <a:solidFill>
                  <a:srgbClr val="A83033"/>
                </a:solidFill>
                <a:latin typeface="Calibri"/>
                <a:ea typeface="Calibri"/>
                <a:cs typeface="Calibri"/>
              </a:defRPr>
            </a:lvl5pPr>
            <a:lvl6pPr>
              <a:defRPr sz="2550" b="0">
                <a:solidFill>
                  <a:srgbClr val="A83033"/>
                </a:solidFill>
                <a:latin typeface="Calibri"/>
                <a:ea typeface="Calibri"/>
                <a:cs typeface="Calibri"/>
              </a:defRPr>
            </a:lvl6pPr>
            <a:lvl7pPr>
              <a:defRPr sz="2550" b="0">
                <a:solidFill>
                  <a:srgbClr val="A83033"/>
                </a:solidFill>
                <a:latin typeface="Calibri"/>
                <a:ea typeface="Calibri"/>
                <a:cs typeface="Calibri"/>
              </a:defRPr>
            </a:lvl7pPr>
            <a:lvl8pPr>
              <a:defRPr sz="2550" b="0">
                <a:solidFill>
                  <a:srgbClr val="A83033"/>
                </a:solidFill>
                <a:latin typeface="Calibri"/>
                <a:ea typeface="Calibri"/>
                <a:cs typeface="Calibri"/>
              </a:defRPr>
            </a:lvl8pPr>
            <a:lvl9pPr>
              <a:defRPr sz="2550" b="0">
                <a:solidFill>
                  <a:srgbClr val="A83033"/>
                </a:solidFill>
                <a:latin typeface="Calibri"/>
                <a:ea typeface="Calibri"/>
                <a:cs typeface="Calibri"/>
              </a:defRPr>
            </a:lvl9pPr>
          </a:lstStyle>
          <a:p>
            <a:pPr>
              <a:defRPr sz="2550" b="0">
                <a:solidFill>
                  <a:srgbClr val="A83033"/>
                </a:solidFill>
                <a:latin typeface="Calibri"/>
                <a:ea typeface="Calibri"/>
                <a:cs typeface="Calibri"/>
              </a:defRPr>
            </a:pPr>
            <a:r>
              <a:rPr sz="2550" b="0">
                <a:solidFill>
                  <a:srgbClr val="A83033"/>
                </a:solidFill>
                <a:latin typeface="Calibri"/>
                <a:ea typeface="Calibri"/>
                <a:cs typeface="Calibri"/>
              </a:rPr>
              <a:t>Source code: github.com/parth1056/accml</a:t>
            </a:r>
          </a:p>
        </p:txBody>
      </p:sp>
      <p:sp>
        <p:nvSpPr>
          <p:cNvPr id="111" name="Rectangle 110">
            <a:extLst>
              <a:ext uri="{FF2B5EF4-FFF2-40B4-BE49-F238E27FC236}">
                <a16:creationId xmlns:a16="http://schemas.microsoft.com/office/drawing/2014/main" id="{D41800E3-86DD-4D32-84FC-E773AC290B7D}"/>
              </a:ext>
            </a:extLst>
          </p:cNvPr>
          <p:cNvSpPr>
            <a:spLocks noGrp="1"/>
          </p:cNvSpPr>
          <p:nvPr/>
        </p:nvSpPr>
        <p:spPr>
          <a:xfrm>
            <a:off x="8858250" y="9601200"/>
            <a:ext cx="1524000" cy="323850"/>
          </a:xfrm>
          <a:prstGeom prst="rect">
            <a:avLst/>
          </a:prstGeom>
          <a:noFill/>
          <a:ln w="0">
            <a:noFill/>
          </a:ln>
        </p:spPr>
        <p:txBody>
          <a:bodyPr lIns="0" tIns="0" rIns="0" bIns="0"/>
          <a:lstStyle>
            <a:defPPr>
              <a:defRPr sz="1800" b="0">
                <a:solidFill>
                  <a:srgbClr val="777777"/>
                </a:solidFill>
                <a:latin typeface="Calibri"/>
                <a:ea typeface="Calibri"/>
                <a:cs typeface="Calibri"/>
              </a:defRPr>
            </a:defPPr>
            <a:lvl1pPr>
              <a:defRPr sz="1800" b="0">
                <a:solidFill>
                  <a:srgbClr val="777777"/>
                </a:solidFill>
                <a:latin typeface="Calibri"/>
                <a:ea typeface="Calibri"/>
                <a:cs typeface="Calibri"/>
              </a:defRPr>
            </a:lvl1pPr>
            <a:lvl2pPr>
              <a:defRPr sz="1800" b="0">
                <a:solidFill>
                  <a:srgbClr val="777777"/>
                </a:solidFill>
                <a:latin typeface="Calibri"/>
                <a:ea typeface="Calibri"/>
                <a:cs typeface="Calibri"/>
              </a:defRPr>
            </a:lvl2pPr>
            <a:lvl3pPr>
              <a:defRPr sz="1800" b="0">
                <a:solidFill>
                  <a:srgbClr val="777777"/>
                </a:solidFill>
                <a:latin typeface="Calibri"/>
                <a:ea typeface="Calibri"/>
                <a:cs typeface="Calibri"/>
              </a:defRPr>
            </a:lvl3pPr>
            <a:lvl4pPr>
              <a:defRPr sz="1800" b="0">
                <a:solidFill>
                  <a:srgbClr val="777777"/>
                </a:solidFill>
                <a:latin typeface="Calibri"/>
                <a:ea typeface="Calibri"/>
                <a:cs typeface="Calibri"/>
              </a:defRPr>
            </a:lvl4pPr>
            <a:lvl5pPr>
              <a:defRPr sz="1800" b="0">
                <a:solidFill>
                  <a:srgbClr val="777777"/>
                </a:solidFill>
                <a:latin typeface="Calibri"/>
                <a:ea typeface="Calibri"/>
                <a:cs typeface="Calibri"/>
              </a:defRPr>
            </a:lvl5pPr>
            <a:lvl6pPr>
              <a:defRPr sz="1800" b="0">
                <a:solidFill>
                  <a:srgbClr val="777777"/>
                </a:solidFill>
                <a:latin typeface="Calibri"/>
                <a:ea typeface="Calibri"/>
                <a:cs typeface="Calibri"/>
              </a:defRPr>
            </a:lvl6pPr>
            <a:lvl7pPr>
              <a:defRPr sz="1800" b="0">
                <a:solidFill>
                  <a:srgbClr val="777777"/>
                </a:solidFill>
                <a:latin typeface="Calibri"/>
                <a:ea typeface="Calibri"/>
                <a:cs typeface="Calibri"/>
              </a:defRPr>
            </a:lvl7pPr>
            <a:lvl8pPr>
              <a:defRPr sz="1800" b="0">
                <a:solidFill>
                  <a:srgbClr val="777777"/>
                </a:solidFill>
                <a:latin typeface="Calibri"/>
                <a:ea typeface="Calibri"/>
                <a:cs typeface="Calibri"/>
              </a:defRPr>
            </a:lvl8pPr>
            <a:lvl9pPr>
              <a:defRPr sz="1800" b="0">
                <a:solidFill>
                  <a:srgbClr val="777777"/>
                </a:solidFill>
                <a:latin typeface="Calibri"/>
                <a:ea typeface="Calibri"/>
                <a:cs typeface="Calibri"/>
              </a:defRPr>
            </a:lvl9pPr>
          </a:lstStyle>
          <a:p>
            <a:pPr>
              <a:defRPr sz="1800" b="0">
                <a:solidFill>
                  <a:srgbClr val="777777"/>
                </a:solidFill>
                <a:latin typeface="Calibri"/>
                <a:ea typeface="Calibri"/>
                <a:cs typeface="Calibri"/>
              </a:defRPr>
            </a:pPr>
            <a:r>
              <a:rPr sz="1800" b="0">
                <a:solidFill>
                  <a:srgbClr val="777777"/>
                </a:solidFill>
                <a:latin typeface="Calibri"/>
                <a:ea typeface="Calibri"/>
                <a:cs typeface="Calibri"/>
              </a:rPr>
              <a:t>18 / 18</a:t>
            </a:r>
          </a:p>
        </p:txBody>
      </p:sp>
    </p:spTree>
    <p:extLst>
      <p:ext uri="{BB962C8B-B14F-4D97-AF65-F5344CB8AC3E}">
        <p14:creationId xmlns:p14="http://schemas.microsoft.com/office/powerpoint/2010/main" val="1518820468"/>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2907</Words>
  <Application>Microsoft Office PowerPoint</Application>
  <DocSecurity>0</DocSecurity>
  <PresentationFormat>Custom</PresentationFormat>
  <Paragraphs>430</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Marcellus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parth d</cp:lastModifiedBy>
  <cp:revision>1</cp:revision>
  <dcterms:created xsi:type="dcterms:W3CDTF">2026-10-25T06:17:31Z</dcterms:created>
  <dcterms:modified xsi:type="dcterms:W3CDTF">2026-10-25T06:22:16Z</dcterms:modified>
</cp:coreProperties>
</file>