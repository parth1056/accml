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Marcellus" panose="020B0604020202020204" charset="0"/>
      <p:regular r:id="rId27"/>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8" d="100"/>
          <a:sy n="28" d="100"/>
        </p:scale>
        <p:origin x="11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Parth</a:t>
            </a:r>
          </a:p>
          <a:p>
            <a:pPr marL="0" lvl="0" indent="0" algn="l">
              <a:lnSpc>
                <a:spcPct val="100000"/>
              </a:lnSpc>
              <a:spcBef>
                <a:spcPts val="0"/>
              </a:spcBef>
              <a:spcAft>
                <a:spcPts val="0"/>
              </a:spcAft>
              <a:buSzPts val="1100"/>
              <a:buNone/>
            </a:pPr>
            <a:r>
              <a:t>Suggested time: 15 seconds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We built an ML-based predictive cloud resource manager. This presentation replaces the live walkthrough with captured execution evidence and measured comparisons. The approved title is ML-Based Predictive Cloud Resource Management with SLA-Aware Auto-Scaling, Cost Optimization, and Adaptive Workload Handling.</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sources:</a:t>
            </a:r>
          </a:p>
          <a:p>
            <a:pPr marL="0" lvl="0" indent="0" algn="l">
              <a:lnSpc>
                <a:spcPct val="100000"/>
              </a:lnSpc>
              <a:spcBef>
                <a:spcPts val="0"/>
              </a:spcBef>
              <a:spcAft>
                <a:spcPts val="0"/>
              </a:spcAft>
              <a:buSzPts val="1100"/>
              <a:buNone/>
            </a:pPr>
            <a:r>
              <a:t>Repository: https://github.com/parth1056/accml</a:t>
            </a:r>
          </a:p>
          <a:p>
            <a:pPr marL="0" lvl="0" indent="0" algn="l">
              <a:lnSpc>
                <a:spcPct val="100000"/>
              </a:lnSpc>
              <a:spcBef>
                <a:spcPts val="0"/>
              </a:spcBef>
              <a:spcAft>
                <a:spcPts val="0"/>
              </a:spcAft>
              <a:buSzPts val="1100"/>
              <a:buNone/>
            </a:pPr>
            <a:r>
              <a:t>Core code at commit 64f7a68. Main benchmark records retain their original source/model fingerprints.</a:t>
            </a:r>
          </a:p>
          <a:p>
            <a:pPr marL="0" lvl="0" indent="0" algn="l">
              <a:lnSpc>
                <a:spcPct val="100000"/>
              </a:lnSpc>
              <a:spcBef>
                <a:spcPts val="0"/>
              </a:spcBef>
              <a:spcAft>
                <a:spcPts val="0"/>
              </a:spcAft>
              <a:buSzPts val="1100"/>
              <a:buNone/>
            </a:pPr>
            <a:r>
              <a: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Our target is a p95 latency of at most 250 milliseconds and at least 99 percent successful requests. Prediction helps because workers need time to become ready. The controller also limits allocation and responds when its prediction is wrong. These are project targets rather than an external cloud service guarantee.</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scaler/policy.py</a:t>
            </a:r>
          </a:p>
          <a:p>
            <a:pPr marL="0" lvl="0" indent="0" algn="l">
              <a:spcBef>
                <a:spcPts val="0"/>
              </a:spcBef>
              <a:spcAft>
                <a:spcPts val="0"/>
              </a:spcAft>
              <a:buNone/>
            </a:pPr>
            <a:r>
              <a:t>scaler/experiment.py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Docker Desktop runs a dedicated Minikube cluster. A host load generator sends real HTTP traffic through the gateway to ready worker pods. The controller collects demand and latency, forecasts future workload, and updates the worker deployment. The final box represents the feedback controller. This scales application replicas on one local node, not physical cloud servers.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scaler/fleet.py</a:t>
            </a:r>
          </a:p>
          <a:p>
            <a:pPr marL="0" lvl="0" indent="0" algn="l">
              <a:spcBef>
                <a:spcPts val="0"/>
              </a:spcBef>
              <a:spcAft>
                <a:spcPts val="0"/>
              </a:spcAft>
              <a:buNone/>
            </a:pPr>
            <a:r>
              <a:t>scaler/gateway.py</a:t>
            </a:r>
          </a:p>
          <a:p>
            <a:pPr marL="0" lvl="0" indent="0" algn="l">
              <a:spcBef>
                <a:spcPts val="0"/>
              </a:spcBef>
              <a:spcAft>
                <a:spcPts val="0"/>
              </a:spcAft>
              <a:buNone/>
            </a:pPr>
            <a:r>
              <a:t>scaler/worker.py</a:t>
            </a:r>
          </a:p>
          <a:p>
            <a:pPr marL="0" lvl="0" indent="0" algn="l">
              <a:spcBef>
                <a:spcPts val="0"/>
              </a:spcBef>
              <a:spcAft>
                <a:spcPts val="0"/>
              </a:spcAft>
              <a:buNone/>
            </a:pPr>
            <a:r>
              <a:t>k8s/application.yaml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There are ten input features: six completed demand windows plus their mean, standard deviation, maximum and slope. Offered demand comes from actual sends, including requests still in flight. Latency and pod readiness guide the controller but are not model features. The target is the maximum offered rate over the following three windows, so the feature window never includes future demand.</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planning_pilot/pilot.py:features and supervised</a:t>
            </a:r>
          </a:p>
          <a:p>
            <a:pPr marL="0" lvl="0" indent="0" algn="l">
              <a:spcBef>
                <a:spcPts val="0"/>
              </a:spcBef>
              <a:spcAft>
                <a:spcPts val="0"/>
              </a:spcAft>
              <a:buNone/>
            </a:pPr>
            <a:r>
              <a:t>scaler/traffic.py:Load.window</a:t>
            </a:r>
          </a:p>
          <a:p>
            <a:pPr marL="0" lvl="0" indent="0" algn="l">
              <a:spcBef>
                <a:spcPts val="0"/>
              </a:spcBef>
              <a:spcAft>
                <a:spcPts val="0"/>
              </a:spcAft>
              <a:buNone/>
            </a:pPr>
            <a:r>
              <a:t>scaler/experiment.py:run_once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We retrained the model to reproduce these numbers. Training seeds zero through eleven differ from validation seeds fifty through fifty-five and holdout seed ninety-nine. Validation selects regularization and an empirical underprediction buffer. The saved JSON stores coefficients and feature scaling. The model trains offline and predicts during the live run. This holdout result does not claim better performance on all real HTTP replays.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runtime/slides/training-output.txt</a:t>
            </a:r>
          </a:p>
          <a:p>
            <a:pPr marL="0" lvl="0" indent="0" algn="l">
              <a:spcBef>
                <a:spcPts val="0"/>
              </a:spcBef>
              <a:spcAft>
                <a:spcPts val="0"/>
              </a:spcAft>
              <a:buNone/>
            </a:pPr>
            <a:r>
              <a:t>output/training_evaluation.json</a:t>
            </a:r>
          </a:p>
          <a:p>
            <a:pPr marL="0" lvl="0" indent="0" algn="l">
              <a:spcBef>
                <a:spcPts val="0"/>
              </a:spcBef>
              <a:spcAft>
                <a:spcPts val="0"/>
              </a:spcAft>
              <a:buNone/>
            </a:pPr>
            <a:r>
              <a:t>output/trained_model.json</a:t>
            </a:r>
          </a:p>
          <a:p>
            <a:pPr marL="0" lvl="0" indent="0" algn="l">
              <a:spcBef>
                <a:spcPts val="0"/>
              </a:spcBef>
              <a:spcAft>
                <a:spcPts val="0"/>
              </a:spcAft>
              <a:buNone/>
            </a:pPr>
            <a:r>
              <a:t>scaler/forecast.py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 workload performs real PBKDF2 CPU work for every request. We measured one-worker capacity before choosing a scaling threshold. Eighteen requests per second passed repeated checks, while the higher rates reached the latency boundary or overloaded the service. We reserve twenty percent headroom, giving fourteen point four RPS per worker. This capacity is specific to this workload and machine.</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output/live/calibration-kubernetes.json</a:t>
            </a:r>
          </a:p>
          <a:p>
            <a:pPr marL="0" lvl="0" indent="0" algn="l">
              <a:spcBef>
                <a:spcPts val="0"/>
              </a:spcBef>
              <a:spcAft>
                <a:spcPts val="0"/>
              </a:spcAft>
              <a:buNone/>
            </a:pPr>
            <a:r>
              <a:t>scaler/worker.py</a:t>
            </a:r>
          </a:p>
          <a:p>
            <a:pPr marL="0" lvl="0" indent="0" algn="l">
              <a:spcBef>
                <a:spcPts val="0"/>
              </a:spcBef>
              <a:spcAft>
                <a:spcPts val="0"/>
              </a:spcAft>
              <a:buNone/>
            </a:pPr>
            <a:r>
              <a:t>k8s/application.yaml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30 seconds</a:t>
            </a:r>
          </a:p>
          <a:p>
            <a:pPr marL="0" lvl="0" indent="0" algn="l">
              <a:spcBef>
                <a:spcPts val="0"/>
              </a:spcBef>
              <a:spcAft>
                <a:spcPts val="0"/>
              </a:spcAft>
              <a:buNone/>
            </a:pPr>
            <a:endParaRPr/>
          </a:p>
          <a:p>
            <a:pPr marL="0" lvl="0" indent="0" algn="l">
              <a:spcBef>
                <a:spcPts val="0"/>
              </a:spcBef>
              <a:spcAft>
                <a:spcPts val="0"/>
              </a:spcAft>
              <a:buNone/>
            </a:pPr>
            <a:r>
              <a:t>The forecast is one input to the allocation decision. Guarded prediction takes the greater of observed demand and forecast plus buffer. It rounds up by calibrated worker capacity and applies bounds. Latency and error rescue add capacity when no previous scale-out is pending. Thirty-second stabilization and one-step downscale reduce oscillation. The configured budget can lower the normal four-replica ceiling.</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scaler/policy.py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The captured readiness output confirms that both gateway and worker deployments are available before starting traffic. The command runs a four-minute flash-demand replay with one minute excluded as warm-up. We use seed seven-zero-seven for the presentation capture. This fresh walkthrough is separate from the frozen twelve-run comparison shown later.</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runtime/slides/cluster-ready.txt</a:t>
            </a:r>
          </a:p>
          <a:p>
            <a:pPr marL="0" lvl="0" indent="0" algn="l">
              <a:spcBef>
                <a:spcPts val="0"/>
              </a:spcBef>
              <a:spcAft>
                <a:spcPts val="0"/>
              </a:spcAft>
              <a:buNone/>
            </a:pPr>
            <a:r>
              <a:t>runtime/slides/demo.log</a:t>
            </a:r>
          </a:p>
          <a:p>
            <a:pPr marL="0" lvl="0" indent="0" algn="l">
              <a:spcBef>
                <a:spcPts val="0"/>
              </a:spcBef>
              <a:spcAft>
                <a:spcPts val="0"/>
              </a:spcAft>
              <a:buNone/>
            </a:pPr>
            <a:r>
              <a:t>StartLabConnections.ps1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20 seconds</a:t>
            </a:r>
          </a:p>
          <a:p>
            <a:pPr marL="0" lvl="0" indent="0" algn="l">
              <a:spcBef>
                <a:spcPts val="0"/>
              </a:spcBef>
              <a:spcAft>
                <a:spcPts val="0"/>
              </a:spcAft>
              <a:buNone/>
            </a:pPr>
            <a:r>
              <a:t>Target: 2 workers The model needs six windows.</a:t>
            </a:r>
          </a:p>
          <a:p>
            <a:pPr marL="0" lvl="0" indent="0" algn="l">
              <a:spcBef>
                <a:spcPts val="0"/>
              </a:spcBef>
              <a:spcAft>
                <a:spcPts val="0"/>
              </a:spcAft>
              <a:buNone/>
            </a:pPr>
            <a:endParaRPr/>
          </a:p>
          <a:p>
            <a:pPr marL="0" lvl="0" indent="0" algn="l">
              <a:spcBef>
                <a:spcPts val="0"/>
              </a:spcBef>
              <a:spcAft>
                <a:spcPts val="0"/>
              </a:spcAft>
              <a:buNone/>
            </a:pPr>
            <a:r>
              <a:t>Observed demand already exceeds one worker’s safe rate.</a:t>
            </a:r>
          </a:p>
          <a:p>
            <a:pPr marL="0" lvl="0" indent="0" algn="l">
              <a:spcBef>
                <a:spcPts val="0"/>
              </a:spcBef>
              <a:spcAft>
                <a:spcPts val="0"/>
              </a:spcAft>
              <a:buNone/>
            </a:pPr>
            <a:endParaRPr/>
          </a:p>
          <a:p>
            <a:pPr marL="0" lvl="0" indent="0" algn="l">
              <a:spcBef>
                <a:spcPts val="0"/>
              </a:spcBef>
              <a:spcAft>
                <a:spcPts val="0"/>
              </a:spcAft>
              <a:buNone/>
            </a:pPr>
            <a:r>
              <a:t>The cards show state before the latest decision.</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runtime/slides/demo-start.png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39.4 RPS observed</a:t>
            </a:r>
          </a:p>
          <a:p>
            <a:pPr marL="0" lvl="0" indent="0" algn="l">
              <a:spcBef>
                <a:spcPts val="0"/>
              </a:spcBef>
              <a:spcAft>
                <a:spcPts val="0"/>
              </a:spcAft>
              <a:buNone/>
            </a:pPr>
            <a:r>
              <a:t>47.7 RPS forecast Four workers are ready.</a:t>
            </a:r>
          </a:p>
          <a:p>
            <a:pPr marL="0" lvl="0" indent="0" algn="l">
              <a:spcBef>
                <a:spcPts val="0"/>
              </a:spcBef>
              <a:spcAft>
                <a:spcPts val="0"/>
              </a:spcAft>
              <a:buNone/>
            </a:pPr>
            <a:endParaRPr/>
          </a:p>
          <a:p>
            <a:pPr marL="0" lvl="0" indent="0" algn="l">
              <a:spcBef>
                <a:spcPts val="0"/>
              </a:spcBef>
              <a:spcAft>
                <a:spcPts val="0"/>
              </a:spcAft>
              <a:buNone/>
            </a:pPr>
            <a:r>
              <a:t>p95 is 64.3 ms in this window.</a:t>
            </a:r>
          </a:p>
          <a:p>
            <a:pPr marL="0" lvl="0" indent="0" algn="l">
              <a:spcBef>
                <a:spcPts val="0"/>
              </a:spcBef>
              <a:spcAft>
                <a:spcPts val="0"/>
              </a:spcAft>
              <a:buNone/>
            </a:pPr>
            <a:endParaRPr/>
          </a:p>
          <a:p>
            <a:pPr marL="0" lvl="0" indent="0" algn="l">
              <a:spcBef>
                <a:spcPts val="0"/>
              </a:spcBef>
              <a:spcAft>
                <a:spcPts val="0"/>
              </a:spcAft>
              <a:buNone/>
            </a:pPr>
            <a:r>
              <a:t>The trend shows earlier real scale-out actions.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runtime/slides/demo-forecast.png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110 seconds</a:t>
            </a:r>
          </a:p>
          <a:p>
            <a:pPr marL="0" lvl="0" indent="0" algn="l">
              <a:spcBef>
                <a:spcPts val="0"/>
              </a:spcBef>
              <a:spcAft>
                <a:spcPts val="0"/>
              </a:spcAft>
              <a:buNone/>
            </a:pPr>
            <a:r>
              <a:t>Target: 3 workers Demand falls to 15.3 RPS.</a:t>
            </a:r>
          </a:p>
          <a:p>
            <a:pPr marL="0" lvl="0" indent="0" algn="l">
              <a:spcBef>
                <a:spcPts val="0"/>
              </a:spcBef>
              <a:spcAft>
                <a:spcPts val="0"/>
              </a:spcAft>
              <a:buNone/>
            </a:pPr>
            <a:endParaRPr/>
          </a:p>
          <a:p>
            <a:pPr marL="0" lvl="0" indent="0" algn="l">
              <a:spcBef>
                <a:spcPts val="0"/>
              </a:spcBef>
              <a:spcAft>
                <a:spcPts val="0"/>
              </a:spcAft>
              <a:buNone/>
            </a:pPr>
            <a:r>
              <a:t>The controller waits before scaling down.</a:t>
            </a:r>
          </a:p>
          <a:p>
            <a:pPr marL="0" lvl="0" indent="0" algn="l">
              <a:spcBef>
                <a:spcPts val="0"/>
              </a:spcBef>
              <a:spcAft>
                <a:spcPts val="0"/>
              </a:spcAft>
              <a:buNone/>
            </a:pPr>
            <a:endParaRPr/>
          </a:p>
          <a:p>
            <a:pPr marL="0" lvl="0" indent="0" algn="l">
              <a:spcBef>
                <a:spcPts val="0"/>
              </a:spcBef>
              <a:spcAft>
                <a:spcPts val="0"/>
              </a:spcAft>
              <a:buNone/>
            </a:pPr>
            <a:r>
              <a:t>Ready / desired still shows 4 / 4 before applying the new target.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runtime/slides/demo-downscale.png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Completed run</a:t>
            </a:r>
          </a:p>
          <a:p>
            <a:pPr marL="0" lvl="0" indent="0" algn="l">
              <a:spcBef>
                <a:spcPts val="0"/>
              </a:spcBef>
              <a:spcAft>
                <a:spcPts val="0"/>
              </a:spcAft>
              <a:buNone/>
            </a:pPr>
            <a:r>
              <a:t>Ceiling: 4 workers The graph records the burst and recovery.</a:t>
            </a:r>
          </a:p>
          <a:p>
            <a:pPr marL="0" lvl="0" indent="0" algn="l">
              <a:spcBef>
                <a:spcPts val="0"/>
              </a:spcBef>
              <a:spcAft>
                <a:spcPts val="0"/>
              </a:spcAft>
              <a:buNone/>
            </a:pPr>
            <a:endParaRPr/>
          </a:p>
          <a:p>
            <a:pPr marL="0" lvl="0" indent="0" algn="l">
              <a:spcBef>
                <a:spcPts val="0"/>
              </a:spcBef>
              <a:spcAft>
                <a:spcPts val="0"/>
              </a:spcAft>
              <a:buNone/>
            </a:pPr>
            <a:r>
              <a:t>The deployment never exceeds four workers.</a:t>
            </a:r>
          </a:p>
          <a:p>
            <a:pPr marL="0" lvl="0" indent="0" algn="l">
              <a:spcBef>
                <a:spcPts val="0"/>
              </a:spcBef>
              <a:spcAft>
                <a:spcPts val="0"/>
              </a:spcAft>
              <a:buNone/>
            </a:pPr>
            <a:endParaRPr/>
          </a:p>
          <a:p>
            <a:pPr marL="0" lvl="0" indent="0" algn="l">
              <a:spcBef>
                <a:spcPts val="0"/>
              </a:spcBef>
              <a:spcAft>
                <a:spcPts val="0"/>
              </a:spcAft>
              <a:buNone/>
            </a:pPr>
            <a:r>
              <a:t>The cards show the final recorded window.</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runtime/slides/demo-burst.png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 evaluation compares three policies across two scenarios and two repeat seeds, for twelve completed runs. The manifest verifies matching arrival schedules and identical model and source fingerprints inside that suite. Actual sends, latency and pod timing still vary naturally. Scored results exclude the first minute. We compare allocation and service quality together, rather than declaring the cheapest run the winner.</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output/live/matrix.json</a:t>
            </a:r>
          </a:p>
          <a:p>
            <a:pPr marL="0" lvl="0" indent="0" algn="l">
              <a:spcBef>
                <a:spcPts val="0"/>
              </a:spcBef>
              <a:spcAft>
                <a:spcPts val="0"/>
              </a:spcAft>
              <a:buNone/>
            </a:pPr>
            <a:r>
              <a:t>output/evaluation/audit.json</a:t>
            </a:r>
          </a:p>
          <a:p>
            <a:pPr marL="0" lvl="0" indent="0" algn="l">
              <a:spcBef>
                <a:spcPts val="0"/>
              </a:spcBef>
              <a:spcAft>
                <a:spcPts val="0"/>
              </a:spcAft>
              <a:buNone/>
            </a:pPr>
            <a:r>
              <a:t>tools/evaluate_matrix.py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30 seconds</a:t>
            </a:r>
          </a:p>
          <a:p>
            <a:pPr marL="0" lvl="0" indent="0" algn="l">
              <a:spcBef>
                <a:spcPts val="0"/>
              </a:spcBef>
              <a:spcAft>
                <a:spcPts val="0"/>
              </a:spcAft>
              <a:buNone/>
            </a:pPr>
            <a:endParaRPr/>
          </a:p>
          <a:p>
            <a:pPr marL="0" lvl="0" indent="0" algn="l">
              <a:spcBef>
                <a:spcPts val="0"/>
              </a:spcBef>
              <a:spcAft>
                <a:spcPts val="0"/>
              </a:spcAft>
              <a:buNone/>
            </a:pPr>
            <a:r>
              <a:t>Every main-suite request succeeded. Guarded prediction had no violating scored windows across its four runs. In periodic demand, reactive used less allocation but one repeat reached a p95 of about five hundred four milliseconds. Guarded uses more capacity than reactive to protect latency. Savings versus fixed maximum allocation are modest: ten point seven percent for periodic and two percent for flash.</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output/evaluation/audit.json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This table reports periodic-demand averages across two repeats. Reactive has higher utilization because it runs fewer workers. Guarded keeps more headroom and therefore costs more than reactive. Cost multiplies allocated replica-hours by an illustrative rate. Energy combines assumed idle power with measured worker CPU time. Gateway, host and fixed infrastructure overhead are excluded, so these are relative proxies rather than a bill or physical power measurement.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output/evaluation/audit.json</a:t>
            </a:r>
          </a:p>
          <a:p>
            <a:pPr marL="0" lvl="0" indent="0" algn="l">
              <a:spcBef>
                <a:spcPts val="0"/>
              </a:spcBef>
              <a:spcAft>
                <a:spcPts val="0"/>
              </a:spcAft>
              <a:buNone/>
            </a:pPr>
            <a:r>
              <a:t>scaler/experiment.py:summarize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We also scored the frozen predictions against simple baselines using exactly aligned future targets. Persistence beats Ridge overall on these HTTP replays, despite Ridge winning the synthetic model holdout. Ridge does better on falling-demand slices. We therefore attribute the demonstrated service-quality trade-off to the full controller, including its safety policy. We do not claim universal forecasting superiority.</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output/evaluation/forecast_diagnostics.json</a:t>
            </a:r>
          </a:p>
          <a:p>
            <a:pPr marL="0" lvl="0" indent="0" algn="l">
              <a:spcBef>
                <a:spcPts val="0"/>
              </a:spcBef>
              <a:spcAft>
                <a:spcPts val="0"/>
              </a:spcAft>
              <a:buNone/>
            </a:pPr>
            <a:r>
              <a:t>tools/forecast_diagnostics.py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13.35% failures</a:t>
            </a:r>
          </a:p>
          <a:p>
            <a:pPr marL="0" lvl="0" indent="0" algn="l">
              <a:spcBef>
                <a:spcPts val="0"/>
              </a:spcBef>
              <a:spcAft>
                <a:spcPts val="0"/>
              </a:spcAft>
              <a:buNone/>
            </a:pPr>
            <a:r>
              <a:t>1,547.7 ms run p95 The predictor deliberately returns zero.</a:t>
            </a:r>
          </a:p>
          <a:p>
            <a:pPr marL="0" lvl="0" indent="0" algn="l">
              <a:spcBef>
                <a:spcPts val="0"/>
              </a:spcBef>
              <a:spcAft>
                <a:spcPts val="0"/>
              </a:spcAft>
              <a:buNone/>
            </a:pPr>
            <a:endParaRPr/>
          </a:p>
          <a:p>
            <a:pPr marL="0" lvl="0" indent="0" algn="l">
              <a:spcBef>
                <a:spcPts val="0"/>
              </a:spcBef>
              <a:spcAft>
                <a:spcPts val="0"/>
              </a:spcAft>
              <a:buNone/>
            </a:pPr>
            <a:r>
              <a:t>Plain prediction removes capacity despite rising demand.</a:t>
            </a:r>
          </a:p>
          <a:p>
            <a:pPr marL="0" lvl="0" indent="0" algn="l">
              <a:spcBef>
                <a:spcPts val="0"/>
              </a:spcBef>
              <a:spcAft>
                <a:spcPts val="0"/>
              </a:spcAft>
              <a:buNone/>
            </a:pPr>
            <a:endParaRPr/>
          </a:p>
          <a:p>
            <a:pPr marL="0" lvl="0" indent="0" algn="l">
              <a:spcBef>
                <a:spcPts val="0"/>
              </a:spcBef>
              <a:spcAft>
                <a:spcPts val="0"/>
              </a:spcAft>
              <a:buNone/>
            </a:pPr>
            <a:r>
              <a:t>The screenshot shows one overloaded window.</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output/evidence/zero_forecast_plain.png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0% failures</a:t>
            </a:r>
          </a:p>
          <a:p>
            <a:pPr marL="0" lvl="0" indent="0" algn="l">
              <a:spcBef>
                <a:spcPts val="0"/>
              </a:spcBef>
              <a:spcAft>
                <a:spcPts val="0"/>
              </a:spcAft>
              <a:buNone/>
            </a:pPr>
            <a:r>
              <a:t>215.1 ms run p95 Same planned workload and zero forecast.</a:t>
            </a:r>
          </a:p>
          <a:p>
            <a:pPr marL="0" lvl="0" indent="0" algn="l">
              <a:spcBef>
                <a:spcPts val="0"/>
              </a:spcBef>
              <a:spcAft>
                <a:spcPts val="0"/>
              </a:spcAft>
              <a:buNone/>
            </a:pPr>
            <a:endParaRPr/>
          </a:p>
          <a:p>
            <a:pPr marL="0" lvl="0" indent="0" algn="l">
              <a:spcBef>
                <a:spcPts val="0"/>
              </a:spcBef>
              <a:spcAft>
                <a:spcPts val="0"/>
              </a:spcAft>
              <a:buNone/>
            </a:pPr>
            <a:r>
              <a:t>Guarded scaling adds capacity using observed demand and SLA signals.</a:t>
            </a:r>
          </a:p>
          <a:p>
            <a:pPr marL="0" lvl="0" indent="0" algn="l">
              <a:spcBef>
                <a:spcPts val="0"/>
              </a:spcBef>
              <a:spcAft>
                <a:spcPts val="0"/>
              </a:spcAft>
              <a:buNone/>
            </a:pPr>
            <a:endParaRPr/>
          </a:p>
          <a:p>
            <a:pPr marL="0" lvl="0" indent="0" algn="l">
              <a:spcBef>
                <a:spcPts val="0"/>
              </a:spcBef>
              <a:spcAft>
                <a:spcPts val="0"/>
              </a:spcAft>
              <a:buNone/>
            </a:pPr>
            <a:r>
              <a:t>One scored window still violates the target.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output/evidence/zero_forecast_guarded.png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The separate budget stress test limits allocation to one worker. The controller obeys that bound, but latency and errors increase when demand needs more capacity. This is a real resource trade-off: a strict budget and a strict latency objective may conflict. The run records the capacity limit so an operator can explain the service degradation.</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scaler/policy.py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Shadow mode lets us inspect proposed actions without changing replicas. The real eighty-second check made seven recommendations, made no scaling calls, and left both deployment replica count and generation unchanged. The test suite also injects an inference exception and checks the complete shadow lifecycle. Invalid forecasts fall back to observed demand, while stale or invalid demand holds existing allocation.</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output/evaluation/shadow_check.json</a:t>
            </a:r>
          </a:p>
          <a:p>
            <a:pPr marL="0" lvl="0" indent="0" algn="l">
              <a:spcBef>
                <a:spcPts val="0"/>
              </a:spcBef>
              <a:spcAft>
                <a:spcPts val="0"/>
              </a:spcAft>
              <a:buNone/>
            </a:pPr>
            <a:r>
              <a:t>tests/test_live.py</a:t>
            </a:r>
          </a:p>
          <a:p>
            <a:pPr marL="0" lvl="0" indent="0" algn="l">
              <a:spcBef>
                <a:spcPts val="0"/>
              </a:spcBef>
              <a:spcAft>
                <a:spcPts val="0"/>
              </a:spcAft>
              <a:buNone/>
            </a:pPr>
            <a:r>
              <a:t>runtime/slides/tests-output.txt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20 seconds</a:t>
            </a:r>
          </a:p>
          <a:p>
            <a:pPr marL="0" lvl="0" indent="0" algn="l">
              <a:spcBef>
                <a:spcPts val="0"/>
              </a:spcBef>
              <a:spcAft>
                <a:spcPts val="0"/>
              </a:spcAft>
              <a:buNone/>
            </a:pPr>
            <a:endParaRPr/>
          </a:p>
          <a:p>
            <a:pPr marL="0" lvl="0" indent="0" algn="l">
              <a:spcBef>
                <a:spcPts val="0"/>
              </a:spcBef>
              <a:spcAft>
                <a:spcPts val="0"/>
              </a:spcAft>
              <a:buNone/>
            </a:pPr>
            <a:r>
              <a:t>The repository includes the executable workload, Kubernetes deployment, model, controller and raw evidence behind every reported result. Our implementation demonstrates predictive allocation with explicit safeguards and an honest evaluation. The local prototype does not provision cloud virtual machines. The most useful next step is a better validated forecasting model followed by fresh matched controller comparisons. The repository is private, so the evaluator needs access.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README.md</a:t>
            </a:r>
          </a:p>
          <a:p>
            <a:pPr marL="0" lvl="0" indent="0" algn="l">
              <a:spcBef>
                <a:spcPts val="0"/>
              </a:spcBef>
              <a:spcAft>
                <a:spcPts val="0"/>
              </a:spcAft>
              <a:buNone/>
            </a:pPr>
            <a:r>
              <a:t>output/evaluation/audit.json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All members</a:t>
            </a:r>
          </a:p>
          <a:p>
            <a:pPr marL="0" lvl="0" indent="0" algn="l">
              <a:spcBef>
                <a:spcPts val="0"/>
              </a:spcBef>
              <a:spcAft>
                <a:spcPts val="0"/>
              </a:spcAft>
              <a:buNone/>
            </a:pPr>
            <a:r>
              <a:t>Suggested time: 0 seconds</a:t>
            </a:r>
          </a:p>
          <a:p>
            <a:pPr marL="0" lvl="0" indent="0" algn="l">
              <a:spcBef>
                <a:spcPts val="0"/>
              </a:spcBef>
              <a:spcAft>
                <a:spcPts val="0"/>
              </a:spcAft>
              <a:buNone/>
            </a:pPr>
            <a:endParaRPr/>
          </a:p>
          <a:p>
            <a:pPr marL="0" lvl="0" indent="0" algn="l">
              <a:spcBef>
                <a:spcPts val="0"/>
              </a:spcBef>
              <a:spcAft>
                <a:spcPts val="0"/>
              </a:spcAft>
              <a:buNone/>
            </a:pPr>
            <a:r>
              <a:t>Reference slide for questions. Values are arithmetic means across two repeated runs per scenario and policy. The p95 column averages per-run p95 values. The main results slide also shows min/max across repeats. Cost and energy remain proxies with the assumptions already stated.</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output/evaluation/audit.json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All members</a:t>
            </a:r>
          </a:p>
          <a:p>
            <a:pPr marL="0" lvl="0" indent="0" algn="l">
              <a:spcBef>
                <a:spcPts val="0"/>
              </a:spcBef>
              <a:spcAft>
                <a:spcPts val="0"/>
              </a:spcAft>
              <a:buNone/>
            </a:pPr>
            <a:r>
              <a:t>Suggested time: 0 seconds</a:t>
            </a:r>
          </a:p>
          <a:p>
            <a:pPr marL="0" lvl="0" indent="0" algn="l">
              <a:spcBef>
                <a:spcPts val="0"/>
              </a:spcBef>
              <a:spcAft>
                <a:spcPts val="0"/>
              </a:spcAft>
              <a:buNone/>
            </a:pPr>
            <a:endParaRPr/>
          </a:p>
          <a:p>
            <a:pPr marL="0" lvl="0" indent="0" algn="l">
              <a:spcBef>
                <a:spcPts val="0"/>
              </a:spcBef>
              <a:spcAft>
                <a:spcPts val="0"/>
              </a:spcAft>
              <a:buNone/>
            </a:pPr>
            <a:r>
              <a:t>This appendix supports reproduction. Start Docker Desktop before SetupLab.ps1. The lab uses a dedicated acc-lab context and namespace. StartLabConnections.ps1 exposes only local API and application connections. Repeat calibration on another host. The workload has no payment or database dependency and uses bounded CPU work. No AWS or Azure deployment is claimed.</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SetupLab.ps1</a:t>
            </a:r>
          </a:p>
          <a:p>
            <a:pPr marL="0" lvl="0" indent="0" algn="l">
              <a:spcBef>
                <a:spcPts val="0"/>
              </a:spcBef>
              <a:spcAft>
                <a:spcPts val="0"/>
              </a:spcAft>
              <a:buNone/>
            </a:pPr>
            <a:r>
              <a:t>RunDemo.ps1</a:t>
            </a:r>
          </a:p>
          <a:p>
            <a:pPr marL="0" lvl="0" indent="0" algn="l">
              <a:spcBef>
                <a:spcPts val="0"/>
              </a:spcBef>
              <a:spcAft>
                <a:spcPts val="0"/>
              </a:spcAft>
              <a:buNone/>
            </a:pPr>
            <a:r>
              <a:t>k8s/application.yaml</a:t>
            </a:r>
          </a:p>
          <a:p>
            <a:pPr marL="0" lvl="0" indent="0" algn="l">
              <a:spcBef>
                <a:spcPts val="0"/>
              </a:spcBef>
              <a:spcAft>
                <a:spcPts val="0"/>
              </a:spcAft>
              <a:buNone/>
            </a:pPr>
            <a:r>
              <a:t>scaler/worker.py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All members</a:t>
            </a:r>
          </a:p>
          <a:p>
            <a:pPr marL="0" lvl="0" indent="0" algn="l">
              <a:spcBef>
                <a:spcPts val="0"/>
              </a:spcBef>
              <a:spcAft>
                <a:spcPts val="0"/>
              </a:spcAft>
              <a:buNone/>
            </a:pPr>
            <a:r>
              <a:t>Suggested time: 0 seconds</a:t>
            </a:r>
          </a:p>
          <a:p>
            <a:pPr marL="0" lvl="0" indent="0" algn="l">
              <a:spcBef>
                <a:spcPts val="0"/>
              </a:spcBef>
              <a:spcAft>
                <a:spcPts val="0"/>
              </a:spcAft>
              <a:buNone/>
            </a:pPr>
            <a:endParaRPr/>
          </a:p>
          <a:p>
            <a:pPr marL="0" lvl="0" indent="0" algn="l">
              <a:spcBef>
                <a:spcPts val="0"/>
              </a:spcBef>
              <a:spcAft>
                <a:spcPts val="0"/>
              </a:spcAft>
              <a:buNone/>
            </a:pPr>
            <a:r>
              <a:t>This candidate learns from recorded HTTP replay observations and keeps separate training, validation and test seeds. Its small holdout improves model accuracy, but we have not promoted it or reused the original controller results to claim a new benefit. Future work includes larger diverse traces, phase-specific validation, and new repeated controller comparisons. The project also uses assumed energy rather than physical energy measurements.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output/evaluation/recorded_training.json</a:t>
            </a:r>
          </a:p>
          <a:p>
            <a:pPr marL="0" lvl="0" indent="0" algn="l">
              <a:spcBef>
                <a:spcPts val="0"/>
              </a:spcBef>
              <a:spcAft>
                <a:spcPts val="0"/>
              </a:spcAft>
              <a:buNone/>
            </a:pPr>
            <a:r>
              <a:t>tools/train_recorded_candidate.py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2" name="Google Shape;12;p2">
            <a:extLst>
              <a:ext uri="{FF2B5EF4-FFF2-40B4-BE49-F238E27FC236}">
                <a16:creationId xmlns:a16="http://schemas.microsoft.com/office/drawing/2014/main" id="{6A9CCA8C-9665-4D4D-BD37-A37447FF6BFC}"/>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 name="Google Shape;13;p2">
            <a:extLst>
              <a:ext uri="{FF2B5EF4-FFF2-40B4-BE49-F238E27FC236}">
                <a16:creationId xmlns:a16="http://schemas.microsoft.com/office/drawing/2014/main" id="{2564BBF4-0E63-4D0F-84CE-32552658BA8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4" name="Google Shape;14;p2">
            <a:extLst>
              <a:ext uri="{FF2B5EF4-FFF2-40B4-BE49-F238E27FC236}">
                <a16:creationId xmlns:a16="http://schemas.microsoft.com/office/drawing/2014/main" id="{052AC077-5A4D-4932-9914-D56DAA7BDEB3}"/>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A92BDCCF-C5B1-4FB6-9898-9866F2ABC9FF}"/>
              </a:ext>
            </a:extLst>
          </p:cNvPr>
          <p:cNvSpPr>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7" name="Google Shape;17;p3">
            <a:extLst>
              <a:ext uri="{FF2B5EF4-FFF2-40B4-BE49-F238E27FC236}">
                <a16:creationId xmlns:a16="http://schemas.microsoft.com/office/drawing/2014/main" id="{2632272A-C468-4118-BBC7-AEA9E959F768}"/>
              </a:ext>
            </a:extLst>
          </p:cNvPr>
          <p:cNvSpPr>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ormAutofit/>
          </a:bodyPr>
          <a:lstStyle>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
            <a:extLst>
              <a:ext uri="{FF2B5EF4-FFF2-40B4-BE49-F238E27FC236}">
                <a16:creationId xmlns:a16="http://schemas.microsoft.com/office/drawing/2014/main" id="{7F641535-7F1C-462B-821C-CB9F6616F6A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9" name="Google Shape;19;p3">
            <a:extLst>
              <a:ext uri="{FF2B5EF4-FFF2-40B4-BE49-F238E27FC236}">
                <a16:creationId xmlns:a16="http://schemas.microsoft.com/office/drawing/2014/main" id="{4A42D94A-F698-45FB-B426-C7A8B23DCEA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0" name="Google Shape;20;p3">
            <a:extLst>
              <a:ext uri="{FF2B5EF4-FFF2-40B4-BE49-F238E27FC236}">
                <a16:creationId xmlns:a16="http://schemas.microsoft.com/office/drawing/2014/main" id="{F00BD52B-60D1-4944-ABE1-A4C489DDBFB3}"/>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2" name="Google Shape;22;p4">
            <a:extLst>
              <a:ext uri="{FF2B5EF4-FFF2-40B4-BE49-F238E27FC236}">
                <a16:creationId xmlns:a16="http://schemas.microsoft.com/office/drawing/2014/main" id="{323CCEE0-7192-4B3A-81C4-9237168F06AB}"/>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3" name="Google Shape;23;p4">
            <a:extLst>
              <a:ext uri="{FF2B5EF4-FFF2-40B4-BE49-F238E27FC236}">
                <a16:creationId xmlns:a16="http://schemas.microsoft.com/office/drawing/2014/main" id="{E7246952-CFA9-4CA5-B5FC-9832EE99294C}"/>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24" name="Google Shape;24;p4">
            <a:extLst>
              <a:ext uri="{FF2B5EF4-FFF2-40B4-BE49-F238E27FC236}">
                <a16:creationId xmlns:a16="http://schemas.microsoft.com/office/drawing/2014/main" id="{162B1513-7E1F-43F8-A5F1-209B4AE93381}"/>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5" name="Google Shape;25;p4">
            <a:extLst>
              <a:ext uri="{FF2B5EF4-FFF2-40B4-BE49-F238E27FC236}">
                <a16:creationId xmlns:a16="http://schemas.microsoft.com/office/drawing/2014/main" id="{A80BA1DD-C539-41AE-A0C7-7EF8E5928604}"/>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6" name="Google Shape;26;p4">
            <a:extLst>
              <a:ext uri="{FF2B5EF4-FFF2-40B4-BE49-F238E27FC236}">
                <a16:creationId xmlns:a16="http://schemas.microsoft.com/office/drawing/2014/main" id="{675B90E8-9A79-4B6A-B67D-65EF0FEEED42}"/>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28" name="Google Shape;28;p5">
            <a:extLst>
              <a:ext uri="{FF2B5EF4-FFF2-40B4-BE49-F238E27FC236}">
                <a16:creationId xmlns:a16="http://schemas.microsoft.com/office/drawing/2014/main" id="{CD8DCCED-6C4F-410C-9A8A-48C63A59DC43}"/>
              </a:ext>
            </a:extLst>
          </p:cNvPr>
          <p:cNvSpPr>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ormAutofit/>
          </a:bodyPr>
          <a:lstStyle>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9" name="Google Shape;29;p5">
            <a:extLst>
              <a:ext uri="{FF2B5EF4-FFF2-40B4-BE49-F238E27FC236}">
                <a16:creationId xmlns:a16="http://schemas.microsoft.com/office/drawing/2014/main" id="{1D019A84-96BB-4EC6-9A05-8C9FA869536F}"/>
              </a:ext>
            </a:extLst>
          </p:cNvPr>
          <p:cNvSpPr>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a:extLst>
              <a:ext uri="{FF2B5EF4-FFF2-40B4-BE49-F238E27FC236}">
                <a16:creationId xmlns:a16="http://schemas.microsoft.com/office/drawing/2014/main" id="{08DB70E6-7A62-4B4C-B5AB-71EA5A3EC09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5">
            <a:extLst>
              <a:ext uri="{FF2B5EF4-FFF2-40B4-BE49-F238E27FC236}">
                <a16:creationId xmlns:a16="http://schemas.microsoft.com/office/drawing/2014/main" id="{4A185E17-F641-43C8-8652-5E88878BA18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2" name="Google Shape;32;p5">
            <a:extLst>
              <a:ext uri="{FF2B5EF4-FFF2-40B4-BE49-F238E27FC236}">
                <a16:creationId xmlns:a16="http://schemas.microsoft.com/office/drawing/2014/main" id="{66ABE4FF-6D37-4670-9253-1824AFC03F8F}"/>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34" name="Google Shape;34;p6">
            <a:extLst>
              <a:ext uri="{FF2B5EF4-FFF2-40B4-BE49-F238E27FC236}">
                <a16:creationId xmlns:a16="http://schemas.microsoft.com/office/drawing/2014/main" id="{534814F0-BEC4-461C-BD89-447A548E4E60}"/>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5" name="Google Shape;35;p6">
            <a:extLst>
              <a:ext uri="{FF2B5EF4-FFF2-40B4-BE49-F238E27FC236}">
                <a16:creationId xmlns:a16="http://schemas.microsoft.com/office/drawing/2014/main" id="{318B0FAC-0A6E-4E70-8B57-AB3F82E96C2F}"/>
              </a:ext>
            </a:extLst>
          </p:cNvPr>
          <p:cNvSpPr>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a:extLst>
              <a:ext uri="{FF2B5EF4-FFF2-40B4-BE49-F238E27FC236}">
                <a16:creationId xmlns:a16="http://schemas.microsoft.com/office/drawing/2014/main" id="{52202E9D-35FB-4E77-9BA9-2B34BAF2EB7B}"/>
              </a:ext>
            </a:extLst>
          </p:cNvPr>
          <p:cNvSpPr>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a:extLst>
              <a:ext uri="{FF2B5EF4-FFF2-40B4-BE49-F238E27FC236}">
                <a16:creationId xmlns:a16="http://schemas.microsoft.com/office/drawing/2014/main" id="{5D3CC808-DF3E-48DB-A6C1-B52E0E944AC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6">
            <a:extLst>
              <a:ext uri="{FF2B5EF4-FFF2-40B4-BE49-F238E27FC236}">
                <a16:creationId xmlns:a16="http://schemas.microsoft.com/office/drawing/2014/main" id="{5CD45BCD-E47C-442F-BB7E-9B55D95426B1}"/>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9" name="Google Shape;39;p6">
            <a:extLst>
              <a:ext uri="{FF2B5EF4-FFF2-40B4-BE49-F238E27FC236}">
                <a16:creationId xmlns:a16="http://schemas.microsoft.com/office/drawing/2014/main" id="{F01E5BC2-0E83-4BD4-BACD-193240644F05}"/>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41" name="Google Shape;41;p7">
            <a:extLst>
              <a:ext uri="{FF2B5EF4-FFF2-40B4-BE49-F238E27FC236}">
                <a16:creationId xmlns:a16="http://schemas.microsoft.com/office/drawing/2014/main" id="{DB8C0CE9-8D4B-4BC8-BCF8-A1B9EE8FBB56}"/>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2" name="Google Shape;42;p7">
            <a:extLst>
              <a:ext uri="{FF2B5EF4-FFF2-40B4-BE49-F238E27FC236}">
                <a16:creationId xmlns:a16="http://schemas.microsoft.com/office/drawing/2014/main" id="{72B2C5C8-7D46-4250-8746-750E150E38D5}"/>
              </a:ext>
            </a:extLst>
          </p:cNvPr>
          <p:cNvSpPr>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a:extLst>
              <a:ext uri="{FF2B5EF4-FFF2-40B4-BE49-F238E27FC236}">
                <a16:creationId xmlns:a16="http://schemas.microsoft.com/office/drawing/2014/main" id="{9E85196B-BD17-416B-8F25-57BAF87625B0}"/>
              </a:ext>
            </a:extLst>
          </p:cNvPr>
          <p:cNvSpPr>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a:extLst>
              <a:ext uri="{FF2B5EF4-FFF2-40B4-BE49-F238E27FC236}">
                <a16:creationId xmlns:a16="http://schemas.microsoft.com/office/drawing/2014/main" id="{0F99C658-EE77-4D67-A883-EDEF5E994321}"/>
              </a:ext>
            </a:extLst>
          </p:cNvPr>
          <p:cNvSpPr>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a:extLst>
              <a:ext uri="{FF2B5EF4-FFF2-40B4-BE49-F238E27FC236}">
                <a16:creationId xmlns:a16="http://schemas.microsoft.com/office/drawing/2014/main" id="{F108A0F9-3540-4A8F-98EF-6857F28E584F}"/>
              </a:ext>
            </a:extLst>
          </p:cNvPr>
          <p:cNvSpPr>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a:extLst>
              <a:ext uri="{FF2B5EF4-FFF2-40B4-BE49-F238E27FC236}">
                <a16:creationId xmlns:a16="http://schemas.microsoft.com/office/drawing/2014/main" id="{C21D7C1F-871E-4290-899D-D6219F7A29D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7">
            <a:extLst>
              <a:ext uri="{FF2B5EF4-FFF2-40B4-BE49-F238E27FC236}">
                <a16:creationId xmlns:a16="http://schemas.microsoft.com/office/drawing/2014/main" id="{C7B26269-1BDF-4C7E-97CE-B064704ED65A}"/>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7">
            <a:extLst>
              <a:ext uri="{FF2B5EF4-FFF2-40B4-BE49-F238E27FC236}">
                <a16:creationId xmlns:a16="http://schemas.microsoft.com/office/drawing/2014/main" id="{893F032F-FFEB-4ED0-B44D-E7059FF9959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0" name="Google Shape;50;p8">
            <a:extLst>
              <a:ext uri="{FF2B5EF4-FFF2-40B4-BE49-F238E27FC236}">
                <a16:creationId xmlns:a16="http://schemas.microsoft.com/office/drawing/2014/main" id="{6055BD97-E313-4F79-9C3B-00A7660716FA}"/>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8">
            <a:extLst>
              <a:ext uri="{FF2B5EF4-FFF2-40B4-BE49-F238E27FC236}">
                <a16:creationId xmlns:a16="http://schemas.microsoft.com/office/drawing/2014/main" id="{3182D993-37B1-4956-99C4-824EAFACE124}"/>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8">
            <a:extLst>
              <a:ext uri="{FF2B5EF4-FFF2-40B4-BE49-F238E27FC236}">
                <a16:creationId xmlns:a16="http://schemas.microsoft.com/office/drawing/2014/main" id="{4B0A2EB4-03C3-4BB1-B2EC-EAB7E7E60FFB}"/>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3" name="Google Shape;53;p8">
            <a:extLst>
              <a:ext uri="{FF2B5EF4-FFF2-40B4-BE49-F238E27FC236}">
                <a16:creationId xmlns:a16="http://schemas.microsoft.com/office/drawing/2014/main" id="{482D9934-62CD-485D-8854-523A8EE1ACBF}"/>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A1A12169-87C3-40F7-A5EF-E71F757BA44A}"/>
              </a:ext>
            </a:extLst>
          </p:cNvPr>
          <p:cNvSpPr>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9">
            <a:extLst>
              <a:ext uri="{FF2B5EF4-FFF2-40B4-BE49-F238E27FC236}">
                <a16:creationId xmlns:a16="http://schemas.microsoft.com/office/drawing/2014/main" id="{2566126E-A0C7-45B2-9B45-3454367A3206}"/>
              </a:ext>
            </a:extLst>
          </p:cNvPr>
          <p:cNvSpPr>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ormAutofit/>
          </a:bodyPr>
          <a:lstStyle>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a:extLst>
              <a:ext uri="{FF2B5EF4-FFF2-40B4-BE49-F238E27FC236}">
                <a16:creationId xmlns:a16="http://schemas.microsoft.com/office/drawing/2014/main" id="{664DA8B0-DF3C-4FD9-BC8C-096C41B24F2B}"/>
              </a:ext>
            </a:extLst>
          </p:cNvPr>
          <p:cNvSpPr>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58" name="Google Shape;58;p9">
            <a:extLst>
              <a:ext uri="{FF2B5EF4-FFF2-40B4-BE49-F238E27FC236}">
                <a16:creationId xmlns:a16="http://schemas.microsoft.com/office/drawing/2014/main" id="{3E9094FF-9438-43D5-B450-6250127D0B64}"/>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9">
            <a:extLst>
              <a:ext uri="{FF2B5EF4-FFF2-40B4-BE49-F238E27FC236}">
                <a16:creationId xmlns:a16="http://schemas.microsoft.com/office/drawing/2014/main" id="{3F3188A7-BCD3-4950-849A-C82F3D3B5E1A}"/>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9">
            <a:extLst>
              <a:ext uri="{FF2B5EF4-FFF2-40B4-BE49-F238E27FC236}">
                <a16:creationId xmlns:a16="http://schemas.microsoft.com/office/drawing/2014/main" id="{3CEFFFFC-03E6-4438-8FA0-E6B7D5E590E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62" name="Google Shape;62;p10">
            <a:extLst>
              <a:ext uri="{FF2B5EF4-FFF2-40B4-BE49-F238E27FC236}">
                <a16:creationId xmlns:a16="http://schemas.microsoft.com/office/drawing/2014/main" id="{731508DE-C3C7-4685-80B5-9FC5AB7B6C22}"/>
              </a:ext>
            </a:extLst>
          </p:cNvPr>
          <p:cNvSpPr>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10">
            <a:extLst>
              <a:ext uri="{FF2B5EF4-FFF2-40B4-BE49-F238E27FC236}">
                <a16:creationId xmlns:a16="http://schemas.microsoft.com/office/drawing/2014/main" id="{12B218B2-91A1-4BED-8A81-E6ACCA09C4ED}"/>
              </a:ext>
            </a:extLst>
          </p:cNvPr>
          <p:cNvSpPr>
            <a:spLocks noGrp="1"/>
          </p:cNvSpPr>
          <p:nvPr>
            <p:ph type="pic" idx="2"/>
          </p:nvPr>
        </p:nvSpPr>
        <p:spPr>
          <a:xfrm>
            <a:off x="1792288" y="612775"/>
            <a:ext cx="5486400" cy="4114800"/>
          </a:xfrm>
          <a:prstGeom prst="rect">
            <a:avLst/>
          </a:prstGeom>
          <a:noFill/>
          <a:ln>
            <a:noFill/>
          </a:ln>
        </p:spPr>
      </p:sp>
      <p:sp>
        <p:nvSpPr>
          <p:cNvPr id="64" name="Google Shape;64;p10">
            <a:extLst>
              <a:ext uri="{FF2B5EF4-FFF2-40B4-BE49-F238E27FC236}">
                <a16:creationId xmlns:a16="http://schemas.microsoft.com/office/drawing/2014/main" id="{BA4DCA5B-BEE4-4F69-87CF-60E8E1E4779E}"/>
              </a:ext>
            </a:extLst>
          </p:cNvPr>
          <p:cNvSpPr>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65" name="Google Shape;65;p10">
            <a:extLst>
              <a:ext uri="{FF2B5EF4-FFF2-40B4-BE49-F238E27FC236}">
                <a16:creationId xmlns:a16="http://schemas.microsoft.com/office/drawing/2014/main" id="{721FF511-C042-420C-B5BF-3546BC8D44C0}"/>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0">
            <a:extLst>
              <a:ext uri="{FF2B5EF4-FFF2-40B4-BE49-F238E27FC236}">
                <a16:creationId xmlns:a16="http://schemas.microsoft.com/office/drawing/2014/main" id="{190001A4-6A52-4284-83E6-030ADF500CF5}"/>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7" name="Google Shape;67;p10">
            <a:extLst>
              <a:ext uri="{FF2B5EF4-FFF2-40B4-BE49-F238E27FC236}">
                <a16:creationId xmlns:a16="http://schemas.microsoft.com/office/drawing/2014/main" id="{A089D862-2F38-4D94-BF64-2B1C9E7D238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69" name="Google Shape;69;p11">
            <a:extLst>
              <a:ext uri="{FF2B5EF4-FFF2-40B4-BE49-F238E27FC236}">
                <a16:creationId xmlns:a16="http://schemas.microsoft.com/office/drawing/2014/main" id="{1A7861BB-72BC-48E1-A7C4-D634673BE69A}"/>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1">
            <a:extLst>
              <a:ext uri="{FF2B5EF4-FFF2-40B4-BE49-F238E27FC236}">
                <a16:creationId xmlns:a16="http://schemas.microsoft.com/office/drawing/2014/main" id="{EB7CA083-388E-4973-8FD0-1849FA1B3904}"/>
              </a:ext>
            </a:extLst>
          </p:cNvPr>
          <p:cNvSpPr>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1" name="Google Shape;71;p11">
            <a:extLst>
              <a:ext uri="{FF2B5EF4-FFF2-40B4-BE49-F238E27FC236}">
                <a16:creationId xmlns:a16="http://schemas.microsoft.com/office/drawing/2014/main" id="{9D8A3DCF-F212-46B0-A23D-D76F3EAF15AE}"/>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2" name="Google Shape;72;p11">
            <a:extLst>
              <a:ext uri="{FF2B5EF4-FFF2-40B4-BE49-F238E27FC236}">
                <a16:creationId xmlns:a16="http://schemas.microsoft.com/office/drawing/2014/main" id="{4BBE2009-9D11-4B95-9156-C5F3E6BF57D0}"/>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1">
            <a:extLst>
              <a:ext uri="{FF2B5EF4-FFF2-40B4-BE49-F238E27FC236}">
                <a16:creationId xmlns:a16="http://schemas.microsoft.com/office/drawing/2014/main" id="{5AC4420C-1BBB-4BBA-B7FB-477C07AF379E}"/>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75" name="Google Shape;75;p12">
            <a:extLst>
              <a:ext uri="{FF2B5EF4-FFF2-40B4-BE49-F238E27FC236}">
                <a16:creationId xmlns:a16="http://schemas.microsoft.com/office/drawing/2014/main" id="{2CA43F36-DE8F-418D-8778-847AD82121C1}"/>
              </a:ext>
            </a:extLst>
          </p:cNvPr>
          <p:cNvSpPr>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2">
            <a:extLst>
              <a:ext uri="{FF2B5EF4-FFF2-40B4-BE49-F238E27FC236}">
                <a16:creationId xmlns:a16="http://schemas.microsoft.com/office/drawing/2014/main" id="{F5CF5E2C-3B13-427D-BA98-54A47B7835A8}"/>
              </a:ext>
            </a:extLst>
          </p:cNvPr>
          <p:cNvSpPr>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7" name="Google Shape;77;p12">
            <a:extLst>
              <a:ext uri="{FF2B5EF4-FFF2-40B4-BE49-F238E27FC236}">
                <a16:creationId xmlns:a16="http://schemas.microsoft.com/office/drawing/2014/main" id="{1CA9AEE8-81D9-402E-A469-0D2338BA29A5}"/>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8" name="Google Shape;78;p12">
            <a:extLst>
              <a:ext uri="{FF2B5EF4-FFF2-40B4-BE49-F238E27FC236}">
                <a16:creationId xmlns:a16="http://schemas.microsoft.com/office/drawing/2014/main" id="{CE7478DC-B01D-47CF-AD6C-08C0F5D9F2E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9" name="Google Shape;79;p12">
            <a:extLst>
              <a:ext uri="{FF2B5EF4-FFF2-40B4-BE49-F238E27FC236}">
                <a16:creationId xmlns:a16="http://schemas.microsoft.com/office/drawing/2014/main" id="{A7E6FF34-7F09-4023-B60E-8562E0FD476A}"/>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9FD045B6-D26E-451F-8F0E-992D8351C5B4}"/>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marR="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endParaRPr/>
          </a:p>
        </p:txBody>
      </p:sp>
      <p:sp>
        <p:nvSpPr>
          <p:cNvPr id="7" name="Google Shape;7;p1">
            <a:extLst>
              <a:ext uri="{FF2B5EF4-FFF2-40B4-BE49-F238E27FC236}">
                <a16:creationId xmlns:a16="http://schemas.microsoft.com/office/drawing/2014/main" id="{2D670B39-532B-4A29-8D64-902EF2F71D27}"/>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marR="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endParaRPr/>
          </a:p>
        </p:txBody>
      </p:sp>
      <p:sp>
        <p:nvSpPr>
          <p:cNvPr id="8" name="Google Shape;8;p1">
            <a:extLst>
              <a:ext uri="{FF2B5EF4-FFF2-40B4-BE49-F238E27FC236}">
                <a16:creationId xmlns:a16="http://schemas.microsoft.com/office/drawing/2014/main" id="{D8098A27-29E4-4CAF-9078-8EA6DAFF0CF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9" name="Google Shape;9;p1">
            <a:extLst>
              <a:ext uri="{FF2B5EF4-FFF2-40B4-BE49-F238E27FC236}">
                <a16:creationId xmlns:a16="http://schemas.microsoft.com/office/drawing/2014/main" id="{CD063249-E659-4883-8EC2-B45F49C63795}"/>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10" name="Google Shape;10;p1">
            <a:extLst>
              <a:ext uri="{FF2B5EF4-FFF2-40B4-BE49-F238E27FC236}">
                <a16:creationId xmlns:a16="http://schemas.microsoft.com/office/drawing/2014/main" id="{5969EA3A-3203-4EC7-A92E-E8FEA35F460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Google Shape;85;p13">
            <a:extLst>
              <a:ext uri="{FF2B5EF4-FFF2-40B4-BE49-F238E27FC236}">
                <a16:creationId xmlns:a16="http://schemas.microsoft.com/office/drawing/2014/main" id="{0630811A-4F6C-4A4A-88BD-465AD5039E9C}"/>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86" name="Google Shape;86;p13">
            <a:extLst>
              <a:ext uri="{FF2B5EF4-FFF2-40B4-BE49-F238E27FC236}">
                <a16:creationId xmlns:a16="http://schemas.microsoft.com/office/drawing/2014/main" id="{C62C8098-F725-4B2B-89C6-718C9A69D655}"/>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8" name="Google Shape;88;p13">
            <a:extLst>
              <a:ext uri="{FF2B5EF4-FFF2-40B4-BE49-F238E27FC236}">
                <a16:creationId xmlns:a16="http://schemas.microsoft.com/office/drawing/2014/main" id="{5AB63CD3-541F-44AE-B264-C787D1519CC3}"/>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89" name="Google Shape;89;p13">
            <a:extLst>
              <a:ext uri="{FF2B5EF4-FFF2-40B4-BE49-F238E27FC236}">
                <a16:creationId xmlns:a16="http://schemas.microsoft.com/office/drawing/2014/main" id="{41A97F09-A8CB-444B-BAFD-D54799058A62}"/>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90" name="Google Shape;90;p13">
            <a:extLst>
              <a:ext uri="{FF2B5EF4-FFF2-40B4-BE49-F238E27FC236}">
                <a16:creationId xmlns:a16="http://schemas.microsoft.com/office/drawing/2014/main" id="{53F4CCB9-FBAE-43F6-9C19-79764ED1931F}"/>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91" name="Google Shape;91;p13">
            <a:extLst>
              <a:ext uri="{FF2B5EF4-FFF2-40B4-BE49-F238E27FC236}">
                <a16:creationId xmlns:a16="http://schemas.microsoft.com/office/drawing/2014/main" id="{3E6AD040-102A-4727-8D5E-1F20974E6FDF}"/>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92" name="Rectangle 91">
            <a:extLst>
              <a:ext uri="{FF2B5EF4-FFF2-40B4-BE49-F238E27FC236}">
                <a16:creationId xmlns:a16="http://schemas.microsoft.com/office/drawing/2014/main" id="{5CF0D6CB-2098-455B-9D56-1969CEABE8F4}"/>
              </a:ext>
            </a:extLst>
          </p:cNvPr>
          <p:cNvSpPr>
            <a:spLocks noGrp="1"/>
          </p:cNvSpPr>
          <p:nvPr/>
        </p:nvSpPr>
        <p:spPr>
          <a:xfrm>
            <a:off x="2238375" y="1428750"/>
            <a:ext cx="13982700" cy="2190750"/>
          </a:xfrm>
          <a:prstGeom prst="rect">
            <a:avLst/>
          </a:prstGeom>
          <a:noFill/>
          <a:ln w="0">
            <a:noFill/>
          </a:ln>
        </p:spPr>
        <p:txBody>
          <a:bodyPr lIns="0" tIns="0" rIns="0" bIns="0"/>
          <a:lstStyle>
            <a:defPPr>
              <a:defRPr sz="6300" b="0">
                <a:solidFill>
                  <a:srgbClr val="A83033"/>
                </a:solidFill>
                <a:latin typeface="Marcellus"/>
                <a:ea typeface="Marcellus"/>
                <a:cs typeface="Marcellus"/>
              </a:defRPr>
            </a:defPPr>
            <a:lvl1pPr>
              <a:defRPr sz="6300" b="0">
                <a:solidFill>
                  <a:srgbClr val="A83033"/>
                </a:solidFill>
                <a:latin typeface="Marcellus"/>
                <a:ea typeface="Marcellus"/>
                <a:cs typeface="Marcellus"/>
              </a:defRPr>
            </a:lvl1pPr>
            <a:lvl2pPr>
              <a:defRPr sz="6300" b="0">
                <a:solidFill>
                  <a:srgbClr val="A83033"/>
                </a:solidFill>
                <a:latin typeface="Marcellus"/>
                <a:ea typeface="Marcellus"/>
                <a:cs typeface="Marcellus"/>
              </a:defRPr>
            </a:lvl2pPr>
            <a:lvl3pPr>
              <a:defRPr sz="6300" b="0">
                <a:solidFill>
                  <a:srgbClr val="A83033"/>
                </a:solidFill>
                <a:latin typeface="Marcellus"/>
                <a:ea typeface="Marcellus"/>
                <a:cs typeface="Marcellus"/>
              </a:defRPr>
            </a:lvl3pPr>
            <a:lvl4pPr>
              <a:defRPr sz="6300" b="0">
                <a:solidFill>
                  <a:srgbClr val="A83033"/>
                </a:solidFill>
                <a:latin typeface="Marcellus"/>
                <a:ea typeface="Marcellus"/>
                <a:cs typeface="Marcellus"/>
              </a:defRPr>
            </a:lvl4pPr>
            <a:lvl5pPr>
              <a:defRPr sz="6300" b="0">
                <a:solidFill>
                  <a:srgbClr val="A83033"/>
                </a:solidFill>
                <a:latin typeface="Marcellus"/>
                <a:ea typeface="Marcellus"/>
                <a:cs typeface="Marcellus"/>
              </a:defRPr>
            </a:lvl5pPr>
            <a:lvl6pPr>
              <a:defRPr sz="6300" b="0">
                <a:solidFill>
                  <a:srgbClr val="A83033"/>
                </a:solidFill>
                <a:latin typeface="Marcellus"/>
                <a:ea typeface="Marcellus"/>
                <a:cs typeface="Marcellus"/>
              </a:defRPr>
            </a:lvl6pPr>
            <a:lvl7pPr>
              <a:defRPr sz="6300" b="0">
                <a:solidFill>
                  <a:srgbClr val="A83033"/>
                </a:solidFill>
                <a:latin typeface="Marcellus"/>
                <a:ea typeface="Marcellus"/>
                <a:cs typeface="Marcellus"/>
              </a:defRPr>
            </a:lvl7pPr>
            <a:lvl8pPr>
              <a:defRPr sz="6300" b="0">
                <a:solidFill>
                  <a:srgbClr val="A83033"/>
                </a:solidFill>
                <a:latin typeface="Marcellus"/>
                <a:ea typeface="Marcellus"/>
                <a:cs typeface="Marcellus"/>
              </a:defRPr>
            </a:lvl8pPr>
            <a:lvl9pPr>
              <a:defRPr sz="6300" b="0">
                <a:solidFill>
                  <a:srgbClr val="A83033"/>
                </a:solidFill>
                <a:latin typeface="Marcellus"/>
                <a:ea typeface="Marcellus"/>
                <a:cs typeface="Marcellus"/>
              </a:defRPr>
            </a:lvl9pPr>
          </a:lstStyle>
          <a:p>
            <a:pPr>
              <a:defRPr sz="6300" b="0">
                <a:solidFill>
                  <a:srgbClr val="A83033"/>
                </a:solidFill>
                <a:latin typeface="Marcellus"/>
                <a:ea typeface="Marcellus"/>
                <a:cs typeface="Marcellus"/>
              </a:defRPr>
            </a:pPr>
            <a:r>
              <a:rPr sz="6300" b="0">
                <a:solidFill>
                  <a:srgbClr val="A83033"/>
                </a:solidFill>
                <a:latin typeface="Marcellus"/>
                <a:ea typeface="Marcellus"/>
                <a:cs typeface="Marcellus"/>
              </a:rPr>
              <a:t>Predictive Cloud</a:t>
            </a:r>
          </a:p>
          <a:p>
            <a:pPr>
              <a:defRPr sz="6300" b="0">
                <a:solidFill>
                  <a:srgbClr val="A83033"/>
                </a:solidFill>
                <a:latin typeface="Marcellus"/>
                <a:ea typeface="Marcellus"/>
                <a:cs typeface="Marcellus"/>
              </a:defRPr>
            </a:pPr>
            <a:r>
              <a:rPr sz="6300" b="0">
                <a:solidFill>
                  <a:srgbClr val="A83033"/>
                </a:solidFill>
                <a:latin typeface="Marcellus"/>
                <a:ea typeface="Marcellus"/>
                <a:cs typeface="Marcellus"/>
              </a:rPr>
              <a:t>Resource Management</a:t>
            </a:r>
          </a:p>
        </p:txBody>
      </p:sp>
      <p:sp>
        <p:nvSpPr>
          <p:cNvPr id="93" name="Rectangle 92">
            <a:extLst>
              <a:ext uri="{FF2B5EF4-FFF2-40B4-BE49-F238E27FC236}">
                <a16:creationId xmlns:a16="http://schemas.microsoft.com/office/drawing/2014/main" id="{98AAAE45-9B2E-4FF4-A45A-908E034FD964}"/>
              </a:ext>
            </a:extLst>
          </p:cNvPr>
          <p:cNvSpPr>
            <a:spLocks noGrp="1"/>
          </p:cNvSpPr>
          <p:nvPr/>
        </p:nvSpPr>
        <p:spPr>
          <a:xfrm>
            <a:off x="2238375" y="3857625"/>
            <a:ext cx="13982700" cy="857250"/>
          </a:xfrm>
          <a:prstGeom prst="rect">
            <a:avLst/>
          </a:prstGeom>
          <a:noFill/>
          <a:ln w="0">
            <a:noFill/>
          </a:ln>
        </p:spPr>
        <p:txBody>
          <a:bodyPr lIns="0" tIns="0" rIns="0" bIns="0"/>
          <a:lstStyle>
            <a:defPPr>
              <a:defRPr sz="3300" b="0">
                <a:solidFill>
                  <a:srgbClr val="A83033"/>
                </a:solidFill>
                <a:latin typeface="Calibri"/>
                <a:ea typeface="Calibri"/>
                <a:cs typeface="Calibri"/>
              </a:defRPr>
            </a:defPPr>
            <a:lvl1pPr>
              <a:defRPr sz="3300" b="0">
                <a:solidFill>
                  <a:srgbClr val="A83033"/>
                </a:solidFill>
                <a:latin typeface="Calibri"/>
                <a:ea typeface="Calibri"/>
                <a:cs typeface="Calibri"/>
              </a:defRPr>
            </a:lvl1pPr>
            <a:lvl2pPr>
              <a:defRPr sz="3300" b="0">
                <a:solidFill>
                  <a:srgbClr val="A83033"/>
                </a:solidFill>
                <a:latin typeface="Calibri"/>
                <a:ea typeface="Calibri"/>
                <a:cs typeface="Calibri"/>
              </a:defRPr>
            </a:lvl2pPr>
            <a:lvl3pPr>
              <a:defRPr sz="3300" b="0">
                <a:solidFill>
                  <a:srgbClr val="A83033"/>
                </a:solidFill>
                <a:latin typeface="Calibri"/>
                <a:ea typeface="Calibri"/>
                <a:cs typeface="Calibri"/>
              </a:defRPr>
            </a:lvl3pPr>
            <a:lvl4pPr>
              <a:defRPr sz="3300" b="0">
                <a:solidFill>
                  <a:srgbClr val="A83033"/>
                </a:solidFill>
                <a:latin typeface="Calibri"/>
                <a:ea typeface="Calibri"/>
                <a:cs typeface="Calibri"/>
              </a:defRPr>
            </a:lvl4pPr>
            <a:lvl5pPr>
              <a:defRPr sz="3300" b="0">
                <a:solidFill>
                  <a:srgbClr val="A83033"/>
                </a:solidFill>
                <a:latin typeface="Calibri"/>
                <a:ea typeface="Calibri"/>
                <a:cs typeface="Calibri"/>
              </a:defRPr>
            </a:lvl5pPr>
            <a:lvl6pPr>
              <a:defRPr sz="3300" b="0">
                <a:solidFill>
                  <a:srgbClr val="A83033"/>
                </a:solidFill>
                <a:latin typeface="Calibri"/>
                <a:ea typeface="Calibri"/>
                <a:cs typeface="Calibri"/>
              </a:defRPr>
            </a:lvl6pPr>
            <a:lvl7pPr>
              <a:defRPr sz="3300" b="0">
                <a:solidFill>
                  <a:srgbClr val="A83033"/>
                </a:solidFill>
                <a:latin typeface="Calibri"/>
                <a:ea typeface="Calibri"/>
                <a:cs typeface="Calibri"/>
              </a:defRPr>
            </a:lvl7pPr>
            <a:lvl8pPr>
              <a:defRPr sz="3300" b="0">
                <a:solidFill>
                  <a:srgbClr val="A83033"/>
                </a:solidFill>
                <a:latin typeface="Calibri"/>
                <a:ea typeface="Calibri"/>
                <a:cs typeface="Calibri"/>
              </a:defRPr>
            </a:lvl8pPr>
            <a:lvl9pPr>
              <a:defRPr sz="3300" b="0">
                <a:solidFill>
                  <a:srgbClr val="A83033"/>
                </a:solidFill>
                <a:latin typeface="Calibri"/>
                <a:ea typeface="Calibri"/>
                <a:cs typeface="Calibri"/>
              </a:defRPr>
            </a:lvl9pPr>
          </a:lstStyle>
          <a:p>
            <a:pPr>
              <a:defRPr sz="3300" b="0">
                <a:solidFill>
                  <a:srgbClr val="A83033"/>
                </a:solidFill>
                <a:latin typeface="Calibri"/>
                <a:ea typeface="Calibri"/>
                <a:cs typeface="Calibri"/>
              </a:defRPr>
            </a:pPr>
            <a:r>
              <a:rPr sz="3300" b="0">
                <a:solidFill>
                  <a:srgbClr val="A83033"/>
                </a:solidFill>
                <a:latin typeface="Calibri"/>
                <a:ea typeface="Calibri"/>
                <a:cs typeface="Calibri"/>
              </a:rPr>
              <a:t>ML-based forecasting with SLA-aware auto-scaling</a:t>
            </a:r>
          </a:p>
        </p:txBody>
      </p:sp>
      <p:sp>
        <p:nvSpPr>
          <p:cNvPr id="94" name="Rectangle 93">
            <a:extLst>
              <a:ext uri="{FF2B5EF4-FFF2-40B4-BE49-F238E27FC236}">
                <a16:creationId xmlns:a16="http://schemas.microsoft.com/office/drawing/2014/main" id="{527E6826-7895-41EC-A65A-9369EAFB3ED4}"/>
              </a:ext>
            </a:extLst>
          </p:cNvPr>
          <p:cNvSpPr>
            <a:spLocks noGrp="1"/>
          </p:cNvSpPr>
          <p:nvPr/>
        </p:nvSpPr>
        <p:spPr>
          <a:xfrm>
            <a:off x="2238375" y="5381625"/>
            <a:ext cx="5905500" cy="219075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defRPr sz="2850" b="0">
                <a:solidFill>
                  <a:srgbClr val="333333"/>
                </a:solidFill>
                <a:latin typeface="Calibri"/>
                <a:ea typeface="Calibri"/>
                <a:cs typeface="Calibri"/>
              </a:defRPr>
            </a:lvl1pPr>
            <a:lvl2pPr>
              <a:defRPr sz="2850" b="0">
                <a:solidFill>
                  <a:srgbClr val="333333"/>
                </a:solidFill>
                <a:latin typeface="Calibri"/>
                <a:ea typeface="Calibri"/>
                <a:cs typeface="Calibri"/>
              </a:defRPr>
            </a:lvl2pPr>
            <a:lvl3pPr>
              <a:defRPr sz="2850" b="0">
                <a:solidFill>
                  <a:srgbClr val="333333"/>
                </a:solidFill>
                <a:latin typeface="Calibri"/>
                <a:ea typeface="Calibri"/>
                <a:cs typeface="Calibri"/>
              </a:defRPr>
            </a:lvl3pPr>
            <a:lvl4pPr>
              <a:defRPr sz="2850" b="0">
                <a:solidFill>
                  <a:srgbClr val="333333"/>
                </a:solidFill>
                <a:latin typeface="Calibri"/>
                <a:ea typeface="Calibri"/>
                <a:cs typeface="Calibri"/>
              </a:defRPr>
            </a:lvl4pPr>
            <a:lvl5pPr>
              <a:defRPr sz="2850" b="0">
                <a:solidFill>
                  <a:srgbClr val="333333"/>
                </a:solidFill>
                <a:latin typeface="Calibri"/>
                <a:ea typeface="Calibri"/>
                <a:cs typeface="Calibri"/>
              </a:defRPr>
            </a:lvl5pPr>
            <a:lvl6pPr>
              <a:defRPr sz="2850" b="0">
                <a:solidFill>
                  <a:srgbClr val="333333"/>
                </a:solidFill>
                <a:latin typeface="Calibri"/>
                <a:ea typeface="Calibri"/>
                <a:cs typeface="Calibri"/>
              </a:defRPr>
            </a:lvl6pPr>
            <a:lvl7pPr>
              <a:defRPr sz="2850" b="0">
                <a:solidFill>
                  <a:srgbClr val="333333"/>
                </a:solidFill>
                <a:latin typeface="Calibri"/>
                <a:ea typeface="Calibri"/>
                <a:cs typeface="Calibri"/>
              </a:defRPr>
            </a:lvl7pPr>
            <a:lvl8pPr>
              <a:defRPr sz="2850" b="0">
                <a:solidFill>
                  <a:srgbClr val="333333"/>
                </a:solidFill>
                <a:latin typeface="Calibri"/>
                <a:ea typeface="Calibri"/>
                <a:cs typeface="Calibri"/>
              </a:defRPr>
            </a:lvl8pPr>
            <a:lvl9pPr>
              <a:defRPr sz="2850" b="0">
                <a:solidFill>
                  <a:srgbClr val="333333"/>
                </a:solidFill>
                <a:latin typeface="Calibri"/>
                <a:ea typeface="Calibri"/>
                <a:cs typeface="Calibri"/>
              </a:defRPr>
            </a:lvl9pPr>
          </a:lstStyle>
          <a:p>
            <a:pPr>
              <a:defRPr sz="2850" b="0">
                <a:solidFill>
                  <a:srgbClr val="333333"/>
                </a:solidFill>
                <a:latin typeface="Calibri"/>
                <a:ea typeface="Calibri"/>
                <a:cs typeface="Calibri"/>
              </a:defRPr>
            </a:pPr>
            <a:r>
              <a:rPr sz="2850" b="0">
                <a:solidFill>
                  <a:srgbClr val="333333"/>
                </a:solidFill>
                <a:latin typeface="Calibri"/>
                <a:ea typeface="Calibri"/>
                <a:cs typeface="Calibri"/>
              </a:rPr>
              <a:t>Advanced Cloud Computing</a:t>
            </a:r>
          </a:p>
          <a:p>
            <a:pPr>
              <a:defRPr sz="2850" b="0">
                <a:solidFill>
                  <a:srgbClr val="333333"/>
                </a:solidFill>
                <a:latin typeface="Calibri"/>
                <a:ea typeface="Calibri"/>
                <a:cs typeface="Calibri"/>
              </a:defRPr>
            </a:pPr>
            <a:r>
              <a:rPr sz="2850" b="0">
                <a:solidFill>
                  <a:srgbClr val="333333"/>
                </a:solidFill>
                <a:latin typeface="Calibri"/>
                <a:ea typeface="Calibri"/>
                <a:cs typeface="Calibri"/>
              </a:rPr>
              <a:t>Lab-CA implementation</a:t>
            </a:r>
          </a:p>
          <a:p>
            <a:pPr>
              <a:defRPr sz="2850" b="0">
                <a:solidFill>
                  <a:srgbClr val="333333"/>
                </a:solidFill>
                <a:latin typeface="Calibri"/>
                <a:ea typeface="Calibri"/>
                <a:cs typeface="Calibri"/>
              </a:defRPr>
            </a:pPr>
            <a:r>
              <a:rPr sz="2850" b="0">
                <a:solidFill>
                  <a:srgbClr val="333333"/>
                </a:solidFill>
                <a:latin typeface="Calibri"/>
                <a:ea typeface="Calibri"/>
                <a:cs typeface="Calibri"/>
              </a:rPr>
              <a:t>25 October 2026</a:t>
            </a:r>
          </a:p>
        </p:txBody>
      </p:sp>
      <p:sp>
        <p:nvSpPr>
          <p:cNvPr id="95" name="Rectangle 94">
            <a:extLst>
              <a:ext uri="{FF2B5EF4-FFF2-40B4-BE49-F238E27FC236}">
                <a16:creationId xmlns:a16="http://schemas.microsoft.com/office/drawing/2014/main" id="{0D068165-28BE-41E2-928F-9AB1B7D51479}"/>
              </a:ext>
            </a:extLst>
          </p:cNvPr>
          <p:cNvSpPr>
            <a:spLocks noGrp="1"/>
          </p:cNvSpPr>
          <p:nvPr/>
        </p:nvSpPr>
        <p:spPr>
          <a:xfrm>
            <a:off x="9191625" y="5381625"/>
            <a:ext cx="7143750" cy="219075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defRPr sz="2850" b="0">
                <a:solidFill>
                  <a:srgbClr val="333333"/>
                </a:solidFill>
                <a:latin typeface="Calibri"/>
                <a:ea typeface="Calibri"/>
                <a:cs typeface="Calibri"/>
              </a:defRPr>
            </a:lvl1pPr>
            <a:lvl2pPr>
              <a:defRPr sz="2850" b="0">
                <a:solidFill>
                  <a:srgbClr val="333333"/>
                </a:solidFill>
                <a:latin typeface="Calibri"/>
                <a:ea typeface="Calibri"/>
                <a:cs typeface="Calibri"/>
              </a:defRPr>
            </a:lvl2pPr>
            <a:lvl3pPr>
              <a:defRPr sz="2850" b="0">
                <a:solidFill>
                  <a:srgbClr val="333333"/>
                </a:solidFill>
                <a:latin typeface="Calibri"/>
                <a:ea typeface="Calibri"/>
                <a:cs typeface="Calibri"/>
              </a:defRPr>
            </a:lvl3pPr>
            <a:lvl4pPr>
              <a:defRPr sz="2850" b="0">
                <a:solidFill>
                  <a:srgbClr val="333333"/>
                </a:solidFill>
                <a:latin typeface="Calibri"/>
                <a:ea typeface="Calibri"/>
                <a:cs typeface="Calibri"/>
              </a:defRPr>
            </a:lvl4pPr>
            <a:lvl5pPr>
              <a:defRPr sz="2850" b="0">
                <a:solidFill>
                  <a:srgbClr val="333333"/>
                </a:solidFill>
                <a:latin typeface="Calibri"/>
                <a:ea typeface="Calibri"/>
                <a:cs typeface="Calibri"/>
              </a:defRPr>
            </a:lvl5pPr>
            <a:lvl6pPr>
              <a:defRPr sz="2850" b="0">
                <a:solidFill>
                  <a:srgbClr val="333333"/>
                </a:solidFill>
                <a:latin typeface="Calibri"/>
                <a:ea typeface="Calibri"/>
                <a:cs typeface="Calibri"/>
              </a:defRPr>
            </a:lvl6pPr>
            <a:lvl7pPr>
              <a:defRPr sz="2850" b="0">
                <a:solidFill>
                  <a:srgbClr val="333333"/>
                </a:solidFill>
                <a:latin typeface="Calibri"/>
                <a:ea typeface="Calibri"/>
                <a:cs typeface="Calibri"/>
              </a:defRPr>
            </a:lvl7pPr>
            <a:lvl8pPr>
              <a:defRPr sz="2850" b="0">
                <a:solidFill>
                  <a:srgbClr val="333333"/>
                </a:solidFill>
                <a:latin typeface="Calibri"/>
                <a:ea typeface="Calibri"/>
                <a:cs typeface="Calibri"/>
              </a:defRPr>
            </a:lvl8pPr>
            <a:lvl9pPr>
              <a:defRPr sz="2850" b="0">
                <a:solidFill>
                  <a:srgbClr val="333333"/>
                </a:solidFill>
                <a:latin typeface="Calibri"/>
                <a:ea typeface="Calibri"/>
                <a:cs typeface="Calibri"/>
              </a:defRPr>
            </a:lvl9pPr>
          </a:lstStyle>
          <a:p>
            <a:pPr>
              <a:defRPr sz="2850" b="0">
                <a:solidFill>
                  <a:srgbClr val="333333"/>
                </a:solidFill>
                <a:latin typeface="Calibri"/>
                <a:ea typeface="Calibri"/>
                <a:cs typeface="Calibri"/>
              </a:defRPr>
            </a:pPr>
            <a:r>
              <a:rPr sz="2850" b="0">
                <a:solidFill>
                  <a:srgbClr val="333333"/>
                </a:solidFill>
                <a:latin typeface="Calibri"/>
                <a:ea typeface="Calibri"/>
                <a:cs typeface="Calibri"/>
              </a:rPr>
              <a:t>Parth Dhande     16010123232</a:t>
            </a:r>
          </a:p>
          <a:p>
            <a:pPr>
              <a:defRPr sz="2850" b="0">
                <a:solidFill>
                  <a:srgbClr val="333333"/>
                </a:solidFill>
                <a:latin typeface="Calibri"/>
                <a:ea typeface="Calibri"/>
                <a:cs typeface="Calibri"/>
              </a:defRPr>
            </a:pPr>
            <a:r>
              <a:rPr sz="2850" b="0">
                <a:solidFill>
                  <a:srgbClr val="333333"/>
                </a:solidFill>
                <a:latin typeface="Calibri"/>
                <a:ea typeface="Calibri"/>
                <a:cs typeface="Calibri"/>
              </a:rPr>
              <a:t>Purab Madhan   16010123242</a:t>
            </a:r>
          </a:p>
          <a:p>
            <a:pPr>
              <a:defRPr sz="2850" b="0">
                <a:solidFill>
                  <a:srgbClr val="333333"/>
                </a:solidFill>
                <a:latin typeface="Calibri"/>
                <a:ea typeface="Calibri"/>
                <a:cs typeface="Calibri"/>
              </a:defRPr>
            </a:pPr>
            <a:r>
              <a:rPr sz="2850" b="0">
                <a:solidFill>
                  <a:srgbClr val="333333"/>
                </a:solidFill>
                <a:latin typeface="Calibri"/>
                <a:ea typeface="Calibri"/>
                <a:cs typeface="Calibri"/>
              </a:rPr>
              <a:t>Pushkar Rai       16010123243</a:t>
            </a:r>
          </a:p>
        </p:txBody>
      </p:sp>
      <p:sp>
        <p:nvSpPr>
          <p:cNvPr id="96" name="Rectangle 95">
            <a:extLst>
              <a:ext uri="{FF2B5EF4-FFF2-40B4-BE49-F238E27FC236}">
                <a16:creationId xmlns:a16="http://schemas.microsoft.com/office/drawing/2014/main" id="{84EA58E0-0CA8-4871-AB06-10B9FE22F5E0}"/>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01 / 24</a:t>
            </a:r>
          </a:p>
        </p:txBody>
      </p:sp>
    </p:spTree>
    <p:extLst>
      <p:ext uri="{BB962C8B-B14F-4D97-AF65-F5344CB8AC3E}">
        <p14:creationId xmlns:p14="http://schemas.microsoft.com/office/powerpoint/2010/main" val="2128678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0F8B976D-3E6E-487C-BC9A-8308FA620506}"/>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The problem and the demonstration goal</a:t>
            </a:r>
          </a:p>
        </p:txBody>
      </p:sp>
      <p:sp>
        <p:nvSpPr>
          <p:cNvPr id="108" name="Rectangle 107">
            <a:extLst>
              <a:ext uri="{FF2B5EF4-FFF2-40B4-BE49-F238E27FC236}">
                <a16:creationId xmlns:a16="http://schemas.microsoft.com/office/drawing/2014/main" id="{2B8BB7BF-7B03-4A8A-B055-890F6A94B8EE}"/>
              </a:ext>
            </a:extLst>
          </p:cNvPr>
          <p:cNvSpPr>
            <a:spLocks noGrp="1"/>
          </p:cNvSpPr>
          <p:nvPr/>
        </p:nvSpPr>
        <p:spPr>
          <a:xfrm>
            <a:off x="2238375" y="2143125"/>
            <a:ext cx="8096250" cy="4191000"/>
          </a:xfrm>
          <a:prstGeom prst="rect">
            <a:avLst/>
          </a:prstGeom>
          <a:noFill/>
          <a:ln w="0">
            <a:noFill/>
          </a:ln>
        </p:spPr>
        <p:txBody>
          <a:bodyPr lIns="0" tIns="0" rIns="0" bIns="0"/>
          <a:lstStyle>
            <a:defPPr>
              <a:defRPr sz="3225" b="0">
                <a:solidFill>
                  <a:srgbClr val="333333"/>
                </a:solidFill>
                <a:latin typeface="Calibri"/>
                <a:ea typeface="Calibri"/>
                <a:cs typeface="Calibri"/>
              </a:defRPr>
            </a:defPPr>
            <a:lvl1pPr>
              <a:defRPr sz="3225" b="0">
                <a:solidFill>
                  <a:srgbClr val="333333"/>
                </a:solidFill>
                <a:latin typeface="Calibri"/>
                <a:ea typeface="Calibri"/>
                <a:cs typeface="Calibri"/>
              </a:defRPr>
            </a:lvl1pPr>
            <a:lvl2pPr>
              <a:defRPr sz="3225" b="0">
                <a:solidFill>
                  <a:srgbClr val="333333"/>
                </a:solidFill>
                <a:latin typeface="Calibri"/>
                <a:ea typeface="Calibri"/>
                <a:cs typeface="Calibri"/>
              </a:defRPr>
            </a:lvl2pPr>
            <a:lvl3pPr>
              <a:defRPr sz="3225" b="0">
                <a:solidFill>
                  <a:srgbClr val="333333"/>
                </a:solidFill>
                <a:latin typeface="Calibri"/>
                <a:ea typeface="Calibri"/>
                <a:cs typeface="Calibri"/>
              </a:defRPr>
            </a:lvl3pPr>
            <a:lvl4pPr>
              <a:defRPr sz="3225" b="0">
                <a:solidFill>
                  <a:srgbClr val="333333"/>
                </a:solidFill>
                <a:latin typeface="Calibri"/>
                <a:ea typeface="Calibri"/>
                <a:cs typeface="Calibri"/>
              </a:defRPr>
            </a:lvl4pPr>
            <a:lvl5pPr>
              <a:defRPr sz="3225" b="0">
                <a:solidFill>
                  <a:srgbClr val="333333"/>
                </a:solidFill>
                <a:latin typeface="Calibri"/>
                <a:ea typeface="Calibri"/>
                <a:cs typeface="Calibri"/>
              </a:defRPr>
            </a:lvl5pPr>
            <a:lvl6pPr>
              <a:defRPr sz="3225" b="0">
                <a:solidFill>
                  <a:srgbClr val="333333"/>
                </a:solidFill>
                <a:latin typeface="Calibri"/>
                <a:ea typeface="Calibri"/>
                <a:cs typeface="Calibri"/>
              </a:defRPr>
            </a:lvl6pPr>
            <a:lvl7pPr>
              <a:defRPr sz="3225" b="0">
                <a:solidFill>
                  <a:srgbClr val="333333"/>
                </a:solidFill>
                <a:latin typeface="Calibri"/>
                <a:ea typeface="Calibri"/>
                <a:cs typeface="Calibri"/>
              </a:defRPr>
            </a:lvl7pPr>
            <a:lvl8pPr>
              <a:defRPr sz="3225" b="0">
                <a:solidFill>
                  <a:srgbClr val="333333"/>
                </a:solidFill>
                <a:latin typeface="Calibri"/>
                <a:ea typeface="Calibri"/>
                <a:cs typeface="Calibri"/>
              </a:defRPr>
            </a:lvl8pPr>
            <a:lvl9pPr>
              <a:defRPr sz="3225" b="0">
                <a:solidFill>
                  <a:srgbClr val="333333"/>
                </a:solidFill>
                <a:latin typeface="Calibri"/>
                <a:ea typeface="Calibri"/>
                <a:cs typeface="Calibri"/>
              </a:defRPr>
            </a:lvl9pPr>
          </a:lstStyle>
          <a:p>
            <a:pPr>
              <a:defRPr sz="3225" b="0">
                <a:solidFill>
                  <a:srgbClr val="333333"/>
                </a:solidFill>
                <a:latin typeface="Calibri"/>
                <a:ea typeface="Calibri"/>
                <a:cs typeface="Calibri"/>
              </a:defRPr>
            </a:pPr>
            <a:r>
              <a:rPr sz="3225" b="0">
                <a:solidFill>
                  <a:srgbClr val="333333"/>
                </a:solidFill>
                <a:latin typeface="Calibri"/>
                <a:ea typeface="Calibri"/>
                <a:cs typeface="Calibri"/>
              </a:rPr>
              <a:t>Demand changes faster than new workers become ready.</a:t>
            </a:r>
          </a:p>
          <a:p>
            <a:endParaRPr sz="3225" b="0">
              <a:solidFill>
                <a:srgbClr val="333333"/>
              </a:solidFill>
              <a:latin typeface="Calibri"/>
              <a:ea typeface="Calibri"/>
              <a:cs typeface="Calibri"/>
            </a:endParaRPr>
          </a:p>
          <a:p>
            <a:pPr>
              <a:defRPr sz="3225" b="0">
                <a:solidFill>
                  <a:srgbClr val="333333"/>
                </a:solidFill>
                <a:latin typeface="Calibri"/>
                <a:ea typeface="Calibri"/>
                <a:cs typeface="Calibri"/>
              </a:defRPr>
            </a:pPr>
            <a:r>
              <a:rPr sz="3225" b="0">
                <a:solidFill>
                  <a:srgbClr val="333333"/>
                </a:solidFill>
                <a:latin typeface="Calibri"/>
                <a:ea typeface="Calibri"/>
                <a:cs typeface="Calibri"/>
              </a:rPr>
              <a:t>Too little capacity increases latency. Keeping maximum capacity wastes resources.</a:t>
            </a:r>
          </a:p>
        </p:txBody>
      </p:sp>
      <p:sp>
        <p:nvSpPr>
          <p:cNvPr id="109" name="Rectangle 108">
            <a:extLst>
              <a:ext uri="{FF2B5EF4-FFF2-40B4-BE49-F238E27FC236}">
                <a16:creationId xmlns:a16="http://schemas.microsoft.com/office/drawing/2014/main" id="{A2F308C1-2219-4BDB-A979-29DD1D295906}"/>
              </a:ext>
            </a:extLst>
          </p:cNvPr>
          <p:cNvSpPr>
            <a:spLocks noGrp="1"/>
          </p:cNvSpPr>
          <p:nvPr/>
        </p:nvSpPr>
        <p:spPr>
          <a:xfrm>
            <a:off x="11144250" y="2143125"/>
            <a:ext cx="5076825" cy="666750"/>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defRPr sz="3000" b="1">
                <a:solidFill>
                  <a:srgbClr val="A83033"/>
                </a:solidFill>
                <a:latin typeface="Calibri"/>
                <a:ea typeface="Calibri"/>
                <a:cs typeface="Calibri"/>
              </a:defRPr>
            </a:lvl1pPr>
            <a:lvl2pPr>
              <a:defRPr sz="3000" b="1">
                <a:solidFill>
                  <a:srgbClr val="A83033"/>
                </a:solidFill>
                <a:latin typeface="Calibri"/>
                <a:ea typeface="Calibri"/>
                <a:cs typeface="Calibri"/>
              </a:defRPr>
            </a:lvl2pPr>
            <a:lvl3pPr>
              <a:defRPr sz="3000" b="1">
                <a:solidFill>
                  <a:srgbClr val="A83033"/>
                </a:solidFill>
                <a:latin typeface="Calibri"/>
                <a:ea typeface="Calibri"/>
                <a:cs typeface="Calibri"/>
              </a:defRPr>
            </a:lvl3pPr>
            <a:lvl4pPr>
              <a:defRPr sz="3000" b="1">
                <a:solidFill>
                  <a:srgbClr val="A83033"/>
                </a:solidFill>
                <a:latin typeface="Calibri"/>
                <a:ea typeface="Calibri"/>
                <a:cs typeface="Calibri"/>
              </a:defRPr>
            </a:lvl4pPr>
            <a:lvl5pPr>
              <a:defRPr sz="3000" b="1">
                <a:solidFill>
                  <a:srgbClr val="A83033"/>
                </a:solidFill>
                <a:latin typeface="Calibri"/>
                <a:ea typeface="Calibri"/>
                <a:cs typeface="Calibri"/>
              </a:defRPr>
            </a:lvl5pPr>
            <a:lvl6pPr>
              <a:defRPr sz="3000" b="1">
                <a:solidFill>
                  <a:srgbClr val="A83033"/>
                </a:solidFill>
                <a:latin typeface="Calibri"/>
                <a:ea typeface="Calibri"/>
                <a:cs typeface="Calibri"/>
              </a:defRPr>
            </a:lvl6pPr>
            <a:lvl7pPr>
              <a:defRPr sz="3000" b="1">
                <a:solidFill>
                  <a:srgbClr val="A83033"/>
                </a:solidFill>
                <a:latin typeface="Calibri"/>
                <a:ea typeface="Calibri"/>
                <a:cs typeface="Calibri"/>
              </a:defRPr>
            </a:lvl7pPr>
            <a:lvl8pPr>
              <a:defRPr sz="3000" b="1">
                <a:solidFill>
                  <a:srgbClr val="A83033"/>
                </a:solidFill>
                <a:latin typeface="Calibri"/>
                <a:ea typeface="Calibri"/>
                <a:cs typeface="Calibri"/>
              </a:defRPr>
            </a:lvl8pPr>
            <a:lvl9pPr>
              <a:defRPr sz="3000" b="1">
                <a:solidFill>
                  <a:srgbClr val="A83033"/>
                </a:solidFill>
                <a:latin typeface="Calibri"/>
                <a:ea typeface="Calibri"/>
                <a:cs typeface="Calibri"/>
              </a:defRPr>
            </a:lvl9pPr>
          </a:lstStyle>
          <a:p>
            <a:pPr>
              <a:defRPr sz="3000" b="1">
                <a:solidFill>
                  <a:srgbClr val="A83033"/>
                </a:solidFill>
                <a:latin typeface="Calibri"/>
                <a:ea typeface="Calibri"/>
                <a:cs typeface="Calibri"/>
              </a:defRPr>
            </a:pPr>
            <a:r>
              <a:rPr sz="3000" b="1">
                <a:solidFill>
                  <a:srgbClr val="A83033"/>
                </a:solidFill>
                <a:latin typeface="Calibri"/>
                <a:ea typeface="Calibri"/>
                <a:cs typeface="Calibri"/>
              </a:rPr>
              <a:t>Our operating target</a:t>
            </a:r>
          </a:p>
        </p:txBody>
      </p:sp>
      <p:sp>
        <p:nvSpPr>
          <p:cNvPr id="110" name="Rectangle 109">
            <a:extLst>
              <a:ext uri="{FF2B5EF4-FFF2-40B4-BE49-F238E27FC236}">
                <a16:creationId xmlns:a16="http://schemas.microsoft.com/office/drawing/2014/main" id="{F005C662-4CE0-465C-93AA-C3D80E70B705}"/>
              </a:ext>
            </a:extLst>
          </p:cNvPr>
          <p:cNvSpPr>
            <a:spLocks noGrp="1"/>
          </p:cNvSpPr>
          <p:nvPr/>
        </p:nvSpPr>
        <p:spPr>
          <a:xfrm>
            <a:off x="11144250" y="3000375"/>
            <a:ext cx="5076825" cy="419100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defRPr sz="2850" b="0">
                <a:solidFill>
                  <a:srgbClr val="333333"/>
                </a:solidFill>
                <a:latin typeface="Calibri"/>
                <a:ea typeface="Calibri"/>
                <a:cs typeface="Calibri"/>
              </a:defRPr>
            </a:lvl1pPr>
            <a:lvl2pPr>
              <a:defRPr sz="2850" b="0">
                <a:solidFill>
                  <a:srgbClr val="333333"/>
                </a:solidFill>
                <a:latin typeface="Calibri"/>
                <a:ea typeface="Calibri"/>
                <a:cs typeface="Calibri"/>
              </a:defRPr>
            </a:lvl2pPr>
            <a:lvl3pPr>
              <a:defRPr sz="2850" b="0">
                <a:solidFill>
                  <a:srgbClr val="333333"/>
                </a:solidFill>
                <a:latin typeface="Calibri"/>
                <a:ea typeface="Calibri"/>
                <a:cs typeface="Calibri"/>
              </a:defRPr>
            </a:lvl3pPr>
            <a:lvl4pPr>
              <a:defRPr sz="2850" b="0">
                <a:solidFill>
                  <a:srgbClr val="333333"/>
                </a:solidFill>
                <a:latin typeface="Calibri"/>
                <a:ea typeface="Calibri"/>
                <a:cs typeface="Calibri"/>
              </a:defRPr>
            </a:lvl4pPr>
            <a:lvl5pPr>
              <a:defRPr sz="2850" b="0">
                <a:solidFill>
                  <a:srgbClr val="333333"/>
                </a:solidFill>
                <a:latin typeface="Calibri"/>
                <a:ea typeface="Calibri"/>
                <a:cs typeface="Calibri"/>
              </a:defRPr>
            </a:lvl5pPr>
            <a:lvl6pPr>
              <a:defRPr sz="2850" b="0">
                <a:solidFill>
                  <a:srgbClr val="333333"/>
                </a:solidFill>
                <a:latin typeface="Calibri"/>
                <a:ea typeface="Calibri"/>
                <a:cs typeface="Calibri"/>
              </a:defRPr>
            </a:lvl6pPr>
            <a:lvl7pPr>
              <a:defRPr sz="2850" b="0">
                <a:solidFill>
                  <a:srgbClr val="333333"/>
                </a:solidFill>
                <a:latin typeface="Calibri"/>
                <a:ea typeface="Calibri"/>
                <a:cs typeface="Calibri"/>
              </a:defRPr>
            </a:lvl7pPr>
            <a:lvl8pPr>
              <a:defRPr sz="2850" b="0">
                <a:solidFill>
                  <a:srgbClr val="333333"/>
                </a:solidFill>
                <a:latin typeface="Calibri"/>
                <a:ea typeface="Calibri"/>
                <a:cs typeface="Calibri"/>
              </a:defRPr>
            </a:lvl8pPr>
            <a:lvl9pPr>
              <a:defRPr sz="2850" b="0">
                <a:solidFill>
                  <a:srgbClr val="333333"/>
                </a:solidFill>
                <a:latin typeface="Calibri"/>
                <a:ea typeface="Calibri"/>
                <a:cs typeface="Calibri"/>
              </a:defRPr>
            </a:lvl9pPr>
          </a:lstStyle>
          <a:p>
            <a:pPr>
              <a:defRPr sz="2850" b="0">
                <a:solidFill>
                  <a:srgbClr val="333333"/>
                </a:solidFill>
                <a:latin typeface="Calibri"/>
                <a:ea typeface="Calibri"/>
                <a:cs typeface="Calibri"/>
              </a:defRPr>
            </a:pPr>
            <a:r>
              <a:rPr sz="2850" b="0">
                <a:solidFill>
                  <a:srgbClr val="333333"/>
                </a:solidFill>
                <a:latin typeface="Calibri"/>
                <a:ea typeface="Calibri"/>
                <a:cs typeface="Calibri"/>
              </a:rPr>
              <a:t>p95 latency at or below 250 ms</a:t>
            </a:r>
          </a:p>
          <a:p>
            <a:endParaRPr sz="2850" b="0">
              <a:solidFill>
                <a:srgbClr val="333333"/>
              </a:solidFill>
              <a:latin typeface="Calibri"/>
              <a:ea typeface="Calibri"/>
              <a:cs typeface="Calibri"/>
            </a:endParaRPr>
          </a:p>
          <a:p>
            <a:pPr>
              <a:defRPr sz="2850" b="0">
                <a:solidFill>
                  <a:srgbClr val="333333"/>
                </a:solidFill>
                <a:latin typeface="Calibri"/>
                <a:ea typeface="Calibri"/>
                <a:cs typeface="Calibri"/>
              </a:defRPr>
            </a:pPr>
            <a:r>
              <a:rPr sz="2850" b="0">
                <a:solidFill>
                  <a:srgbClr val="333333"/>
                </a:solidFill>
                <a:latin typeface="Calibri"/>
                <a:ea typeface="Calibri"/>
                <a:cs typeface="Calibri"/>
              </a:rPr>
              <a:t>At least 99% successful requests</a:t>
            </a:r>
          </a:p>
          <a:p>
            <a:endParaRPr sz="2850" b="0">
              <a:solidFill>
                <a:srgbClr val="333333"/>
              </a:solidFill>
              <a:latin typeface="Calibri"/>
              <a:ea typeface="Calibri"/>
              <a:cs typeface="Calibri"/>
            </a:endParaRPr>
          </a:p>
          <a:p>
            <a:pPr>
              <a:defRPr sz="2850" b="0">
                <a:solidFill>
                  <a:srgbClr val="333333"/>
                </a:solidFill>
                <a:latin typeface="Calibri"/>
                <a:ea typeface="Calibri"/>
                <a:cs typeface="Calibri"/>
              </a:defRPr>
            </a:pPr>
            <a:r>
              <a:rPr sz="2850" b="0">
                <a:solidFill>
                  <a:srgbClr val="333333"/>
                </a:solidFill>
                <a:latin typeface="Calibri"/>
                <a:ea typeface="Calibri"/>
                <a:cs typeface="Calibri"/>
              </a:rPr>
              <a:t>1 to 4 worker replicas</a:t>
            </a:r>
          </a:p>
        </p:txBody>
      </p:sp>
      <p:sp>
        <p:nvSpPr>
          <p:cNvPr id="111" name="Rectangle 110">
            <a:extLst>
              <a:ext uri="{FF2B5EF4-FFF2-40B4-BE49-F238E27FC236}">
                <a16:creationId xmlns:a16="http://schemas.microsoft.com/office/drawing/2014/main" id="{7285D117-6A6A-4761-9A32-622A6042EF4E}"/>
              </a:ext>
            </a:extLst>
          </p:cNvPr>
          <p:cNvSpPr>
            <a:spLocks noGrp="1"/>
          </p:cNvSpPr>
          <p:nvPr/>
        </p:nvSpPr>
        <p:spPr>
          <a:xfrm>
            <a:off x="2238375" y="7286625"/>
            <a:ext cx="13982700" cy="1047750"/>
          </a:xfrm>
          <a:prstGeom prst="rect">
            <a:avLst/>
          </a:prstGeom>
          <a:noFill/>
          <a:ln w="0">
            <a:noFill/>
          </a:ln>
        </p:spPr>
        <p:txBody>
          <a:bodyPr lIns="0" tIns="0" rIns="0" bIns="0"/>
          <a:lstStyle>
            <a:defPPr>
              <a:defRPr sz="2850" b="1">
                <a:solidFill>
                  <a:srgbClr val="A83033"/>
                </a:solidFill>
                <a:latin typeface="Calibri"/>
                <a:ea typeface="Calibri"/>
                <a:cs typeface="Calibri"/>
              </a:defRPr>
            </a:defPPr>
            <a:lvl1pPr>
              <a:defRPr sz="2850" b="1">
                <a:solidFill>
                  <a:srgbClr val="A83033"/>
                </a:solidFill>
                <a:latin typeface="Calibri"/>
                <a:ea typeface="Calibri"/>
                <a:cs typeface="Calibri"/>
              </a:defRPr>
            </a:lvl1pPr>
            <a:lvl2pPr>
              <a:defRPr sz="2850" b="1">
                <a:solidFill>
                  <a:srgbClr val="A83033"/>
                </a:solidFill>
                <a:latin typeface="Calibri"/>
                <a:ea typeface="Calibri"/>
                <a:cs typeface="Calibri"/>
              </a:defRPr>
            </a:lvl2pPr>
            <a:lvl3pPr>
              <a:defRPr sz="2850" b="1">
                <a:solidFill>
                  <a:srgbClr val="A83033"/>
                </a:solidFill>
                <a:latin typeface="Calibri"/>
                <a:ea typeface="Calibri"/>
                <a:cs typeface="Calibri"/>
              </a:defRPr>
            </a:lvl3pPr>
            <a:lvl4pPr>
              <a:defRPr sz="2850" b="1">
                <a:solidFill>
                  <a:srgbClr val="A83033"/>
                </a:solidFill>
                <a:latin typeface="Calibri"/>
                <a:ea typeface="Calibri"/>
                <a:cs typeface="Calibri"/>
              </a:defRPr>
            </a:lvl4pPr>
            <a:lvl5pPr>
              <a:defRPr sz="2850" b="1">
                <a:solidFill>
                  <a:srgbClr val="A83033"/>
                </a:solidFill>
                <a:latin typeface="Calibri"/>
                <a:ea typeface="Calibri"/>
                <a:cs typeface="Calibri"/>
              </a:defRPr>
            </a:lvl5pPr>
            <a:lvl6pPr>
              <a:defRPr sz="2850" b="1">
                <a:solidFill>
                  <a:srgbClr val="A83033"/>
                </a:solidFill>
                <a:latin typeface="Calibri"/>
                <a:ea typeface="Calibri"/>
                <a:cs typeface="Calibri"/>
              </a:defRPr>
            </a:lvl6pPr>
            <a:lvl7pPr>
              <a:defRPr sz="2850" b="1">
                <a:solidFill>
                  <a:srgbClr val="A83033"/>
                </a:solidFill>
                <a:latin typeface="Calibri"/>
                <a:ea typeface="Calibri"/>
                <a:cs typeface="Calibri"/>
              </a:defRPr>
            </a:lvl7pPr>
            <a:lvl8pPr>
              <a:defRPr sz="2850" b="1">
                <a:solidFill>
                  <a:srgbClr val="A83033"/>
                </a:solidFill>
                <a:latin typeface="Calibri"/>
                <a:ea typeface="Calibri"/>
                <a:cs typeface="Calibri"/>
              </a:defRPr>
            </a:lvl8pPr>
            <a:lvl9pPr>
              <a:defRPr sz="2850" b="1">
                <a:solidFill>
                  <a:srgbClr val="A83033"/>
                </a:solidFill>
                <a:latin typeface="Calibri"/>
                <a:ea typeface="Calibri"/>
                <a:cs typeface="Calibri"/>
              </a:defRPr>
            </a:lvl9pPr>
          </a:lstStyle>
          <a:p>
            <a:pPr>
              <a:defRPr sz="2850" b="1">
                <a:solidFill>
                  <a:srgbClr val="A83033"/>
                </a:solidFill>
                <a:latin typeface="Calibri"/>
                <a:ea typeface="Calibri"/>
                <a:cs typeface="Calibri"/>
              </a:defRPr>
            </a:pPr>
            <a:r>
              <a:rPr sz="2850" b="1">
                <a:solidFill>
                  <a:srgbClr val="A83033"/>
                </a:solidFill>
                <a:latin typeface="Calibri"/>
                <a:ea typeface="Calibri"/>
                <a:cs typeface="Calibri"/>
              </a:rPr>
              <a:t>Predict the next 30-second peak, then allocate enough capacity within the configured limit.</a:t>
            </a:r>
          </a:p>
        </p:txBody>
      </p:sp>
      <p:sp>
        <p:nvSpPr>
          <p:cNvPr id="112" name="Rectangle 111">
            <a:extLst>
              <a:ext uri="{FF2B5EF4-FFF2-40B4-BE49-F238E27FC236}">
                <a16:creationId xmlns:a16="http://schemas.microsoft.com/office/drawing/2014/main" id="{CDE0208F-4615-4CF2-ABB6-BE48CAABDCAB}"/>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02 / 24</a:t>
            </a:r>
          </a:p>
        </p:txBody>
      </p:sp>
    </p:spTree>
    <p:extLst>
      <p:ext uri="{BB962C8B-B14F-4D97-AF65-F5344CB8AC3E}">
        <p14:creationId xmlns:p14="http://schemas.microsoft.com/office/powerpoint/2010/main" val="151882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Google Shape;361;p26">
            <a:extLst>
              <a:ext uri="{FF2B5EF4-FFF2-40B4-BE49-F238E27FC236}">
                <a16:creationId xmlns:a16="http://schemas.microsoft.com/office/drawing/2014/main" id="{8463C9F1-FA0B-48E0-8ABD-651575122F4E}"/>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362" name="Google Shape;362;p26">
            <a:extLst>
              <a:ext uri="{FF2B5EF4-FFF2-40B4-BE49-F238E27FC236}">
                <a16:creationId xmlns:a16="http://schemas.microsoft.com/office/drawing/2014/main" id="{87E29372-A0C7-470F-8DE6-D55BAE5C0F5F}"/>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364" name="Google Shape;364;p26">
            <a:extLst>
              <a:ext uri="{FF2B5EF4-FFF2-40B4-BE49-F238E27FC236}">
                <a16:creationId xmlns:a16="http://schemas.microsoft.com/office/drawing/2014/main" id="{640D5052-7C58-4BA7-BABB-F9FE4E088571}"/>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365" name="Google Shape;365;p26">
            <a:extLst>
              <a:ext uri="{FF2B5EF4-FFF2-40B4-BE49-F238E27FC236}">
                <a16:creationId xmlns:a16="http://schemas.microsoft.com/office/drawing/2014/main" id="{6C7E484A-08C2-4350-9B51-5EA0BD638F41}"/>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366" name="Google Shape;366;p26">
            <a:extLst>
              <a:ext uri="{FF2B5EF4-FFF2-40B4-BE49-F238E27FC236}">
                <a16:creationId xmlns:a16="http://schemas.microsoft.com/office/drawing/2014/main" id="{1E626543-E02F-48A6-9F26-3130AFA28CD3}"/>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367" name="Google Shape;367;p26">
            <a:extLst>
              <a:ext uri="{FF2B5EF4-FFF2-40B4-BE49-F238E27FC236}">
                <a16:creationId xmlns:a16="http://schemas.microsoft.com/office/drawing/2014/main" id="{85DBA32C-0EF9-4EE0-8701-FD10CECD49F2}"/>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368" name="Google Shape;368;p26">
            <a:extLst>
              <a:ext uri="{FF2B5EF4-FFF2-40B4-BE49-F238E27FC236}">
                <a16:creationId xmlns:a16="http://schemas.microsoft.com/office/drawing/2014/main" id="{9F6B4327-5FEE-42FD-A35C-953BF203D08B}"/>
              </a:ext>
            </a:extLst>
          </p:cNvPr>
          <p:cNvSpPr>
            <a:spLocks noGrp="1"/>
          </p:cNvSpPr>
          <p:nvPr/>
        </p:nvSpPr>
        <p:spPr>
          <a:xfrm>
            <a:off x="2244013" y="933450"/>
            <a:ext cx="13977987" cy="800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4000"/>
              <a:buFont typeface="Arial"/>
              <a:buNone/>
            </a:pPr>
            <a:r>
              <a:rPr sz="4000" b="0" i="0" u="none" strike="noStrike" cap="none">
                <a:solidFill>
                  <a:srgbClr val="A83033"/>
                </a:solidFill>
                <a:latin typeface="Marcellus"/>
                <a:ea typeface="Marcellus"/>
                <a:cs typeface="Marcellus"/>
              </a:rPr>
              <a:t>The system runs on local Kubernetes</a:t>
            </a:r>
            <a:endParaRPr/>
          </a:p>
        </p:txBody>
      </p:sp>
      <p:sp>
        <p:nvSpPr>
          <p:cNvPr id="369" name="Google Shape;369;p26">
            <a:extLst>
              <a:ext uri="{FF2B5EF4-FFF2-40B4-BE49-F238E27FC236}">
                <a16:creationId xmlns:a16="http://schemas.microsoft.com/office/drawing/2014/main" id="{BA04FFDD-BE7E-4254-B920-F2805ADB438D}"/>
              </a:ext>
            </a:extLst>
          </p:cNvPr>
          <p:cNvSpPr>
            <a:spLocks noGrp="1"/>
          </p:cNvSpPr>
          <p:nvPr/>
        </p:nvSpPr>
        <p:spPr>
          <a:xfrm>
            <a:off x="2244013"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Load generator</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Real HTTP replay</a:t>
            </a:r>
            <a:endParaRPr/>
          </a:p>
        </p:txBody>
      </p:sp>
      <p:sp>
        <p:nvSpPr>
          <p:cNvPr id="370" name="Google Shape;370;p26">
            <a:extLst>
              <a:ext uri="{FF2B5EF4-FFF2-40B4-BE49-F238E27FC236}">
                <a16:creationId xmlns:a16="http://schemas.microsoft.com/office/drawing/2014/main" id="{BD6DF38F-DDD0-4159-AE52-80D854F8222D}"/>
              </a:ext>
            </a:extLst>
          </p:cNvPr>
          <p:cNvSpPr>
            <a:spLocks noGrp="1"/>
          </p:cNvSpPr>
          <p:nvPr/>
        </p:nvSpPr>
        <p:spPr>
          <a:xfrm>
            <a:off x="5438509"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1" name="Google Shape;371;p26">
            <a:extLst>
              <a:ext uri="{FF2B5EF4-FFF2-40B4-BE49-F238E27FC236}">
                <a16:creationId xmlns:a16="http://schemas.microsoft.com/office/drawing/2014/main" id="{C9EC6324-59D1-4AC2-85E0-1743C28AF0EC}"/>
              </a:ext>
            </a:extLst>
          </p:cNvPr>
          <p:cNvSpPr>
            <a:spLocks noGrp="1"/>
          </p:cNvSpPr>
          <p:nvPr/>
        </p:nvSpPr>
        <p:spPr>
          <a:xfrm>
            <a:off x="5863509"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Gateway</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Routes to ready pods</a:t>
            </a:r>
            <a:endParaRPr/>
          </a:p>
        </p:txBody>
      </p:sp>
      <p:sp>
        <p:nvSpPr>
          <p:cNvPr id="372" name="Google Shape;372;p26">
            <a:extLst>
              <a:ext uri="{FF2B5EF4-FFF2-40B4-BE49-F238E27FC236}">
                <a16:creationId xmlns:a16="http://schemas.microsoft.com/office/drawing/2014/main" id="{D02823E3-BD51-4B85-8E1A-84B695F3CB39}"/>
              </a:ext>
            </a:extLst>
          </p:cNvPr>
          <p:cNvSpPr>
            <a:spLocks noGrp="1"/>
          </p:cNvSpPr>
          <p:nvPr/>
        </p:nvSpPr>
        <p:spPr>
          <a:xfrm>
            <a:off x="9058006"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3" name="Google Shape;373;p26">
            <a:extLst>
              <a:ext uri="{FF2B5EF4-FFF2-40B4-BE49-F238E27FC236}">
                <a16:creationId xmlns:a16="http://schemas.microsoft.com/office/drawing/2014/main" id="{120FB271-E9B2-41EE-930C-E9579FEC0411}"/>
              </a:ext>
            </a:extLst>
          </p:cNvPr>
          <p:cNvSpPr>
            <a:spLocks noGrp="1"/>
          </p:cNvSpPr>
          <p:nvPr/>
        </p:nvSpPr>
        <p:spPr>
          <a:xfrm>
            <a:off x="9483006"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Workers</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CPU work and telemetry</a:t>
            </a:r>
            <a:endParaRPr/>
          </a:p>
        </p:txBody>
      </p:sp>
      <p:sp>
        <p:nvSpPr>
          <p:cNvPr id="374" name="Google Shape;374;p26">
            <a:extLst>
              <a:ext uri="{FF2B5EF4-FFF2-40B4-BE49-F238E27FC236}">
                <a16:creationId xmlns:a16="http://schemas.microsoft.com/office/drawing/2014/main" id="{D9F18150-9D6A-48AB-8767-717FD27F846F}"/>
              </a:ext>
            </a:extLst>
          </p:cNvPr>
          <p:cNvSpPr>
            <a:spLocks noGrp="1"/>
          </p:cNvSpPr>
          <p:nvPr/>
        </p:nvSpPr>
        <p:spPr>
          <a:xfrm>
            <a:off x="12677503"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5" name="Google Shape;375;p26">
            <a:extLst>
              <a:ext uri="{FF2B5EF4-FFF2-40B4-BE49-F238E27FC236}">
                <a16:creationId xmlns:a16="http://schemas.microsoft.com/office/drawing/2014/main" id="{C5C5158E-58EE-4077-BA7E-6499D68B9A77}"/>
              </a:ext>
            </a:extLst>
          </p:cNvPr>
          <p:cNvSpPr>
            <a:spLocks noGrp="1"/>
          </p:cNvSpPr>
          <p:nvPr/>
        </p:nvSpPr>
        <p:spPr>
          <a:xfrm>
            <a:off x="13102503"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ML controller</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Forecast and scale</a:t>
            </a:r>
            <a:endParaRPr/>
          </a:p>
        </p:txBody>
      </p:sp>
      <p:sp>
        <p:nvSpPr>
          <p:cNvPr id="376" name="Google Shape;376;p26">
            <a:extLst>
              <a:ext uri="{FF2B5EF4-FFF2-40B4-BE49-F238E27FC236}">
                <a16:creationId xmlns:a16="http://schemas.microsoft.com/office/drawing/2014/main" id="{702CCA57-CA4A-4FD3-9299-5F1C8C467245}"/>
              </a:ext>
            </a:extLst>
          </p:cNvPr>
          <p:cNvSpPr>
            <a:spLocks noGrp="1"/>
          </p:cNvSpPr>
          <p:nvPr/>
        </p:nvSpPr>
        <p:spPr>
          <a:xfrm>
            <a:off x="2244013" y="4900000"/>
            <a:ext cx="13977987" cy="3500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3449"/>
              <a:buFont typeface="Arial"/>
              <a:buNone/>
            </a:pPr>
            <a:r>
              <a:rPr sz="3449" b="1" i="0" u="none" strike="noStrike" cap="none">
                <a:solidFill>
                  <a:srgbClr val="A83033"/>
                </a:solidFill>
                <a:latin typeface="Calibri"/>
                <a:ea typeface="Calibri"/>
                <a:cs typeface="Calibri"/>
              </a:rPr>
              <a:t>Feedback every 10 seconds</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The controller reads actual demand, p95 latency and pod readiness.</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It changes the worker Deployment through the Kubernetes API.</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Docker Desktop hosts Minikube on a single laptop.</a:t>
            </a:r>
            <a:endParaRPr/>
          </a:p>
          <a:p>
            <a:pPr marL="0" marR="0" lvl="0" indent="0" algn="l">
              <a:lnSpc>
                <a:spcPct val="100000"/>
              </a:lnSpc>
              <a:spcBef>
                <a:spcPts val="1035"/>
              </a:spcBef>
              <a:spcAft>
                <a:spcPts val="0"/>
              </a:spcAft>
              <a:buClr>
                <a:srgbClr val="000000"/>
              </a:buClr>
              <a:buSzPts val="2760"/>
              <a:buFont typeface="Arial"/>
              <a:buNone/>
            </a:pPr>
            <a:r>
              <a:rPr sz="2760" b="0" i="1" u="none" strike="noStrike" cap="none">
                <a:solidFill>
                  <a:srgbClr val="595959"/>
                </a:solidFill>
                <a:latin typeface="Calibri"/>
                <a:ea typeface="Calibri"/>
                <a:cs typeface="Calibri"/>
              </a:rPr>
              <a:t>Application replicas share one node.</a:t>
            </a:r>
            <a:endParaRPr/>
          </a:p>
        </p:txBody>
      </p:sp>
      <p:sp>
        <p:nvSpPr>
          <p:cNvPr id="377" name="Rectangle 376">
            <a:extLst>
              <a:ext uri="{FF2B5EF4-FFF2-40B4-BE49-F238E27FC236}">
                <a16:creationId xmlns:a16="http://schemas.microsoft.com/office/drawing/2014/main" id="{D5EE61F8-EF74-464F-AAF1-233FA409CE3D}"/>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03 / 24</a:t>
            </a:r>
          </a:p>
        </p:txBody>
      </p:sp>
    </p:spTree>
    <p:extLst>
      <p:ext uri="{BB962C8B-B14F-4D97-AF65-F5344CB8AC3E}">
        <p14:creationId xmlns:p14="http://schemas.microsoft.com/office/powerpoint/2010/main" val="96565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257F4345-DE21-41B9-AF05-42318FD0582D}"/>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Forecasting uses only completed observations</a:t>
            </a:r>
          </a:p>
        </p:txBody>
      </p:sp>
      <p:graphicFrame>
        <p:nvGraphicFramePr>
          <p:cNvPr id="108" name="Table 107">
            <a:extLst>
              <a:ext uri="{FF2B5EF4-FFF2-40B4-BE49-F238E27FC236}">
                <a16:creationId xmlns:a16="http://schemas.microsoft.com/office/drawing/2014/main" id="{D66D60FE-CA86-48FF-8684-1F8D599A90C5}"/>
              </a:ext>
            </a:extLst>
          </p:cNvPr>
          <p:cNvGraphicFramePr/>
          <p:nvPr/>
        </p:nvGraphicFramePr>
        <p:xfrm>
          <a:off x="2238375" y="2190750"/>
          <a:ext cx="13982700" cy="4000500"/>
        </p:xfrm>
        <a:graphic>
          <a:graphicData uri="http://schemas.openxmlformats.org/drawingml/2006/table">
            <a:tbl>
              <a:tblPr/>
              <a:tblGrid>
                <a:gridCol w="4667250">
                  <a:extLst>
                    <a:ext uri="{9D8B030D-6E8A-4147-A177-3AD203B41FA5}">
                      <a16:colId xmlns:a16="http://schemas.microsoft.com/office/drawing/2014/main" val="20000"/>
                    </a:ext>
                  </a:extLst>
                </a:gridCol>
                <a:gridCol w="9315450">
                  <a:extLst>
                    <a:ext uri="{9D8B030D-6E8A-4147-A177-3AD203B41FA5}">
                      <a16:colId xmlns:a16="http://schemas.microsoft.com/office/drawing/2014/main" val="20001"/>
                    </a:ext>
                  </a:extLst>
                </a:gridCol>
              </a:tblGrid>
              <a:tr h="800100">
                <a:tc>
                  <a:txBody>
                    <a:bodyPr/>
                    <a:lstStyle/>
                    <a:p>
                      <a:r>
                        <a:rPr sz="2700" b="1">
                          <a:solidFill>
                            <a:srgbClr val="FFFFFF"/>
                          </a:solidFill>
                          <a:latin typeface="Calibri"/>
                          <a:ea typeface="Calibri"/>
                          <a:cs typeface="Calibri"/>
                        </a:rPr>
                        <a:t>Input or target</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Definition</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00100">
                <a:tc>
                  <a:txBody>
                    <a:bodyPr/>
                    <a:lstStyle/>
                    <a:p>
                      <a:r>
                        <a:rPr sz="2700" b="0">
                          <a:solidFill>
                            <a:srgbClr val="333333"/>
                          </a:solidFill>
                          <a:latin typeface="Calibri"/>
                          <a:ea typeface="Calibri"/>
                          <a:cs typeface="Calibri"/>
                        </a:rPr>
                        <a:t>Six demand lags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Actual sends per 10-second window</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00100">
                <a:tc>
                  <a:txBody>
                    <a:bodyPr/>
                    <a:lstStyle/>
                    <a:p>
                      <a:r>
                        <a:rPr sz="2700" b="0">
                          <a:solidFill>
                            <a:srgbClr val="333333"/>
                          </a:solidFill>
                          <a:latin typeface="Calibri"/>
                          <a:ea typeface="Calibri"/>
                          <a:cs typeface="Calibri"/>
                        </a:rPr>
                        <a:t>Four derived features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Mean, standard deviation, maximum and slope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00100">
                <a:tc>
                  <a:txBody>
                    <a:bodyPr/>
                    <a:lstStyle/>
                    <a:p>
                      <a:r>
                        <a:rPr sz="2700" b="0">
                          <a:solidFill>
                            <a:srgbClr val="333333"/>
                          </a:solidFill>
                          <a:latin typeface="Calibri"/>
                          <a:ea typeface="Calibri"/>
                          <a:cs typeface="Calibri"/>
                        </a:rPr>
                        <a:t>Prediction target</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Peak RPS in the next three windows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800100">
                <a:tc>
                  <a:txBody>
                    <a:bodyPr/>
                    <a:lstStyle/>
                    <a:p>
                      <a:r>
                        <a:rPr sz="2700" b="0">
                          <a:solidFill>
                            <a:srgbClr val="333333"/>
                          </a:solidFill>
                          <a:latin typeface="Calibri"/>
                          <a:ea typeface="Calibri"/>
                          <a:cs typeface="Calibri"/>
                        </a:rPr>
                        <a:t>Other controller signals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p95 latency, errors, ready and pending pods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9" name="Rectangle 108">
            <a:extLst>
              <a:ext uri="{FF2B5EF4-FFF2-40B4-BE49-F238E27FC236}">
                <a16:creationId xmlns:a16="http://schemas.microsoft.com/office/drawing/2014/main" id="{DE260DD8-8F5D-44B0-A28C-F5A1B1BDE2F9}"/>
              </a:ext>
            </a:extLst>
          </p:cNvPr>
          <p:cNvSpPr>
            <a:spLocks noGrp="1"/>
          </p:cNvSpPr>
          <p:nvPr/>
        </p:nvSpPr>
        <p:spPr>
          <a:xfrm>
            <a:off x="2238375" y="6810375"/>
            <a:ext cx="13982700" cy="1190625"/>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defRPr sz="3000" b="1">
                <a:solidFill>
                  <a:srgbClr val="A83033"/>
                </a:solidFill>
                <a:latin typeface="Calibri"/>
                <a:ea typeface="Calibri"/>
                <a:cs typeface="Calibri"/>
              </a:defRPr>
            </a:lvl1pPr>
            <a:lvl2pPr>
              <a:defRPr sz="3000" b="1">
                <a:solidFill>
                  <a:srgbClr val="A83033"/>
                </a:solidFill>
                <a:latin typeface="Calibri"/>
                <a:ea typeface="Calibri"/>
                <a:cs typeface="Calibri"/>
              </a:defRPr>
            </a:lvl2pPr>
            <a:lvl3pPr>
              <a:defRPr sz="3000" b="1">
                <a:solidFill>
                  <a:srgbClr val="A83033"/>
                </a:solidFill>
                <a:latin typeface="Calibri"/>
                <a:ea typeface="Calibri"/>
                <a:cs typeface="Calibri"/>
              </a:defRPr>
            </a:lvl3pPr>
            <a:lvl4pPr>
              <a:defRPr sz="3000" b="1">
                <a:solidFill>
                  <a:srgbClr val="A83033"/>
                </a:solidFill>
                <a:latin typeface="Calibri"/>
                <a:ea typeface="Calibri"/>
                <a:cs typeface="Calibri"/>
              </a:defRPr>
            </a:lvl4pPr>
            <a:lvl5pPr>
              <a:defRPr sz="3000" b="1">
                <a:solidFill>
                  <a:srgbClr val="A83033"/>
                </a:solidFill>
                <a:latin typeface="Calibri"/>
                <a:ea typeface="Calibri"/>
                <a:cs typeface="Calibri"/>
              </a:defRPr>
            </a:lvl5pPr>
            <a:lvl6pPr>
              <a:defRPr sz="3000" b="1">
                <a:solidFill>
                  <a:srgbClr val="A83033"/>
                </a:solidFill>
                <a:latin typeface="Calibri"/>
                <a:ea typeface="Calibri"/>
                <a:cs typeface="Calibri"/>
              </a:defRPr>
            </a:lvl6pPr>
            <a:lvl7pPr>
              <a:defRPr sz="3000" b="1">
                <a:solidFill>
                  <a:srgbClr val="A83033"/>
                </a:solidFill>
                <a:latin typeface="Calibri"/>
                <a:ea typeface="Calibri"/>
                <a:cs typeface="Calibri"/>
              </a:defRPr>
            </a:lvl7pPr>
            <a:lvl8pPr>
              <a:defRPr sz="3000" b="1">
                <a:solidFill>
                  <a:srgbClr val="A83033"/>
                </a:solidFill>
                <a:latin typeface="Calibri"/>
                <a:ea typeface="Calibri"/>
                <a:cs typeface="Calibri"/>
              </a:defRPr>
            </a:lvl8pPr>
            <a:lvl9pPr>
              <a:defRPr sz="3000" b="1">
                <a:solidFill>
                  <a:srgbClr val="A83033"/>
                </a:solidFill>
                <a:latin typeface="Calibri"/>
                <a:ea typeface="Calibri"/>
                <a:cs typeface="Calibri"/>
              </a:defRPr>
            </a:lvl9pPr>
          </a:lstStyle>
          <a:p>
            <a:pPr>
              <a:defRPr sz="3000" b="1">
                <a:solidFill>
                  <a:srgbClr val="A83033"/>
                </a:solidFill>
                <a:latin typeface="Calibri"/>
                <a:ea typeface="Calibri"/>
                <a:cs typeface="Calibri"/>
              </a:defRPr>
            </a:pPr>
            <a:r>
              <a:rPr sz="3000" b="1">
                <a:solidFill>
                  <a:srgbClr val="A83033"/>
                </a:solidFill>
                <a:latin typeface="Calibri"/>
                <a:ea typeface="Calibri"/>
                <a:cs typeface="Calibri"/>
              </a:rPr>
              <a:t>60 seconds of past demand produces a 30-second forecast. The future arrival schedule never enters the model.</a:t>
            </a:r>
          </a:p>
        </p:txBody>
      </p:sp>
      <p:sp>
        <p:nvSpPr>
          <p:cNvPr id="110" name="Rectangle 109">
            <a:extLst>
              <a:ext uri="{FF2B5EF4-FFF2-40B4-BE49-F238E27FC236}">
                <a16:creationId xmlns:a16="http://schemas.microsoft.com/office/drawing/2014/main" id="{56F72855-356C-46CC-9E8B-678B345F4AC4}"/>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04 / 24</a:t>
            </a:r>
          </a:p>
        </p:txBody>
      </p:sp>
    </p:spTree>
    <p:extLst>
      <p:ext uri="{BB962C8B-B14F-4D97-AF65-F5344CB8AC3E}">
        <p14:creationId xmlns:p14="http://schemas.microsoft.com/office/powerpoint/2010/main" val="151882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D53369DA-2D9F-403C-ACCA-54ED6A296E8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Ridge training produces a reusable model</a:t>
            </a:r>
          </a:p>
        </p:txBody>
      </p:sp>
      <p:sp>
        <p:nvSpPr>
          <p:cNvPr id="108" name="Rectangle 107">
            <a:extLst>
              <a:ext uri="{FF2B5EF4-FFF2-40B4-BE49-F238E27FC236}">
                <a16:creationId xmlns:a16="http://schemas.microsoft.com/office/drawing/2014/main" id="{6E1E716A-8EF6-44F0-B094-F96CB24E733A}"/>
              </a:ext>
            </a:extLst>
          </p:cNvPr>
          <p:cNvSpPr>
            <a:spLocks noGrp="1"/>
          </p:cNvSpPr>
          <p:nvPr/>
        </p:nvSpPr>
        <p:spPr>
          <a:xfrm>
            <a:off x="2238375" y="2143125"/>
            <a:ext cx="7620000" cy="5048250"/>
          </a:xfrm>
          <a:prstGeom prst="rect">
            <a:avLst/>
          </a:prstGeom>
          <a:noFill/>
          <a:ln w="0">
            <a:noFill/>
          </a:ln>
        </p:spPr>
        <p:txBody>
          <a:bodyPr lIns="0" tIns="0" rIns="0" bIns="0"/>
          <a:lstStyle>
            <a:defPPr>
              <a:defRPr sz="3000" b="0">
                <a:solidFill>
                  <a:srgbClr val="333333"/>
                </a:solidFill>
                <a:latin typeface="Calibri"/>
                <a:ea typeface="Calibri"/>
                <a:cs typeface="Calibri"/>
              </a:defRPr>
            </a:defPPr>
            <a:lvl1pPr>
              <a:defRPr sz="3000" b="0">
                <a:solidFill>
                  <a:srgbClr val="333333"/>
                </a:solidFill>
                <a:latin typeface="Calibri"/>
                <a:ea typeface="Calibri"/>
                <a:cs typeface="Calibri"/>
              </a:defRPr>
            </a:lvl1pPr>
            <a:lvl2pPr>
              <a:defRPr sz="3000" b="0">
                <a:solidFill>
                  <a:srgbClr val="333333"/>
                </a:solidFill>
                <a:latin typeface="Calibri"/>
                <a:ea typeface="Calibri"/>
                <a:cs typeface="Calibri"/>
              </a:defRPr>
            </a:lvl2pPr>
            <a:lvl3pPr>
              <a:defRPr sz="3000" b="0">
                <a:solidFill>
                  <a:srgbClr val="333333"/>
                </a:solidFill>
                <a:latin typeface="Calibri"/>
                <a:ea typeface="Calibri"/>
                <a:cs typeface="Calibri"/>
              </a:defRPr>
            </a:lvl3pPr>
            <a:lvl4pPr>
              <a:defRPr sz="3000" b="0">
                <a:solidFill>
                  <a:srgbClr val="333333"/>
                </a:solidFill>
                <a:latin typeface="Calibri"/>
                <a:ea typeface="Calibri"/>
                <a:cs typeface="Calibri"/>
              </a:defRPr>
            </a:lvl4pPr>
            <a:lvl5pPr>
              <a:defRPr sz="3000" b="0">
                <a:solidFill>
                  <a:srgbClr val="333333"/>
                </a:solidFill>
                <a:latin typeface="Calibri"/>
                <a:ea typeface="Calibri"/>
                <a:cs typeface="Calibri"/>
              </a:defRPr>
            </a:lvl5pPr>
            <a:lvl6pPr>
              <a:defRPr sz="3000" b="0">
                <a:solidFill>
                  <a:srgbClr val="333333"/>
                </a:solidFill>
                <a:latin typeface="Calibri"/>
                <a:ea typeface="Calibri"/>
                <a:cs typeface="Calibri"/>
              </a:defRPr>
            </a:lvl6pPr>
            <a:lvl7pPr>
              <a:defRPr sz="3000" b="0">
                <a:solidFill>
                  <a:srgbClr val="333333"/>
                </a:solidFill>
                <a:latin typeface="Calibri"/>
                <a:ea typeface="Calibri"/>
                <a:cs typeface="Calibri"/>
              </a:defRPr>
            </a:lvl7pPr>
            <a:lvl8pPr>
              <a:defRPr sz="3000" b="0">
                <a:solidFill>
                  <a:srgbClr val="333333"/>
                </a:solidFill>
                <a:latin typeface="Calibri"/>
                <a:ea typeface="Calibri"/>
                <a:cs typeface="Calibri"/>
              </a:defRPr>
            </a:lvl8pPr>
            <a:lvl9pPr>
              <a:defRPr sz="3000" b="0">
                <a:solidFill>
                  <a:srgbClr val="333333"/>
                </a:solidFill>
                <a:latin typeface="Calibri"/>
                <a:ea typeface="Calibri"/>
                <a:cs typeface="Calibri"/>
              </a:defRPr>
            </a:lvl9pPr>
          </a:lstStyle>
          <a:p>
            <a:pPr>
              <a:defRPr sz="3000" b="0">
                <a:solidFill>
                  <a:srgbClr val="333333"/>
                </a:solidFill>
                <a:latin typeface="Calibri"/>
                <a:ea typeface="Calibri"/>
                <a:cs typeface="Calibri"/>
              </a:defRPr>
            </a:pPr>
            <a:r>
              <a:rPr sz="3000" b="0">
                <a:solidFill>
                  <a:srgbClr val="333333"/>
                </a:solidFill>
                <a:latin typeface="Calibri"/>
                <a:ea typeface="Calibri"/>
                <a:cs typeface="Calibri"/>
              </a:rPr>
              <a:t>Standardized Ridge regression</a:t>
            </a:r>
          </a:p>
          <a:p>
            <a:pPr>
              <a:defRPr sz="3000" b="0">
                <a:solidFill>
                  <a:srgbClr val="333333"/>
                </a:solidFill>
                <a:latin typeface="Calibri"/>
                <a:ea typeface="Calibri"/>
                <a:cs typeface="Calibri"/>
              </a:defRPr>
            </a:pPr>
            <a:r>
              <a:rPr sz="3000" b="0">
                <a:solidFill>
                  <a:srgbClr val="333333"/>
                </a:solidFill>
                <a:latin typeface="Calibri"/>
                <a:ea typeface="Calibri"/>
                <a:cs typeface="Calibri"/>
              </a:rPr>
              <a:t>Fast inference, inspectable coefficients</a:t>
            </a:r>
          </a:p>
          <a:p>
            <a:endParaRPr sz="3000" b="0">
              <a:solidFill>
                <a:srgbClr val="333333"/>
              </a:solidFill>
              <a:latin typeface="Calibri"/>
              <a:ea typeface="Calibri"/>
              <a:cs typeface="Calibri"/>
            </a:endParaRPr>
          </a:p>
          <a:p>
            <a:pPr>
              <a:defRPr sz="3000" b="0">
                <a:solidFill>
                  <a:srgbClr val="333333"/>
                </a:solidFill>
                <a:latin typeface="Calibri"/>
                <a:ea typeface="Calibri"/>
                <a:cs typeface="Calibri"/>
              </a:defRPr>
            </a:pPr>
            <a:r>
              <a:rPr sz="3000" b="0">
                <a:solidFill>
                  <a:srgbClr val="333333"/>
                </a:solidFill>
                <a:latin typeface="Calibri"/>
                <a:ea typeface="Calibri"/>
                <a:cs typeface="Calibri"/>
              </a:rPr>
              <a:t>8,544 synthetic training rows</a:t>
            </a:r>
          </a:p>
          <a:p>
            <a:pPr>
              <a:defRPr sz="3000" b="0">
                <a:solidFill>
                  <a:srgbClr val="333333"/>
                </a:solidFill>
                <a:latin typeface="Calibri"/>
                <a:ea typeface="Calibri"/>
                <a:cs typeface="Calibri"/>
              </a:defRPr>
            </a:pPr>
            <a:r>
              <a:rPr sz="3000" b="0">
                <a:solidFill>
                  <a:srgbClr val="333333"/>
                </a:solidFill>
                <a:latin typeface="Calibri"/>
                <a:ea typeface="Calibri"/>
                <a:cs typeface="Calibri"/>
              </a:rPr>
              <a:t>4,272 validation rows</a:t>
            </a:r>
          </a:p>
          <a:p>
            <a:endParaRPr sz="3000" b="0">
              <a:solidFill>
                <a:srgbClr val="333333"/>
              </a:solidFill>
              <a:latin typeface="Calibri"/>
              <a:ea typeface="Calibri"/>
              <a:cs typeface="Calibri"/>
            </a:endParaRPr>
          </a:p>
          <a:p>
            <a:pPr>
              <a:defRPr sz="3000" b="0">
                <a:solidFill>
                  <a:srgbClr val="333333"/>
                </a:solidFill>
                <a:latin typeface="Calibri"/>
                <a:ea typeface="Calibri"/>
                <a:cs typeface="Calibri"/>
              </a:defRPr>
            </a:pPr>
            <a:r>
              <a:rPr sz="3000" b="0">
                <a:solidFill>
                  <a:srgbClr val="333333"/>
                </a:solidFill>
                <a:latin typeface="Calibri"/>
                <a:ea typeface="Calibri"/>
                <a:cs typeface="Calibri"/>
              </a:rPr>
              <a:t>Validation selects alpha = 10</a:t>
            </a:r>
          </a:p>
          <a:p>
            <a:pPr>
              <a:defRPr sz="3000" b="0">
                <a:solidFill>
                  <a:srgbClr val="333333"/>
                </a:solidFill>
                <a:latin typeface="Calibri"/>
                <a:ea typeface="Calibri"/>
                <a:cs typeface="Calibri"/>
              </a:defRPr>
            </a:pPr>
            <a:r>
              <a:rPr sz="3000" b="0">
                <a:solidFill>
                  <a:srgbClr val="333333"/>
                </a:solidFill>
                <a:latin typeface="Calibri"/>
                <a:ea typeface="Calibri"/>
                <a:cs typeface="Calibri"/>
              </a:rPr>
              <a:t>Saved coefficients drive online inference</a:t>
            </a:r>
          </a:p>
        </p:txBody>
      </p:sp>
      <p:graphicFrame>
        <p:nvGraphicFramePr>
          <p:cNvPr id="109" name="Table 108">
            <a:extLst>
              <a:ext uri="{FF2B5EF4-FFF2-40B4-BE49-F238E27FC236}">
                <a16:creationId xmlns:a16="http://schemas.microsoft.com/office/drawing/2014/main" id="{DEEDA178-06E0-41B2-B2E3-8973CA34D823}"/>
              </a:ext>
            </a:extLst>
          </p:cNvPr>
          <p:cNvGraphicFramePr/>
          <p:nvPr/>
        </p:nvGraphicFramePr>
        <p:xfrm>
          <a:off x="10477500" y="2476500"/>
          <a:ext cx="5743575" cy="2857500"/>
        </p:xfrm>
        <a:graphic>
          <a:graphicData uri="http://schemas.openxmlformats.org/drawingml/2006/table">
            <a:tbl>
              <a:tblPr/>
              <a:tblGrid>
                <a:gridCol w="3667125">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tblGrid>
              <a:tr h="952500">
                <a:tc>
                  <a:txBody>
                    <a:bodyPr/>
                    <a:lstStyle/>
                    <a:p>
                      <a:r>
                        <a:rPr sz="2700" b="1">
                          <a:solidFill>
                            <a:srgbClr val="FFFFFF"/>
                          </a:solidFill>
                          <a:latin typeface="Calibri"/>
                          <a:ea typeface="Calibri"/>
                          <a:cs typeface="Calibri"/>
                        </a:rPr>
                        <a:t>Synthetic holdout</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MAE,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952500">
                <a:tc>
                  <a:txBody>
                    <a:bodyPr/>
                    <a:lstStyle/>
                    <a:p>
                      <a:r>
                        <a:rPr sz="2700" b="0">
                          <a:solidFill>
                            <a:srgbClr val="333333"/>
                          </a:solidFill>
                          <a:latin typeface="Calibri"/>
                          <a:ea typeface="Calibri"/>
                          <a:cs typeface="Calibri"/>
                        </a:rPr>
                        <a:t>Ridge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1.67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952500">
                <a:tc>
                  <a:txBody>
                    <a:bodyPr/>
                    <a:lstStyle/>
                    <a:p>
                      <a:r>
                        <a:rPr sz="2700" b="0">
                          <a:solidFill>
                            <a:srgbClr val="333333"/>
                          </a:solidFill>
                          <a:latin typeface="Calibri"/>
                          <a:ea typeface="Calibri"/>
                          <a:cs typeface="Calibri"/>
                        </a:rPr>
                        <a:t>Persistence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2.61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10" name="Rectangle 109">
            <a:extLst>
              <a:ext uri="{FF2B5EF4-FFF2-40B4-BE49-F238E27FC236}">
                <a16:creationId xmlns:a16="http://schemas.microsoft.com/office/drawing/2014/main" id="{C5459A05-5646-4A8D-A3C9-2F4A6396D12E}"/>
              </a:ext>
            </a:extLst>
          </p:cNvPr>
          <p:cNvSpPr>
            <a:spLocks noGrp="1"/>
          </p:cNvSpPr>
          <p:nvPr/>
        </p:nvSpPr>
        <p:spPr>
          <a:xfrm>
            <a:off x="10477500" y="5762625"/>
            <a:ext cx="5743575" cy="1571625"/>
          </a:xfrm>
          <a:prstGeom prst="rect">
            <a:avLst/>
          </a:prstGeom>
          <a:noFill/>
          <a:ln w="0">
            <a:noFill/>
          </a:ln>
        </p:spPr>
        <p:txBody>
          <a:bodyPr lIns="0" tIns="0" rIns="0" bIns="0"/>
          <a:lstStyle>
            <a:defPPr>
              <a:defRPr sz="2550" b="0">
                <a:solidFill>
                  <a:srgbClr val="A83033"/>
                </a:solidFill>
                <a:latin typeface="Calibri"/>
                <a:ea typeface="Calibri"/>
                <a:cs typeface="Calibri"/>
              </a:defRPr>
            </a:defPPr>
            <a:lvl1pPr>
              <a:defRPr sz="2550" b="0">
                <a:solidFill>
                  <a:srgbClr val="A83033"/>
                </a:solidFill>
                <a:latin typeface="Calibri"/>
                <a:ea typeface="Calibri"/>
                <a:cs typeface="Calibri"/>
              </a:defRPr>
            </a:lvl1pPr>
            <a:lvl2pPr>
              <a:defRPr sz="2550" b="0">
                <a:solidFill>
                  <a:srgbClr val="A83033"/>
                </a:solidFill>
                <a:latin typeface="Calibri"/>
                <a:ea typeface="Calibri"/>
                <a:cs typeface="Calibri"/>
              </a:defRPr>
            </a:lvl2pPr>
            <a:lvl3pPr>
              <a:defRPr sz="2550" b="0">
                <a:solidFill>
                  <a:srgbClr val="A83033"/>
                </a:solidFill>
                <a:latin typeface="Calibri"/>
                <a:ea typeface="Calibri"/>
                <a:cs typeface="Calibri"/>
              </a:defRPr>
            </a:lvl3pPr>
            <a:lvl4pPr>
              <a:defRPr sz="2550" b="0">
                <a:solidFill>
                  <a:srgbClr val="A83033"/>
                </a:solidFill>
                <a:latin typeface="Calibri"/>
                <a:ea typeface="Calibri"/>
                <a:cs typeface="Calibri"/>
              </a:defRPr>
            </a:lvl4pPr>
            <a:lvl5pPr>
              <a:defRPr sz="2550" b="0">
                <a:solidFill>
                  <a:srgbClr val="A83033"/>
                </a:solidFill>
                <a:latin typeface="Calibri"/>
                <a:ea typeface="Calibri"/>
                <a:cs typeface="Calibri"/>
              </a:defRPr>
            </a:lvl5pPr>
            <a:lvl6pPr>
              <a:defRPr sz="2550" b="0">
                <a:solidFill>
                  <a:srgbClr val="A83033"/>
                </a:solidFill>
                <a:latin typeface="Calibri"/>
                <a:ea typeface="Calibri"/>
                <a:cs typeface="Calibri"/>
              </a:defRPr>
            </a:lvl6pPr>
            <a:lvl7pPr>
              <a:defRPr sz="2550" b="0">
                <a:solidFill>
                  <a:srgbClr val="A83033"/>
                </a:solidFill>
                <a:latin typeface="Calibri"/>
                <a:ea typeface="Calibri"/>
                <a:cs typeface="Calibri"/>
              </a:defRPr>
            </a:lvl7pPr>
            <a:lvl8pPr>
              <a:defRPr sz="2550" b="0">
                <a:solidFill>
                  <a:srgbClr val="A83033"/>
                </a:solidFill>
                <a:latin typeface="Calibri"/>
                <a:ea typeface="Calibri"/>
                <a:cs typeface="Calibri"/>
              </a:defRPr>
            </a:lvl8pPr>
            <a:lvl9pPr>
              <a:defRPr sz="2550" b="0">
                <a:solidFill>
                  <a:srgbClr val="A83033"/>
                </a:solidFill>
                <a:latin typeface="Calibri"/>
                <a:ea typeface="Calibri"/>
                <a:cs typeface="Calibri"/>
              </a:defRPr>
            </a:lvl9pPr>
          </a:lstStyle>
          <a:p>
            <a:pPr>
              <a:defRPr sz="2550" b="0">
                <a:solidFill>
                  <a:srgbClr val="A83033"/>
                </a:solidFill>
                <a:latin typeface="Calibri"/>
                <a:ea typeface="Calibri"/>
                <a:cs typeface="Calibri"/>
              </a:defRPr>
            </a:pPr>
            <a:r>
              <a:rPr sz="2550" b="0">
                <a:solidFill>
                  <a:srgbClr val="A83033"/>
                </a:solidFill>
                <a:latin typeface="Calibri"/>
                <a:ea typeface="Calibri"/>
                <a:cs typeface="Calibri"/>
              </a:rPr>
              <a:t>Independent test seed 99. This is a model-only synthetic holdout.</a:t>
            </a:r>
          </a:p>
        </p:txBody>
      </p:sp>
      <p:sp>
        <p:nvSpPr>
          <p:cNvPr id="111" name="Rectangle 110">
            <a:extLst>
              <a:ext uri="{FF2B5EF4-FFF2-40B4-BE49-F238E27FC236}">
                <a16:creationId xmlns:a16="http://schemas.microsoft.com/office/drawing/2014/main" id="{2E344F2F-E9B2-4775-BFDE-F0304269768B}"/>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05 / 24</a:t>
            </a:r>
          </a:p>
        </p:txBody>
      </p:sp>
    </p:spTree>
    <p:extLst>
      <p:ext uri="{BB962C8B-B14F-4D97-AF65-F5344CB8AC3E}">
        <p14:creationId xmlns:p14="http://schemas.microsoft.com/office/powerpoint/2010/main" val="151882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08B7B73E-9D2F-4C91-9D44-61C89A52EFD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Calibration sets the safe worker capacity</a:t>
            </a:r>
          </a:p>
        </p:txBody>
      </p:sp>
      <p:graphicFrame>
        <p:nvGraphicFramePr>
          <p:cNvPr id="108" name="Table 107">
            <a:extLst>
              <a:ext uri="{FF2B5EF4-FFF2-40B4-BE49-F238E27FC236}">
                <a16:creationId xmlns:a16="http://schemas.microsoft.com/office/drawing/2014/main" id="{DC90C646-8076-4B6B-B21B-42C6D6C3D884}"/>
              </a:ext>
            </a:extLst>
          </p:cNvPr>
          <p:cNvGraphicFramePr/>
          <p:nvPr/>
        </p:nvGraphicFramePr>
        <p:xfrm>
          <a:off x="2238375" y="2190750"/>
          <a:ext cx="13982700" cy="3524252"/>
        </p:xfrm>
        <a:graphic>
          <a:graphicData uri="http://schemas.openxmlformats.org/drawingml/2006/table">
            <a:tbl>
              <a:tblPr/>
              <a:tblGrid>
                <a:gridCol w="257175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gridCol w="3790950">
                  <a:extLst>
                    <a:ext uri="{9D8B030D-6E8A-4147-A177-3AD203B41FA5}">
                      <a16:colId xmlns:a16="http://schemas.microsoft.com/office/drawing/2014/main" val="20002"/>
                    </a:ext>
                  </a:extLst>
                </a:gridCol>
              </a:tblGrid>
              <a:tr h="881063">
                <a:tc>
                  <a:txBody>
                    <a:bodyPr/>
                    <a:lstStyle/>
                    <a:p>
                      <a:r>
                        <a:rPr sz="2550" b="1">
                          <a:solidFill>
                            <a:srgbClr val="FFFFFF"/>
                          </a:solidFill>
                          <a:latin typeface="Calibri"/>
                          <a:ea typeface="Calibri"/>
                          <a:cs typeface="Calibri"/>
                        </a:rPr>
                        <a:t>One worker</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Observed behaviour</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Decision</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81063">
                <a:tc>
                  <a:txBody>
                    <a:bodyPr/>
                    <a:lstStyle/>
                    <a:p>
                      <a:r>
                        <a:rPr sz="2550" b="0">
                          <a:solidFill>
                            <a:srgbClr val="333333"/>
                          </a:solidFill>
                          <a:latin typeface="Calibri"/>
                          <a:ea typeface="Calibri"/>
                          <a:cs typeface="Calibri"/>
                        </a:rPr>
                        <a:t>18 RPS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Repeated checks pass the target</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Capacity reference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81063">
                <a:tc>
                  <a:txBody>
                    <a:bodyPr/>
                    <a:lstStyle/>
                    <a:p>
                      <a:r>
                        <a:rPr sz="2550" b="0">
                          <a:solidFill>
                            <a:srgbClr val="333333"/>
                          </a:solidFill>
                          <a:latin typeface="Calibri"/>
                          <a:ea typeface="Calibri"/>
                          <a:cs typeface="Calibri"/>
                        </a:rPr>
                        <a:t>24 RPS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Near the boundary, some windows fail</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Avoid as safe rate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81063">
                <a:tc>
                  <a:txBody>
                    <a:bodyPr/>
                    <a:lstStyle/>
                    <a:p>
                      <a:r>
                        <a:rPr sz="2550" b="0">
                          <a:solidFill>
                            <a:srgbClr val="333333"/>
                          </a:solidFill>
                          <a:latin typeface="Calibri"/>
                          <a:ea typeface="Calibri"/>
                          <a:cs typeface="Calibri"/>
                        </a:rPr>
                        <a:t>30 RPS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p95 about 1,502 ms, 2.63% failures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Overloaded</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09" name="Rectangle 108">
            <a:extLst>
              <a:ext uri="{FF2B5EF4-FFF2-40B4-BE49-F238E27FC236}">
                <a16:creationId xmlns:a16="http://schemas.microsoft.com/office/drawing/2014/main" id="{14A943D1-212C-4A35-B335-C9BDE3E0FA5C}"/>
              </a:ext>
            </a:extLst>
          </p:cNvPr>
          <p:cNvSpPr>
            <a:spLocks noGrp="1"/>
          </p:cNvSpPr>
          <p:nvPr/>
        </p:nvSpPr>
        <p:spPr>
          <a:xfrm>
            <a:off x="2238375" y="6191250"/>
            <a:ext cx="13982700" cy="714375"/>
          </a:xfrm>
          <a:prstGeom prst="rect">
            <a:avLst/>
          </a:prstGeom>
          <a:noFill/>
          <a:ln w="0">
            <a:noFill/>
          </a:ln>
        </p:spPr>
        <p:txBody>
          <a:bodyPr lIns="0" tIns="0" rIns="0" bIns="0"/>
          <a:lstStyle>
            <a:defPPr>
              <a:defRPr sz="3525" b="1">
                <a:solidFill>
                  <a:srgbClr val="A83033"/>
                </a:solidFill>
                <a:latin typeface="Calibri"/>
                <a:ea typeface="Calibri"/>
                <a:cs typeface="Calibri"/>
              </a:defRPr>
            </a:defPPr>
            <a:lvl1pPr>
              <a:defRPr sz="3525" b="1">
                <a:solidFill>
                  <a:srgbClr val="A83033"/>
                </a:solidFill>
                <a:latin typeface="Calibri"/>
                <a:ea typeface="Calibri"/>
                <a:cs typeface="Calibri"/>
              </a:defRPr>
            </a:lvl1pPr>
            <a:lvl2pPr>
              <a:defRPr sz="3525" b="1">
                <a:solidFill>
                  <a:srgbClr val="A83033"/>
                </a:solidFill>
                <a:latin typeface="Calibri"/>
                <a:ea typeface="Calibri"/>
                <a:cs typeface="Calibri"/>
              </a:defRPr>
            </a:lvl2pPr>
            <a:lvl3pPr>
              <a:defRPr sz="3525" b="1">
                <a:solidFill>
                  <a:srgbClr val="A83033"/>
                </a:solidFill>
                <a:latin typeface="Calibri"/>
                <a:ea typeface="Calibri"/>
                <a:cs typeface="Calibri"/>
              </a:defRPr>
            </a:lvl3pPr>
            <a:lvl4pPr>
              <a:defRPr sz="3525" b="1">
                <a:solidFill>
                  <a:srgbClr val="A83033"/>
                </a:solidFill>
                <a:latin typeface="Calibri"/>
                <a:ea typeface="Calibri"/>
                <a:cs typeface="Calibri"/>
              </a:defRPr>
            </a:lvl4pPr>
            <a:lvl5pPr>
              <a:defRPr sz="3525" b="1">
                <a:solidFill>
                  <a:srgbClr val="A83033"/>
                </a:solidFill>
                <a:latin typeface="Calibri"/>
                <a:ea typeface="Calibri"/>
                <a:cs typeface="Calibri"/>
              </a:defRPr>
            </a:lvl5pPr>
            <a:lvl6pPr>
              <a:defRPr sz="3525" b="1">
                <a:solidFill>
                  <a:srgbClr val="A83033"/>
                </a:solidFill>
                <a:latin typeface="Calibri"/>
                <a:ea typeface="Calibri"/>
                <a:cs typeface="Calibri"/>
              </a:defRPr>
            </a:lvl6pPr>
            <a:lvl7pPr>
              <a:defRPr sz="3525" b="1">
                <a:solidFill>
                  <a:srgbClr val="A83033"/>
                </a:solidFill>
                <a:latin typeface="Calibri"/>
                <a:ea typeface="Calibri"/>
                <a:cs typeface="Calibri"/>
              </a:defRPr>
            </a:lvl7pPr>
            <a:lvl8pPr>
              <a:defRPr sz="3525" b="1">
                <a:solidFill>
                  <a:srgbClr val="A83033"/>
                </a:solidFill>
                <a:latin typeface="Calibri"/>
                <a:ea typeface="Calibri"/>
                <a:cs typeface="Calibri"/>
              </a:defRPr>
            </a:lvl8pPr>
            <a:lvl9pPr>
              <a:defRPr sz="3525" b="1">
                <a:solidFill>
                  <a:srgbClr val="A83033"/>
                </a:solidFill>
                <a:latin typeface="Calibri"/>
                <a:ea typeface="Calibri"/>
                <a:cs typeface="Calibri"/>
              </a:defRPr>
            </a:lvl9pPr>
          </a:lstStyle>
          <a:p>
            <a:pPr>
              <a:defRPr sz="3525" b="1">
                <a:solidFill>
                  <a:srgbClr val="A83033"/>
                </a:solidFill>
                <a:latin typeface="Calibri"/>
                <a:ea typeface="Calibri"/>
                <a:cs typeface="Calibri"/>
              </a:defRPr>
            </a:pPr>
            <a:r>
              <a:rPr sz="3525" b="1">
                <a:solidFill>
                  <a:srgbClr val="A83033"/>
                </a:solidFill>
                <a:latin typeface="Calibri"/>
                <a:ea typeface="Calibri"/>
                <a:cs typeface="Calibri"/>
              </a:rPr>
              <a:t>Safe capacity = 18 × 0.80 = 14.4 RPS per worker</a:t>
            </a:r>
          </a:p>
        </p:txBody>
      </p:sp>
      <p:sp>
        <p:nvSpPr>
          <p:cNvPr id="110" name="Rectangle 109">
            <a:extLst>
              <a:ext uri="{FF2B5EF4-FFF2-40B4-BE49-F238E27FC236}">
                <a16:creationId xmlns:a16="http://schemas.microsoft.com/office/drawing/2014/main" id="{781C223F-7D26-40A2-99A6-1887C6CAAC3B}"/>
              </a:ext>
            </a:extLst>
          </p:cNvPr>
          <p:cNvSpPr>
            <a:spLocks noGrp="1"/>
          </p:cNvSpPr>
          <p:nvPr/>
        </p:nvSpPr>
        <p:spPr>
          <a:xfrm>
            <a:off x="2238375" y="7191375"/>
            <a:ext cx="13982700" cy="1047750"/>
          </a:xfrm>
          <a:prstGeom prst="rect">
            <a:avLst/>
          </a:prstGeom>
          <a:noFill/>
          <a:ln w="0">
            <a:noFill/>
          </a:ln>
        </p:spPr>
        <p:txBody>
          <a:bodyPr lIns="0" tIns="0" rIns="0" bIns="0"/>
          <a:lstStyle>
            <a:defPPr>
              <a:defRPr sz="2700" b="0">
                <a:solidFill>
                  <a:srgbClr val="333333"/>
                </a:solidFill>
                <a:latin typeface="Calibri"/>
                <a:ea typeface="Calibri"/>
                <a:cs typeface="Calibri"/>
              </a:defRPr>
            </a:defPPr>
            <a:lvl1pPr>
              <a:defRPr sz="2700" b="0">
                <a:solidFill>
                  <a:srgbClr val="333333"/>
                </a:solidFill>
                <a:latin typeface="Calibri"/>
                <a:ea typeface="Calibri"/>
                <a:cs typeface="Calibri"/>
              </a:defRPr>
            </a:lvl1pPr>
            <a:lvl2pPr>
              <a:defRPr sz="2700" b="0">
                <a:solidFill>
                  <a:srgbClr val="333333"/>
                </a:solidFill>
                <a:latin typeface="Calibri"/>
                <a:ea typeface="Calibri"/>
                <a:cs typeface="Calibri"/>
              </a:defRPr>
            </a:lvl2pPr>
            <a:lvl3pPr>
              <a:defRPr sz="2700" b="0">
                <a:solidFill>
                  <a:srgbClr val="333333"/>
                </a:solidFill>
                <a:latin typeface="Calibri"/>
                <a:ea typeface="Calibri"/>
                <a:cs typeface="Calibri"/>
              </a:defRPr>
            </a:lvl3pPr>
            <a:lvl4pPr>
              <a:defRPr sz="2700" b="0">
                <a:solidFill>
                  <a:srgbClr val="333333"/>
                </a:solidFill>
                <a:latin typeface="Calibri"/>
                <a:ea typeface="Calibri"/>
                <a:cs typeface="Calibri"/>
              </a:defRPr>
            </a:lvl4pPr>
            <a:lvl5pPr>
              <a:defRPr sz="2700" b="0">
                <a:solidFill>
                  <a:srgbClr val="333333"/>
                </a:solidFill>
                <a:latin typeface="Calibri"/>
                <a:ea typeface="Calibri"/>
                <a:cs typeface="Calibri"/>
              </a:defRPr>
            </a:lvl5pPr>
            <a:lvl6pPr>
              <a:defRPr sz="2700" b="0">
                <a:solidFill>
                  <a:srgbClr val="333333"/>
                </a:solidFill>
                <a:latin typeface="Calibri"/>
                <a:ea typeface="Calibri"/>
                <a:cs typeface="Calibri"/>
              </a:defRPr>
            </a:lvl6pPr>
            <a:lvl7pPr>
              <a:defRPr sz="2700" b="0">
                <a:solidFill>
                  <a:srgbClr val="333333"/>
                </a:solidFill>
                <a:latin typeface="Calibri"/>
                <a:ea typeface="Calibri"/>
                <a:cs typeface="Calibri"/>
              </a:defRPr>
            </a:lvl7pPr>
            <a:lvl8pPr>
              <a:defRPr sz="2700" b="0">
                <a:solidFill>
                  <a:srgbClr val="333333"/>
                </a:solidFill>
                <a:latin typeface="Calibri"/>
                <a:ea typeface="Calibri"/>
                <a:cs typeface="Calibri"/>
              </a:defRPr>
            </a:lvl8pPr>
            <a:lvl9pPr>
              <a:defRPr sz="2700" b="0">
                <a:solidFill>
                  <a:srgbClr val="333333"/>
                </a:solidFill>
                <a:latin typeface="Calibri"/>
                <a:ea typeface="Calibri"/>
                <a:cs typeface="Calibri"/>
              </a:defRPr>
            </a:lvl9pPr>
          </a:lstStyle>
          <a:p>
            <a:pPr>
              <a:defRPr sz="2700" b="0">
                <a:solidFill>
                  <a:srgbClr val="333333"/>
                </a:solidFill>
                <a:latin typeface="Calibri"/>
                <a:ea typeface="Calibri"/>
                <a:cs typeface="Calibri"/>
              </a:defRPr>
            </a:pPr>
            <a:r>
              <a:rPr sz="2700" b="0">
                <a:solidFill>
                  <a:srgbClr val="333333"/>
                </a:solidFill>
                <a:latin typeface="Calibri"/>
                <a:ea typeface="Calibri"/>
                <a:cs typeface="Calibri"/>
              </a:rPr>
              <a:t>Each worker has a 250m CPU limit and a five-second readiness delay. Repeat calibration on a different machine.</a:t>
            </a:r>
          </a:p>
        </p:txBody>
      </p:sp>
      <p:sp>
        <p:nvSpPr>
          <p:cNvPr id="111" name="Rectangle 110">
            <a:extLst>
              <a:ext uri="{FF2B5EF4-FFF2-40B4-BE49-F238E27FC236}">
                <a16:creationId xmlns:a16="http://schemas.microsoft.com/office/drawing/2014/main" id="{2C596BFA-8EAD-4EB7-9DCB-B72D61AB271F}"/>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06 / 24</a:t>
            </a:r>
          </a:p>
        </p:txBody>
      </p:sp>
    </p:spTree>
    <p:extLst>
      <p:ext uri="{BB962C8B-B14F-4D97-AF65-F5344CB8AC3E}">
        <p14:creationId xmlns:p14="http://schemas.microsoft.com/office/powerpoint/2010/main" val="151882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4F63B125-A2FD-4EA8-B9C7-F54364BC31C4}"/>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Prediction and rescue drive scaling</a:t>
            </a:r>
          </a:p>
        </p:txBody>
      </p:sp>
      <p:sp>
        <p:nvSpPr>
          <p:cNvPr id="108" name="Rectangle 107">
            <a:extLst>
              <a:ext uri="{FF2B5EF4-FFF2-40B4-BE49-F238E27FC236}">
                <a16:creationId xmlns:a16="http://schemas.microsoft.com/office/drawing/2014/main" id="{1A7CC695-4CA9-4C70-8FC4-CD5E059002CA}"/>
              </a:ext>
            </a:extLst>
          </p:cNvPr>
          <p:cNvSpPr>
            <a:spLocks noGrp="1"/>
          </p:cNvSpPr>
          <p:nvPr/>
        </p:nvSpPr>
        <p:spPr>
          <a:xfrm>
            <a:off x="2238375" y="2095500"/>
            <a:ext cx="13982700" cy="619125"/>
          </a:xfrm>
          <a:prstGeom prst="rect">
            <a:avLst/>
          </a:prstGeom>
          <a:noFill/>
          <a:ln w="0">
            <a:noFill/>
          </a:ln>
        </p:spPr>
        <p:txBody>
          <a:bodyPr lIns="0" tIns="0" rIns="0" bIns="0"/>
          <a:lstStyle>
            <a:defPPr>
              <a:defRPr sz="3150" b="1">
                <a:solidFill>
                  <a:srgbClr val="A83033"/>
                </a:solidFill>
                <a:latin typeface="Calibri"/>
                <a:ea typeface="Calibri"/>
                <a:cs typeface="Calibri"/>
              </a:defRPr>
            </a:defPPr>
            <a:lvl1pPr>
              <a:defRPr sz="3150" b="1">
                <a:solidFill>
                  <a:srgbClr val="A83033"/>
                </a:solidFill>
                <a:latin typeface="Calibri"/>
                <a:ea typeface="Calibri"/>
                <a:cs typeface="Calibri"/>
              </a:defRPr>
            </a:lvl1pPr>
            <a:lvl2pPr>
              <a:defRPr sz="3150" b="1">
                <a:solidFill>
                  <a:srgbClr val="A83033"/>
                </a:solidFill>
                <a:latin typeface="Calibri"/>
                <a:ea typeface="Calibri"/>
                <a:cs typeface="Calibri"/>
              </a:defRPr>
            </a:lvl2pPr>
            <a:lvl3pPr>
              <a:defRPr sz="3150" b="1">
                <a:solidFill>
                  <a:srgbClr val="A83033"/>
                </a:solidFill>
                <a:latin typeface="Calibri"/>
                <a:ea typeface="Calibri"/>
                <a:cs typeface="Calibri"/>
              </a:defRPr>
            </a:lvl3pPr>
            <a:lvl4pPr>
              <a:defRPr sz="3150" b="1">
                <a:solidFill>
                  <a:srgbClr val="A83033"/>
                </a:solidFill>
                <a:latin typeface="Calibri"/>
                <a:ea typeface="Calibri"/>
                <a:cs typeface="Calibri"/>
              </a:defRPr>
            </a:lvl4pPr>
            <a:lvl5pPr>
              <a:defRPr sz="3150" b="1">
                <a:solidFill>
                  <a:srgbClr val="A83033"/>
                </a:solidFill>
                <a:latin typeface="Calibri"/>
                <a:ea typeface="Calibri"/>
                <a:cs typeface="Calibri"/>
              </a:defRPr>
            </a:lvl5pPr>
            <a:lvl6pPr>
              <a:defRPr sz="3150" b="1">
                <a:solidFill>
                  <a:srgbClr val="A83033"/>
                </a:solidFill>
                <a:latin typeface="Calibri"/>
                <a:ea typeface="Calibri"/>
                <a:cs typeface="Calibri"/>
              </a:defRPr>
            </a:lvl6pPr>
            <a:lvl7pPr>
              <a:defRPr sz="3150" b="1">
                <a:solidFill>
                  <a:srgbClr val="A83033"/>
                </a:solidFill>
                <a:latin typeface="Calibri"/>
                <a:ea typeface="Calibri"/>
                <a:cs typeface="Calibri"/>
              </a:defRPr>
            </a:lvl7pPr>
            <a:lvl8pPr>
              <a:defRPr sz="3150" b="1">
                <a:solidFill>
                  <a:srgbClr val="A83033"/>
                </a:solidFill>
                <a:latin typeface="Calibri"/>
                <a:ea typeface="Calibri"/>
                <a:cs typeface="Calibri"/>
              </a:defRPr>
            </a:lvl8pPr>
            <a:lvl9pPr>
              <a:defRPr sz="3150" b="1">
                <a:solidFill>
                  <a:srgbClr val="A83033"/>
                </a:solidFill>
                <a:latin typeface="Calibri"/>
                <a:ea typeface="Calibri"/>
                <a:cs typeface="Calibri"/>
              </a:defRPr>
            </a:lvl9pPr>
          </a:lstStyle>
          <a:p>
            <a:pPr>
              <a:defRPr sz="3150" b="1">
                <a:solidFill>
                  <a:srgbClr val="A83033"/>
                </a:solidFill>
                <a:latin typeface="Calibri"/>
                <a:ea typeface="Calibri"/>
                <a:cs typeface="Calibri"/>
              </a:defRPr>
            </a:pPr>
            <a:r>
              <a:rPr sz="3150" b="1">
                <a:solidFill>
                  <a:srgbClr val="A83033"/>
                </a:solidFill>
                <a:latin typeface="Calibri"/>
                <a:ea typeface="Calibri"/>
                <a:cs typeface="Calibri"/>
              </a:rPr>
              <a:t>Target replicas</a:t>
            </a:r>
          </a:p>
        </p:txBody>
      </p:sp>
      <p:sp>
        <p:nvSpPr>
          <p:cNvPr id="109" name="Rectangle 108">
            <a:extLst>
              <a:ext uri="{FF2B5EF4-FFF2-40B4-BE49-F238E27FC236}">
                <a16:creationId xmlns:a16="http://schemas.microsoft.com/office/drawing/2014/main" id="{FBB208B5-4AD7-4D55-A7A4-7A9E6AE0CD3B}"/>
              </a:ext>
            </a:extLst>
          </p:cNvPr>
          <p:cNvSpPr>
            <a:spLocks noGrp="1"/>
          </p:cNvSpPr>
          <p:nvPr/>
        </p:nvSpPr>
        <p:spPr>
          <a:xfrm>
            <a:off x="2238375" y="3000375"/>
            <a:ext cx="13982700" cy="952500"/>
          </a:xfrm>
          <a:prstGeom prst="rect">
            <a:avLst/>
          </a:prstGeom>
          <a:noFill/>
          <a:ln w="0">
            <a:noFill/>
          </a:ln>
        </p:spPr>
        <p:txBody>
          <a:bodyPr lIns="0" tIns="0" rIns="0" bIns="0"/>
          <a:lstStyle>
            <a:defPPr>
              <a:defRPr sz="3225" b="0">
                <a:solidFill>
                  <a:srgbClr val="333333"/>
                </a:solidFill>
                <a:latin typeface="Calibri"/>
                <a:ea typeface="Calibri"/>
                <a:cs typeface="Calibri"/>
              </a:defRPr>
            </a:defPPr>
            <a:lvl1pPr>
              <a:defRPr sz="3225" b="0">
                <a:solidFill>
                  <a:srgbClr val="333333"/>
                </a:solidFill>
                <a:latin typeface="Calibri"/>
                <a:ea typeface="Calibri"/>
                <a:cs typeface="Calibri"/>
              </a:defRPr>
            </a:lvl1pPr>
            <a:lvl2pPr>
              <a:defRPr sz="3225" b="0">
                <a:solidFill>
                  <a:srgbClr val="333333"/>
                </a:solidFill>
                <a:latin typeface="Calibri"/>
                <a:ea typeface="Calibri"/>
                <a:cs typeface="Calibri"/>
              </a:defRPr>
            </a:lvl2pPr>
            <a:lvl3pPr>
              <a:defRPr sz="3225" b="0">
                <a:solidFill>
                  <a:srgbClr val="333333"/>
                </a:solidFill>
                <a:latin typeface="Calibri"/>
                <a:ea typeface="Calibri"/>
                <a:cs typeface="Calibri"/>
              </a:defRPr>
            </a:lvl3pPr>
            <a:lvl4pPr>
              <a:defRPr sz="3225" b="0">
                <a:solidFill>
                  <a:srgbClr val="333333"/>
                </a:solidFill>
                <a:latin typeface="Calibri"/>
                <a:ea typeface="Calibri"/>
                <a:cs typeface="Calibri"/>
              </a:defRPr>
            </a:lvl4pPr>
            <a:lvl5pPr>
              <a:defRPr sz="3225" b="0">
                <a:solidFill>
                  <a:srgbClr val="333333"/>
                </a:solidFill>
                <a:latin typeface="Calibri"/>
                <a:ea typeface="Calibri"/>
                <a:cs typeface="Calibri"/>
              </a:defRPr>
            </a:lvl5pPr>
            <a:lvl6pPr>
              <a:defRPr sz="3225" b="0">
                <a:solidFill>
                  <a:srgbClr val="333333"/>
                </a:solidFill>
                <a:latin typeface="Calibri"/>
                <a:ea typeface="Calibri"/>
                <a:cs typeface="Calibri"/>
              </a:defRPr>
            </a:lvl6pPr>
            <a:lvl7pPr>
              <a:defRPr sz="3225" b="0">
                <a:solidFill>
                  <a:srgbClr val="333333"/>
                </a:solidFill>
                <a:latin typeface="Calibri"/>
                <a:ea typeface="Calibri"/>
                <a:cs typeface="Calibri"/>
              </a:defRPr>
            </a:lvl7pPr>
            <a:lvl8pPr>
              <a:defRPr sz="3225" b="0">
                <a:solidFill>
                  <a:srgbClr val="333333"/>
                </a:solidFill>
                <a:latin typeface="Calibri"/>
                <a:ea typeface="Calibri"/>
                <a:cs typeface="Calibri"/>
              </a:defRPr>
            </a:lvl8pPr>
            <a:lvl9pPr>
              <a:defRPr sz="3225" b="0">
                <a:solidFill>
                  <a:srgbClr val="333333"/>
                </a:solidFill>
                <a:latin typeface="Calibri"/>
                <a:ea typeface="Calibri"/>
                <a:cs typeface="Calibri"/>
              </a:defRPr>
            </a:lvl9pPr>
          </a:lstStyle>
          <a:p>
            <a:pPr>
              <a:defRPr sz="3225" b="0">
                <a:solidFill>
                  <a:srgbClr val="333333"/>
                </a:solidFill>
                <a:latin typeface="Calibri"/>
                <a:ea typeface="Calibri"/>
                <a:cs typeface="Calibri"/>
              </a:defRPr>
            </a:pPr>
            <a:r>
              <a:rPr sz="3225" b="0">
                <a:solidFill>
                  <a:srgbClr val="333333"/>
                </a:solidFill>
                <a:latin typeface="Calibri"/>
                <a:ea typeface="Calibri"/>
                <a:cs typeface="Calibri"/>
              </a:rPr>
              <a:t>ceil(max(observed demand, forecast + buffer) / 14.4)</a:t>
            </a:r>
          </a:p>
        </p:txBody>
      </p:sp>
      <p:graphicFrame>
        <p:nvGraphicFramePr>
          <p:cNvPr id="110" name="Table 109">
            <a:extLst>
              <a:ext uri="{FF2B5EF4-FFF2-40B4-BE49-F238E27FC236}">
                <a16:creationId xmlns:a16="http://schemas.microsoft.com/office/drawing/2014/main" id="{177E7469-7BCB-4227-8935-726CC0EDF55E}"/>
              </a:ext>
            </a:extLst>
          </p:cNvPr>
          <p:cNvGraphicFramePr/>
          <p:nvPr/>
        </p:nvGraphicFramePr>
        <p:xfrm>
          <a:off x="2238375" y="4429125"/>
          <a:ext cx="13982700" cy="3095624"/>
        </p:xfrm>
        <a:graphic>
          <a:graphicData uri="http://schemas.openxmlformats.org/drawingml/2006/table">
            <a:tbl>
              <a:tblPr/>
              <a:tblGrid>
                <a:gridCol w="4000500">
                  <a:extLst>
                    <a:ext uri="{9D8B030D-6E8A-4147-A177-3AD203B41FA5}">
                      <a16:colId xmlns:a16="http://schemas.microsoft.com/office/drawing/2014/main" val="20000"/>
                    </a:ext>
                  </a:extLst>
                </a:gridCol>
                <a:gridCol w="9982200">
                  <a:extLst>
                    <a:ext uri="{9D8B030D-6E8A-4147-A177-3AD203B41FA5}">
                      <a16:colId xmlns:a16="http://schemas.microsoft.com/office/drawing/2014/main" val="20001"/>
                    </a:ext>
                  </a:extLst>
                </a:gridCol>
              </a:tblGrid>
              <a:tr h="773906">
                <a:tc>
                  <a:txBody>
                    <a:bodyPr/>
                    <a:lstStyle/>
                    <a:p>
                      <a:r>
                        <a:rPr sz="2550" b="1">
                          <a:solidFill>
                            <a:srgbClr val="FFFFFF"/>
                          </a:solidFill>
                          <a:latin typeface="Calibri"/>
                          <a:ea typeface="Calibri"/>
                          <a:cs typeface="Calibri"/>
                        </a:rPr>
                        <a:t>Protection</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Controller response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773906">
                <a:tc>
                  <a:txBody>
                    <a:bodyPr/>
                    <a:lstStyle/>
                    <a:p>
                      <a:r>
                        <a:rPr sz="2550" b="0">
                          <a:solidFill>
                            <a:srgbClr val="333333"/>
                          </a:solidFill>
                          <a:latin typeface="Calibri"/>
                          <a:ea typeface="Calibri"/>
                          <a:cs typeface="Calibri"/>
                        </a:rPr>
                        <a:t>High p95 or errors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Add rescue capacity when no scale-out is pending</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773906">
                <a:tc>
                  <a:txBody>
                    <a:bodyPr/>
                    <a:lstStyle/>
                    <a:p>
                      <a:r>
                        <a:rPr sz="2550" b="0">
                          <a:solidFill>
                            <a:srgbClr val="333333"/>
                          </a:solidFill>
                          <a:latin typeface="Calibri"/>
                          <a:ea typeface="Calibri"/>
                          <a:cs typeface="Calibri"/>
                        </a:rPr>
                        <a:t>Lower demand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Wait for stability, then remove one replica at a time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773906">
                <a:tc>
                  <a:txBody>
                    <a:bodyPr/>
                    <a:lstStyle/>
                    <a:p>
                      <a:r>
                        <a:rPr sz="2550" b="0">
                          <a:solidFill>
                            <a:srgbClr val="333333"/>
                          </a:solidFill>
                          <a:latin typeface="Calibri"/>
                          <a:ea typeface="Calibri"/>
                          <a:cs typeface="Calibri"/>
                        </a:rPr>
                        <a:t>Budget or replica ceiling</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Hold the cap and record CAPACITY_LIMITED</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11" name="Rectangle 110">
            <a:extLst>
              <a:ext uri="{FF2B5EF4-FFF2-40B4-BE49-F238E27FC236}">
                <a16:creationId xmlns:a16="http://schemas.microsoft.com/office/drawing/2014/main" id="{E87067AC-8F40-486A-A886-C863D0C7FC65}"/>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07 / 24</a:t>
            </a:r>
          </a:p>
        </p:txBody>
      </p:sp>
    </p:spTree>
    <p:extLst>
      <p:ext uri="{BB962C8B-B14F-4D97-AF65-F5344CB8AC3E}">
        <p14:creationId xmlns:p14="http://schemas.microsoft.com/office/powerpoint/2010/main" val="1518820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284E0EB8-074A-415D-BD1A-15B5077B40C3}"/>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The lab is ready before traffic starts</a:t>
            </a:r>
          </a:p>
        </p:txBody>
      </p:sp>
      <p:sp>
        <p:nvSpPr>
          <p:cNvPr id="108" name="Rectangle 107">
            <a:extLst>
              <a:ext uri="{FF2B5EF4-FFF2-40B4-BE49-F238E27FC236}">
                <a16:creationId xmlns:a16="http://schemas.microsoft.com/office/drawing/2014/main" id="{C39DF514-B208-4117-AD86-496D3DEF1E81}"/>
              </a:ext>
            </a:extLst>
          </p:cNvPr>
          <p:cNvSpPr>
            <a:spLocks noGrp="1"/>
          </p:cNvSpPr>
          <p:nvPr/>
        </p:nvSpPr>
        <p:spPr>
          <a:xfrm>
            <a:off x="2238375" y="2143125"/>
            <a:ext cx="13982700" cy="666750"/>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defRPr sz="3000" b="1">
                <a:solidFill>
                  <a:srgbClr val="A83033"/>
                </a:solidFill>
                <a:latin typeface="Calibri"/>
                <a:ea typeface="Calibri"/>
                <a:cs typeface="Calibri"/>
              </a:defRPr>
            </a:lvl1pPr>
            <a:lvl2pPr>
              <a:defRPr sz="3000" b="1">
                <a:solidFill>
                  <a:srgbClr val="A83033"/>
                </a:solidFill>
                <a:latin typeface="Calibri"/>
                <a:ea typeface="Calibri"/>
                <a:cs typeface="Calibri"/>
              </a:defRPr>
            </a:lvl2pPr>
            <a:lvl3pPr>
              <a:defRPr sz="3000" b="1">
                <a:solidFill>
                  <a:srgbClr val="A83033"/>
                </a:solidFill>
                <a:latin typeface="Calibri"/>
                <a:ea typeface="Calibri"/>
                <a:cs typeface="Calibri"/>
              </a:defRPr>
            </a:lvl3pPr>
            <a:lvl4pPr>
              <a:defRPr sz="3000" b="1">
                <a:solidFill>
                  <a:srgbClr val="A83033"/>
                </a:solidFill>
                <a:latin typeface="Calibri"/>
                <a:ea typeface="Calibri"/>
                <a:cs typeface="Calibri"/>
              </a:defRPr>
            </a:lvl4pPr>
            <a:lvl5pPr>
              <a:defRPr sz="3000" b="1">
                <a:solidFill>
                  <a:srgbClr val="A83033"/>
                </a:solidFill>
                <a:latin typeface="Calibri"/>
                <a:ea typeface="Calibri"/>
                <a:cs typeface="Calibri"/>
              </a:defRPr>
            </a:lvl5pPr>
            <a:lvl6pPr>
              <a:defRPr sz="3000" b="1">
                <a:solidFill>
                  <a:srgbClr val="A83033"/>
                </a:solidFill>
                <a:latin typeface="Calibri"/>
                <a:ea typeface="Calibri"/>
                <a:cs typeface="Calibri"/>
              </a:defRPr>
            </a:lvl6pPr>
            <a:lvl7pPr>
              <a:defRPr sz="3000" b="1">
                <a:solidFill>
                  <a:srgbClr val="A83033"/>
                </a:solidFill>
                <a:latin typeface="Calibri"/>
                <a:ea typeface="Calibri"/>
                <a:cs typeface="Calibri"/>
              </a:defRPr>
            </a:lvl7pPr>
            <a:lvl8pPr>
              <a:defRPr sz="3000" b="1">
                <a:solidFill>
                  <a:srgbClr val="A83033"/>
                </a:solidFill>
                <a:latin typeface="Calibri"/>
                <a:ea typeface="Calibri"/>
                <a:cs typeface="Calibri"/>
              </a:defRPr>
            </a:lvl8pPr>
            <a:lvl9pPr>
              <a:defRPr sz="3000" b="1">
                <a:solidFill>
                  <a:srgbClr val="A83033"/>
                </a:solidFill>
                <a:latin typeface="Calibri"/>
                <a:ea typeface="Calibri"/>
                <a:cs typeface="Calibri"/>
              </a:defRPr>
            </a:lvl9pPr>
          </a:lstStyle>
          <a:p>
            <a:pPr>
              <a:defRPr sz="3000" b="1">
                <a:solidFill>
                  <a:srgbClr val="A83033"/>
                </a:solidFill>
                <a:latin typeface="Calibri"/>
                <a:ea typeface="Calibri"/>
                <a:cs typeface="Calibri"/>
              </a:defRPr>
            </a:pPr>
            <a:r>
              <a:rPr sz="3000" b="1">
                <a:solidFill>
                  <a:srgbClr val="A83033"/>
                </a:solidFill>
                <a:latin typeface="Calibri"/>
                <a:ea typeface="Calibri"/>
                <a:cs typeface="Calibri"/>
              </a:rPr>
              <a:t>Actual Kubernetes readiness check</a:t>
            </a:r>
          </a:p>
        </p:txBody>
      </p:sp>
      <p:sp>
        <p:nvSpPr>
          <p:cNvPr id="109" name="Rectangle 108">
            <a:extLst>
              <a:ext uri="{FF2B5EF4-FFF2-40B4-BE49-F238E27FC236}">
                <a16:creationId xmlns:a16="http://schemas.microsoft.com/office/drawing/2014/main" id="{1E62C794-E5C7-4F8B-A326-38C905C73502}"/>
              </a:ext>
            </a:extLst>
          </p:cNvPr>
          <p:cNvSpPr>
            <a:spLocks noGrp="1"/>
          </p:cNvSpPr>
          <p:nvPr/>
        </p:nvSpPr>
        <p:spPr>
          <a:xfrm>
            <a:off x="2238375" y="3048000"/>
            <a:ext cx="13982700" cy="1524000"/>
          </a:xfrm>
          <a:prstGeom prst="rect">
            <a:avLst/>
          </a:prstGeom>
          <a:noFill/>
          <a:ln w="0">
            <a:noFill/>
          </a:ln>
        </p:spPr>
        <p:txBody>
          <a:bodyPr lIns="0" tIns="0" rIns="0" bIns="0"/>
          <a:lstStyle>
            <a:defPPr>
              <a:defRPr sz="2400" b="0">
                <a:solidFill>
                  <a:srgbClr val="333333"/>
                </a:solidFill>
                <a:latin typeface="Calibri"/>
                <a:ea typeface="Calibri"/>
                <a:cs typeface="Calibri"/>
              </a:defRPr>
            </a:defPPr>
            <a:lvl1pPr>
              <a:defRPr sz="2400" b="0">
                <a:solidFill>
                  <a:srgbClr val="333333"/>
                </a:solidFill>
                <a:latin typeface="Calibri"/>
                <a:ea typeface="Calibri"/>
                <a:cs typeface="Calibri"/>
              </a:defRPr>
            </a:lvl1pPr>
            <a:lvl2pPr>
              <a:defRPr sz="2400" b="0">
                <a:solidFill>
                  <a:srgbClr val="333333"/>
                </a:solidFill>
                <a:latin typeface="Calibri"/>
                <a:ea typeface="Calibri"/>
                <a:cs typeface="Calibri"/>
              </a:defRPr>
            </a:lvl2pPr>
            <a:lvl3pPr>
              <a:defRPr sz="2400" b="0">
                <a:solidFill>
                  <a:srgbClr val="333333"/>
                </a:solidFill>
                <a:latin typeface="Calibri"/>
                <a:ea typeface="Calibri"/>
                <a:cs typeface="Calibri"/>
              </a:defRPr>
            </a:lvl3pPr>
            <a:lvl4pPr>
              <a:defRPr sz="2400" b="0">
                <a:solidFill>
                  <a:srgbClr val="333333"/>
                </a:solidFill>
                <a:latin typeface="Calibri"/>
                <a:ea typeface="Calibri"/>
                <a:cs typeface="Calibri"/>
              </a:defRPr>
            </a:lvl4pPr>
            <a:lvl5pPr>
              <a:defRPr sz="2400" b="0">
                <a:solidFill>
                  <a:srgbClr val="333333"/>
                </a:solidFill>
                <a:latin typeface="Calibri"/>
                <a:ea typeface="Calibri"/>
                <a:cs typeface="Calibri"/>
              </a:defRPr>
            </a:lvl5pPr>
            <a:lvl6pPr>
              <a:defRPr sz="2400" b="0">
                <a:solidFill>
                  <a:srgbClr val="333333"/>
                </a:solidFill>
                <a:latin typeface="Calibri"/>
                <a:ea typeface="Calibri"/>
                <a:cs typeface="Calibri"/>
              </a:defRPr>
            </a:lvl6pPr>
            <a:lvl7pPr>
              <a:defRPr sz="2400" b="0">
                <a:solidFill>
                  <a:srgbClr val="333333"/>
                </a:solidFill>
                <a:latin typeface="Calibri"/>
                <a:ea typeface="Calibri"/>
                <a:cs typeface="Calibri"/>
              </a:defRPr>
            </a:lvl7pPr>
            <a:lvl8pPr>
              <a:defRPr sz="2400" b="0">
                <a:solidFill>
                  <a:srgbClr val="333333"/>
                </a:solidFill>
                <a:latin typeface="Calibri"/>
                <a:ea typeface="Calibri"/>
                <a:cs typeface="Calibri"/>
              </a:defRPr>
            </a:lvl8pPr>
            <a:lvl9pPr>
              <a:defRPr sz="2400" b="0">
                <a:solidFill>
                  <a:srgbClr val="333333"/>
                </a:solidFill>
                <a:latin typeface="Calibri"/>
                <a:ea typeface="Calibri"/>
                <a:cs typeface="Calibri"/>
              </a:defRPr>
            </a:lvl9pPr>
          </a:lstStyle>
          <a:p>
            <a:pPr>
              <a:defRPr sz="2400" b="0">
                <a:solidFill>
                  <a:srgbClr val="333333"/>
                </a:solidFill>
                <a:latin typeface="Calibri"/>
                <a:ea typeface="Calibri"/>
                <a:cs typeface="Calibri"/>
              </a:defRPr>
            </a:pPr>
            <a:r>
              <a:rPr sz="2400" b="0">
                <a:solidFill>
                  <a:srgbClr val="333333"/>
                </a:solidFill>
                <a:latin typeface="Calibri"/>
                <a:ea typeface="Calibri"/>
                <a:cs typeface="Calibri"/>
              </a:rPr>
              <a:t>NAME      READY   UP-TO-DATE   AVAILABLE   AGE</a:t>
            </a:r>
          </a:p>
          <a:p>
            <a:pPr>
              <a:defRPr sz="2400" b="0">
                <a:solidFill>
                  <a:srgbClr val="333333"/>
                </a:solidFill>
                <a:latin typeface="Calibri"/>
                <a:ea typeface="Calibri"/>
                <a:cs typeface="Calibri"/>
              </a:defRPr>
            </a:pPr>
            <a:r>
              <a:rPr sz="2400" b="0">
                <a:solidFill>
                  <a:srgbClr val="333333"/>
                </a:solidFill>
                <a:latin typeface="Calibri"/>
                <a:ea typeface="Calibri"/>
                <a:cs typeface="Calibri"/>
              </a:rPr>
              <a:t>gateway   1/1     1            1           9h</a:t>
            </a:r>
          </a:p>
          <a:p>
            <a:pPr>
              <a:defRPr sz="2400" b="0">
                <a:solidFill>
                  <a:srgbClr val="333333"/>
                </a:solidFill>
                <a:latin typeface="Calibri"/>
                <a:ea typeface="Calibri"/>
                <a:cs typeface="Calibri"/>
              </a:defRPr>
            </a:pPr>
            <a:r>
              <a:rPr sz="2400" b="0">
                <a:solidFill>
                  <a:srgbClr val="333333"/>
                </a:solidFill>
                <a:latin typeface="Calibri"/>
                <a:ea typeface="Calibri"/>
                <a:cs typeface="Calibri"/>
              </a:rPr>
              <a:t>worker    1/1     1            1           9h</a:t>
            </a:r>
          </a:p>
        </p:txBody>
      </p:sp>
      <p:sp>
        <p:nvSpPr>
          <p:cNvPr id="110" name="Rectangle 109">
            <a:extLst>
              <a:ext uri="{FF2B5EF4-FFF2-40B4-BE49-F238E27FC236}">
                <a16:creationId xmlns:a16="http://schemas.microsoft.com/office/drawing/2014/main" id="{A9F9928C-7DFE-40C4-A4C1-78D8DFFCE179}"/>
              </a:ext>
            </a:extLst>
          </p:cNvPr>
          <p:cNvSpPr>
            <a:spLocks noGrp="1"/>
          </p:cNvSpPr>
          <p:nvPr/>
        </p:nvSpPr>
        <p:spPr>
          <a:xfrm>
            <a:off x="2238375" y="5048250"/>
            <a:ext cx="13982700" cy="571500"/>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defRPr sz="3000" b="1">
                <a:solidFill>
                  <a:srgbClr val="A83033"/>
                </a:solidFill>
                <a:latin typeface="Calibri"/>
                <a:ea typeface="Calibri"/>
                <a:cs typeface="Calibri"/>
              </a:defRPr>
            </a:lvl1pPr>
            <a:lvl2pPr>
              <a:defRPr sz="3000" b="1">
                <a:solidFill>
                  <a:srgbClr val="A83033"/>
                </a:solidFill>
                <a:latin typeface="Calibri"/>
                <a:ea typeface="Calibri"/>
                <a:cs typeface="Calibri"/>
              </a:defRPr>
            </a:lvl2pPr>
            <a:lvl3pPr>
              <a:defRPr sz="3000" b="1">
                <a:solidFill>
                  <a:srgbClr val="A83033"/>
                </a:solidFill>
                <a:latin typeface="Calibri"/>
                <a:ea typeface="Calibri"/>
                <a:cs typeface="Calibri"/>
              </a:defRPr>
            </a:lvl3pPr>
            <a:lvl4pPr>
              <a:defRPr sz="3000" b="1">
                <a:solidFill>
                  <a:srgbClr val="A83033"/>
                </a:solidFill>
                <a:latin typeface="Calibri"/>
                <a:ea typeface="Calibri"/>
                <a:cs typeface="Calibri"/>
              </a:defRPr>
            </a:lvl4pPr>
            <a:lvl5pPr>
              <a:defRPr sz="3000" b="1">
                <a:solidFill>
                  <a:srgbClr val="A83033"/>
                </a:solidFill>
                <a:latin typeface="Calibri"/>
                <a:ea typeface="Calibri"/>
                <a:cs typeface="Calibri"/>
              </a:defRPr>
            </a:lvl5pPr>
            <a:lvl6pPr>
              <a:defRPr sz="3000" b="1">
                <a:solidFill>
                  <a:srgbClr val="A83033"/>
                </a:solidFill>
                <a:latin typeface="Calibri"/>
                <a:ea typeface="Calibri"/>
                <a:cs typeface="Calibri"/>
              </a:defRPr>
            </a:lvl6pPr>
            <a:lvl7pPr>
              <a:defRPr sz="3000" b="1">
                <a:solidFill>
                  <a:srgbClr val="A83033"/>
                </a:solidFill>
                <a:latin typeface="Calibri"/>
                <a:ea typeface="Calibri"/>
                <a:cs typeface="Calibri"/>
              </a:defRPr>
            </a:lvl7pPr>
            <a:lvl8pPr>
              <a:defRPr sz="3000" b="1">
                <a:solidFill>
                  <a:srgbClr val="A83033"/>
                </a:solidFill>
                <a:latin typeface="Calibri"/>
                <a:ea typeface="Calibri"/>
                <a:cs typeface="Calibri"/>
              </a:defRPr>
            </a:lvl8pPr>
            <a:lvl9pPr>
              <a:defRPr sz="3000" b="1">
                <a:solidFill>
                  <a:srgbClr val="A83033"/>
                </a:solidFill>
                <a:latin typeface="Calibri"/>
                <a:ea typeface="Calibri"/>
                <a:cs typeface="Calibri"/>
              </a:defRPr>
            </a:lvl9pPr>
          </a:lstStyle>
          <a:p>
            <a:pPr>
              <a:defRPr sz="3000" b="1">
                <a:solidFill>
                  <a:srgbClr val="A83033"/>
                </a:solidFill>
                <a:latin typeface="Calibri"/>
                <a:ea typeface="Calibri"/>
                <a:cs typeface="Calibri"/>
              </a:defRPr>
            </a:pPr>
            <a:r>
              <a:rPr sz="3000" b="1">
                <a:solidFill>
                  <a:srgbClr val="A83033"/>
                </a:solidFill>
                <a:latin typeface="Calibri"/>
                <a:ea typeface="Calibri"/>
                <a:cs typeface="Calibri"/>
              </a:rPr>
              <a:t>Demo command</a:t>
            </a:r>
          </a:p>
        </p:txBody>
      </p:sp>
      <p:sp>
        <p:nvSpPr>
          <p:cNvPr id="111" name="Rectangle 110">
            <a:extLst>
              <a:ext uri="{FF2B5EF4-FFF2-40B4-BE49-F238E27FC236}">
                <a16:creationId xmlns:a16="http://schemas.microsoft.com/office/drawing/2014/main" id="{C3BE17DA-9BFC-4668-9343-3C5E2CBBF1B7}"/>
              </a:ext>
            </a:extLst>
          </p:cNvPr>
          <p:cNvSpPr>
            <a:spLocks noGrp="1"/>
          </p:cNvSpPr>
          <p:nvPr/>
        </p:nvSpPr>
        <p:spPr>
          <a:xfrm>
            <a:off x="2238375" y="5905500"/>
            <a:ext cx="13982700" cy="1809750"/>
          </a:xfrm>
          <a:prstGeom prst="rect">
            <a:avLst/>
          </a:prstGeom>
          <a:noFill/>
          <a:ln w="0">
            <a:noFill/>
          </a:ln>
        </p:spPr>
        <p:txBody>
          <a:bodyPr lIns="0" tIns="0" rIns="0" bIns="0"/>
          <a:lstStyle>
            <a:defPPr>
              <a:defRPr sz="2625" b="0">
                <a:solidFill>
                  <a:srgbClr val="333333"/>
                </a:solidFill>
                <a:latin typeface="Calibri"/>
                <a:ea typeface="Calibri"/>
                <a:cs typeface="Calibri"/>
              </a:defRPr>
            </a:defPPr>
            <a:lvl1pPr>
              <a:defRPr sz="2625" b="0">
                <a:solidFill>
                  <a:srgbClr val="333333"/>
                </a:solidFill>
                <a:latin typeface="Calibri"/>
                <a:ea typeface="Calibri"/>
                <a:cs typeface="Calibri"/>
              </a:defRPr>
            </a:lvl1pPr>
            <a:lvl2pPr>
              <a:defRPr sz="2625" b="0">
                <a:solidFill>
                  <a:srgbClr val="333333"/>
                </a:solidFill>
                <a:latin typeface="Calibri"/>
                <a:ea typeface="Calibri"/>
                <a:cs typeface="Calibri"/>
              </a:defRPr>
            </a:lvl2pPr>
            <a:lvl3pPr>
              <a:defRPr sz="2625" b="0">
                <a:solidFill>
                  <a:srgbClr val="333333"/>
                </a:solidFill>
                <a:latin typeface="Calibri"/>
                <a:ea typeface="Calibri"/>
                <a:cs typeface="Calibri"/>
              </a:defRPr>
            </a:lvl3pPr>
            <a:lvl4pPr>
              <a:defRPr sz="2625" b="0">
                <a:solidFill>
                  <a:srgbClr val="333333"/>
                </a:solidFill>
                <a:latin typeface="Calibri"/>
                <a:ea typeface="Calibri"/>
                <a:cs typeface="Calibri"/>
              </a:defRPr>
            </a:lvl4pPr>
            <a:lvl5pPr>
              <a:defRPr sz="2625" b="0">
                <a:solidFill>
                  <a:srgbClr val="333333"/>
                </a:solidFill>
                <a:latin typeface="Calibri"/>
                <a:ea typeface="Calibri"/>
                <a:cs typeface="Calibri"/>
              </a:defRPr>
            </a:lvl5pPr>
            <a:lvl6pPr>
              <a:defRPr sz="2625" b="0">
                <a:solidFill>
                  <a:srgbClr val="333333"/>
                </a:solidFill>
                <a:latin typeface="Calibri"/>
                <a:ea typeface="Calibri"/>
                <a:cs typeface="Calibri"/>
              </a:defRPr>
            </a:lvl6pPr>
            <a:lvl7pPr>
              <a:defRPr sz="2625" b="0">
                <a:solidFill>
                  <a:srgbClr val="333333"/>
                </a:solidFill>
                <a:latin typeface="Calibri"/>
                <a:ea typeface="Calibri"/>
                <a:cs typeface="Calibri"/>
              </a:defRPr>
            </a:lvl7pPr>
            <a:lvl8pPr>
              <a:defRPr sz="2625" b="0">
                <a:solidFill>
                  <a:srgbClr val="333333"/>
                </a:solidFill>
                <a:latin typeface="Calibri"/>
                <a:ea typeface="Calibri"/>
                <a:cs typeface="Calibri"/>
              </a:defRPr>
            </a:lvl8pPr>
            <a:lvl9pPr>
              <a:defRPr sz="2625" b="0">
                <a:solidFill>
                  <a:srgbClr val="333333"/>
                </a:solidFill>
                <a:latin typeface="Calibri"/>
                <a:ea typeface="Calibri"/>
                <a:cs typeface="Calibri"/>
              </a:defRPr>
            </a:lvl9pPr>
          </a:lstStyle>
          <a:p>
            <a:pPr>
              <a:defRPr sz="2625" b="0">
                <a:solidFill>
                  <a:srgbClr val="333333"/>
                </a:solidFill>
                <a:latin typeface="Calibri"/>
                <a:ea typeface="Calibri"/>
                <a:cs typeface="Calibri"/>
              </a:defRPr>
            </a:pPr>
            <a:r>
              <a:rPr sz="2625" b="0">
                <a:solidFill>
                  <a:srgbClr val="333333"/>
                </a:solidFill>
                <a:latin typeface="Calibri"/>
                <a:ea typeface="Calibri"/>
                <a:cs typeface="Calibri"/>
              </a:rPr>
              <a:t>python -m scaler.experiment run --backend kubernetes</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--scenario flash --policy guarded_predictive</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--safe-rps 14.4 --duration 240 --warmup 60 --seed 707</a:t>
            </a:r>
          </a:p>
        </p:txBody>
      </p:sp>
      <p:sp>
        <p:nvSpPr>
          <p:cNvPr id="112" name="Rectangle 111">
            <a:extLst>
              <a:ext uri="{FF2B5EF4-FFF2-40B4-BE49-F238E27FC236}">
                <a16:creationId xmlns:a16="http://schemas.microsoft.com/office/drawing/2014/main" id="{880D331B-A44F-4A56-A5C2-045FA08D7125}"/>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08 / 24</a:t>
            </a:r>
          </a:p>
        </p:txBody>
      </p:sp>
    </p:spTree>
    <p:extLst>
      <p:ext uri="{BB962C8B-B14F-4D97-AF65-F5344CB8AC3E}">
        <p14:creationId xmlns:p14="http://schemas.microsoft.com/office/powerpoint/2010/main" val="1518820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4EF1510-E885-4E3F-8423-0E2FBB788993}"/>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scale-out during model warm-up</a:t>
            </a:r>
          </a:p>
        </p:txBody>
      </p:sp>
      <p:pic>
        <p:nvPicPr>
          <p:cNvPr id="108" name="Picture 107">
            <a:extLst>
              <a:ext uri="{FF2B5EF4-FFF2-40B4-BE49-F238E27FC236}">
                <a16:creationId xmlns:a16="http://schemas.microsoft.com/office/drawing/2014/main" id="{EFC49B0B-44A9-492A-ACC0-9C5F5313469E}"/>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999AC404-C22B-48E7-BFA9-0AA312FBE3C1}"/>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20 seconds</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Target: 2 workers</a:t>
            </a:r>
          </a:p>
        </p:txBody>
      </p:sp>
      <p:sp>
        <p:nvSpPr>
          <p:cNvPr id="110" name="Rectangle 109">
            <a:extLst>
              <a:ext uri="{FF2B5EF4-FFF2-40B4-BE49-F238E27FC236}">
                <a16:creationId xmlns:a16="http://schemas.microsoft.com/office/drawing/2014/main" id="{78B172C9-046E-4ABD-9E60-5A9C3EBB98A4}"/>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The model needs six windows.</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Observed demand already exceeds one worker’s safe rate.</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cards show state before the latest decision.</a:t>
            </a:r>
          </a:p>
        </p:txBody>
      </p:sp>
      <p:sp>
        <p:nvSpPr>
          <p:cNvPr id="111" name="Rectangle 110">
            <a:extLst>
              <a:ext uri="{FF2B5EF4-FFF2-40B4-BE49-F238E27FC236}">
                <a16:creationId xmlns:a16="http://schemas.microsoft.com/office/drawing/2014/main" id="{DFC6A954-FB3B-4BBA-860D-FE2CCC446224}"/>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09 / 24</a:t>
            </a:r>
          </a:p>
        </p:txBody>
      </p:sp>
    </p:spTree>
    <p:extLst>
      <p:ext uri="{BB962C8B-B14F-4D97-AF65-F5344CB8AC3E}">
        <p14:creationId xmlns:p14="http://schemas.microsoft.com/office/powerpoint/2010/main" val="151882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0957F33F-F8B3-42CC-B843-77F7A91041C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forecasting begins at 60 seconds</a:t>
            </a:r>
          </a:p>
        </p:txBody>
      </p:sp>
      <p:pic>
        <p:nvPicPr>
          <p:cNvPr id="108" name="Picture 107">
            <a:extLst>
              <a:ext uri="{FF2B5EF4-FFF2-40B4-BE49-F238E27FC236}">
                <a16:creationId xmlns:a16="http://schemas.microsoft.com/office/drawing/2014/main" id="{67BF2B63-6A93-46E4-BC12-A3E599FE4E18}"/>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7BE98A76-1347-4001-AC46-8EE42908E0F0}"/>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39.4 RPS observed</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47.7 RPS forecast</a:t>
            </a:r>
          </a:p>
        </p:txBody>
      </p:sp>
      <p:sp>
        <p:nvSpPr>
          <p:cNvPr id="110" name="Rectangle 109">
            <a:extLst>
              <a:ext uri="{FF2B5EF4-FFF2-40B4-BE49-F238E27FC236}">
                <a16:creationId xmlns:a16="http://schemas.microsoft.com/office/drawing/2014/main" id="{2F9FFF78-794B-4B79-BFC8-9E2431BA5AC8}"/>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Four workers are ready.</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p95 is 64.3 ms in this window.</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trend shows earlier real scale-out actions.</a:t>
            </a:r>
          </a:p>
        </p:txBody>
      </p:sp>
      <p:sp>
        <p:nvSpPr>
          <p:cNvPr id="111" name="Rectangle 110">
            <a:extLst>
              <a:ext uri="{FF2B5EF4-FFF2-40B4-BE49-F238E27FC236}">
                <a16:creationId xmlns:a16="http://schemas.microsoft.com/office/drawing/2014/main" id="{96AF6A52-0CBC-4A96-B5D5-6B9A776F2D4A}"/>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10 / 24</a:t>
            </a:r>
          </a:p>
        </p:txBody>
      </p:sp>
    </p:spTree>
    <p:extLst>
      <p:ext uri="{BB962C8B-B14F-4D97-AF65-F5344CB8AC3E}">
        <p14:creationId xmlns:p14="http://schemas.microsoft.com/office/powerpoint/2010/main" val="151882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1BF6B073-7A0B-4310-B97E-0B0AA9322F4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stable downscale at 110 seconds</a:t>
            </a:r>
          </a:p>
        </p:txBody>
      </p:sp>
      <p:pic>
        <p:nvPicPr>
          <p:cNvPr id="108" name="Picture 107">
            <a:extLst>
              <a:ext uri="{FF2B5EF4-FFF2-40B4-BE49-F238E27FC236}">
                <a16:creationId xmlns:a16="http://schemas.microsoft.com/office/drawing/2014/main" id="{B929E811-BF76-4D0E-86B1-E177A81FCFAD}"/>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5918F708-5C4C-41F0-9041-E5C0823560D3}"/>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110 seconds</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Target: 3 workers</a:t>
            </a:r>
          </a:p>
        </p:txBody>
      </p:sp>
      <p:sp>
        <p:nvSpPr>
          <p:cNvPr id="110" name="Rectangle 109">
            <a:extLst>
              <a:ext uri="{FF2B5EF4-FFF2-40B4-BE49-F238E27FC236}">
                <a16:creationId xmlns:a16="http://schemas.microsoft.com/office/drawing/2014/main" id="{DA7AE05F-B70B-4373-B494-2E48990F10A7}"/>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Demand falls to 15.3 RPS.</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controller waits before scaling down.</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Ready / desired still shows 4 / 4 before applying the new target.</a:t>
            </a:r>
          </a:p>
        </p:txBody>
      </p:sp>
      <p:sp>
        <p:nvSpPr>
          <p:cNvPr id="111" name="Rectangle 110">
            <a:extLst>
              <a:ext uri="{FF2B5EF4-FFF2-40B4-BE49-F238E27FC236}">
                <a16:creationId xmlns:a16="http://schemas.microsoft.com/office/drawing/2014/main" id="{B7AA4ACF-74E3-4105-9DA9-225FFB95D447}"/>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11 / 24</a:t>
            </a:r>
          </a:p>
        </p:txBody>
      </p:sp>
    </p:spTree>
    <p:extLst>
      <p:ext uri="{BB962C8B-B14F-4D97-AF65-F5344CB8AC3E}">
        <p14:creationId xmlns:p14="http://schemas.microsoft.com/office/powerpoint/2010/main" val="151882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B93730E-FC0B-46DF-8A26-AAAE5462AF84}"/>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the flash burst and replica ceiling</a:t>
            </a:r>
          </a:p>
        </p:txBody>
      </p:sp>
      <p:pic>
        <p:nvPicPr>
          <p:cNvPr id="108" name="Picture 107">
            <a:extLst>
              <a:ext uri="{FF2B5EF4-FFF2-40B4-BE49-F238E27FC236}">
                <a16:creationId xmlns:a16="http://schemas.microsoft.com/office/drawing/2014/main" id="{BAB94141-9352-4A08-A6FB-3D3D0B6C3521}"/>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D1270F72-029D-4ABD-8C17-7E15AFB82E28}"/>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Completed run</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Ceiling: 4 workers</a:t>
            </a:r>
          </a:p>
        </p:txBody>
      </p:sp>
      <p:sp>
        <p:nvSpPr>
          <p:cNvPr id="110" name="Rectangle 109">
            <a:extLst>
              <a:ext uri="{FF2B5EF4-FFF2-40B4-BE49-F238E27FC236}">
                <a16:creationId xmlns:a16="http://schemas.microsoft.com/office/drawing/2014/main" id="{A999A62A-4761-4974-9D95-93C6C87F4B22}"/>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The graph records the burst and recovery.</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deployment never exceeds four workers.</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cards show the final recorded window.</a:t>
            </a:r>
          </a:p>
        </p:txBody>
      </p:sp>
      <p:sp>
        <p:nvSpPr>
          <p:cNvPr id="111" name="Rectangle 110">
            <a:extLst>
              <a:ext uri="{FF2B5EF4-FFF2-40B4-BE49-F238E27FC236}">
                <a16:creationId xmlns:a16="http://schemas.microsoft.com/office/drawing/2014/main" id="{4879A310-17EC-4789-9270-8AE94E069D23}"/>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12 / 24</a:t>
            </a:r>
          </a:p>
        </p:txBody>
      </p:sp>
    </p:spTree>
    <p:extLst>
      <p:ext uri="{BB962C8B-B14F-4D97-AF65-F5344CB8AC3E}">
        <p14:creationId xmlns:p14="http://schemas.microsoft.com/office/powerpoint/2010/main" val="151882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D539DB46-29D9-41FE-B194-54628B320CEF}"/>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The comparison uses matched workloads</a:t>
            </a:r>
          </a:p>
        </p:txBody>
      </p:sp>
      <p:graphicFrame>
        <p:nvGraphicFramePr>
          <p:cNvPr id="108" name="Table 107">
            <a:extLst>
              <a:ext uri="{FF2B5EF4-FFF2-40B4-BE49-F238E27FC236}">
                <a16:creationId xmlns:a16="http://schemas.microsoft.com/office/drawing/2014/main" id="{B48F7465-B159-434E-A685-B3BF2D63236E}"/>
              </a:ext>
            </a:extLst>
          </p:cNvPr>
          <p:cNvGraphicFramePr/>
          <p:nvPr/>
        </p:nvGraphicFramePr>
        <p:xfrm>
          <a:off x="2238375" y="2190750"/>
          <a:ext cx="13982700" cy="4857750"/>
        </p:xfrm>
        <a:graphic>
          <a:graphicData uri="http://schemas.openxmlformats.org/drawingml/2006/table">
            <a:tbl>
              <a:tblPr/>
              <a:tblGrid>
                <a:gridCol w="4095750">
                  <a:extLst>
                    <a:ext uri="{9D8B030D-6E8A-4147-A177-3AD203B41FA5}">
                      <a16:colId xmlns:a16="http://schemas.microsoft.com/office/drawing/2014/main" val="20000"/>
                    </a:ext>
                  </a:extLst>
                </a:gridCol>
                <a:gridCol w="9886950">
                  <a:extLst>
                    <a:ext uri="{9D8B030D-6E8A-4147-A177-3AD203B41FA5}">
                      <a16:colId xmlns:a16="http://schemas.microsoft.com/office/drawing/2014/main" val="20001"/>
                    </a:ext>
                  </a:extLst>
                </a:gridCol>
              </a:tblGrid>
              <a:tr h="809625">
                <a:tc>
                  <a:txBody>
                    <a:bodyPr/>
                    <a:lstStyle/>
                    <a:p>
                      <a:r>
                        <a:rPr sz="2625" b="1">
                          <a:solidFill>
                            <a:srgbClr val="FFFFFF"/>
                          </a:solidFill>
                          <a:latin typeface="Calibri"/>
                          <a:ea typeface="Calibri"/>
                          <a:cs typeface="Calibri"/>
                        </a:rPr>
                        <a:t>Controlled element</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625" b="1">
                          <a:solidFill>
                            <a:srgbClr val="FFFFFF"/>
                          </a:solidFill>
                          <a:latin typeface="Calibri"/>
                          <a:ea typeface="Calibri"/>
                          <a:cs typeface="Calibri"/>
                        </a:rPr>
                        <a:t>Experimental design</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09625">
                <a:tc>
                  <a:txBody>
                    <a:bodyPr/>
                    <a:lstStyle/>
                    <a:p>
                      <a:r>
                        <a:rPr sz="2625" b="0">
                          <a:solidFill>
                            <a:srgbClr val="333333"/>
                          </a:solidFill>
                          <a:latin typeface="Calibri"/>
                          <a:ea typeface="Calibri"/>
                          <a:cs typeface="Calibri"/>
                        </a:rPr>
                        <a:t>Policies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625" b="0">
                          <a:solidFill>
                            <a:srgbClr val="333333"/>
                          </a:solidFill>
                          <a:latin typeface="Calibri"/>
                          <a:ea typeface="Calibri"/>
                          <a:cs typeface="Calibri"/>
                        </a:rPr>
                        <a:t>Fixed 4, reactive, guarded predictive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09625">
                <a:tc>
                  <a:txBody>
                    <a:bodyPr/>
                    <a:lstStyle/>
                    <a:p>
                      <a:r>
                        <a:rPr sz="2625" b="0">
                          <a:solidFill>
                            <a:srgbClr val="333333"/>
                          </a:solidFill>
                          <a:latin typeface="Calibri"/>
                          <a:ea typeface="Calibri"/>
                          <a:cs typeface="Calibri"/>
                        </a:rPr>
                        <a:t>Workloads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625" b="0">
                          <a:solidFill>
                            <a:srgbClr val="333333"/>
                          </a:solidFill>
                          <a:latin typeface="Calibri"/>
                          <a:ea typeface="Calibri"/>
                          <a:cs typeface="Calibri"/>
                        </a:rPr>
                        <a:t>Periodic and flash, two seeds each</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09625">
                <a:tc>
                  <a:txBody>
                    <a:bodyPr/>
                    <a:lstStyle/>
                    <a:p>
                      <a:r>
                        <a:rPr sz="2625" b="0">
                          <a:solidFill>
                            <a:srgbClr val="333333"/>
                          </a:solidFill>
                          <a:latin typeface="Calibri"/>
                          <a:ea typeface="Calibri"/>
                          <a:cs typeface="Calibri"/>
                        </a:rPr>
                        <a:t>Coverage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625" b="0">
                          <a:solidFill>
                            <a:srgbClr val="333333"/>
                          </a:solidFill>
                          <a:latin typeface="Calibri"/>
                          <a:ea typeface="Calibri"/>
                          <a:cs typeface="Calibri"/>
                        </a:rPr>
                        <a:t>12 completed Kubernetes runs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809625">
                <a:tc>
                  <a:txBody>
                    <a:bodyPr/>
                    <a:lstStyle/>
                    <a:p>
                      <a:r>
                        <a:rPr sz="2625" b="0">
                          <a:solidFill>
                            <a:srgbClr val="333333"/>
                          </a:solidFill>
                          <a:latin typeface="Calibri"/>
                          <a:ea typeface="Calibri"/>
                          <a:cs typeface="Calibri"/>
                        </a:rPr>
                        <a:t>Fairness checks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625" b="0">
                          <a:solidFill>
                            <a:srgbClr val="333333"/>
                          </a:solidFill>
                          <a:latin typeface="Calibri"/>
                          <a:ea typeface="Calibri"/>
                          <a:cs typeface="Calibri"/>
                        </a:rPr>
                        <a:t>Same planned arrivals, model and source within the suite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r h="809625">
                <a:tc>
                  <a:txBody>
                    <a:bodyPr/>
                    <a:lstStyle/>
                    <a:p>
                      <a:r>
                        <a:rPr sz="2625" b="0">
                          <a:solidFill>
                            <a:srgbClr val="333333"/>
                          </a:solidFill>
                          <a:latin typeface="Calibri"/>
                          <a:ea typeface="Calibri"/>
                          <a:cs typeface="Calibri"/>
                        </a:rPr>
                        <a:t>Scoring</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625" b="0">
                          <a:solidFill>
                            <a:srgbClr val="333333"/>
                          </a:solidFill>
                          <a:latin typeface="Calibri"/>
                          <a:ea typeface="Calibri"/>
                          <a:cs typeface="Calibri"/>
                        </a:rPr>
                        <a:t>240-second runs, first 60 seconds excluded</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5"/>
                  </a:ext>
                </a:extLst>
              </a:tr>
            </a:tbl>
          </a:graphicData>
        </a:graphic>
      </p:graphicFrame>
      <p:sp>
        <p:nvSpPr>
          <p:cNvPr id="109" name="Rectangle 108">
            <a:extLst>
              <a:ext uri="{FF2B5EF4-FFF2-40B4-BE49-F238E27FC236}">
                <a16:creationId xmlns:a16="http://schemas.microsoft.com/office/drawing/2014/main" id="{19462A91-035F-43D9-9EE4-CCE6994C586A}"/>
              </a:ext>
            </a:extLst>
          </p:cNvPr>
          <p:cNvSpPr>
            <a:spLocks noGrp="1"/>
          </p:cNvSpPr>
          <p:nvPr/>
        </p:nvSpPr>
        <p:spPr>
          <a:xfrm>
            <a:off x="2238375" y="7524750"/>
            <a:ext cx="13982700" cy="857250"/>
          </a:xfrm>
          <a:prstGeom prst="rect">
            <a:avLst/>
          </a:prstGeom>
          <a:noFill/>
          <a:ln w="0">
            <a:noFill/>
          </a:ln>
        </p:spPr>
        <p:txBody>
          <a:bodyPr lIns="0" tIns="0" rIns="0" bIns="0"/>
          <a:lstStyle>
            <a:defPPr>
              <a:defRPr sz="2550" b="0">
                <a:solidFill>
                  <a:srgbClr val="A83033"/>
                </a:solidFill>
                <a:latin typeface="Calibri"/>
                <a:ea typeface="Calibri"/>
                <a:cs typeface="Calibri"/>
              </a:defRPr>
            </a:defPPr>
            <a:lvl1pPr>
              <a:defRPr sz="2550" b="0">
                <a:solidFill>
                  <a:srgbClr val="A83033"/>
                </a:solidFill>
                <a:latin typeface="Calibri"/>
                <a:ea typeface="Calibri"/>
                <a:cs typeface="Calibri"/>
              </a:defRPr>
            </a:lvl1pPr>
            <a:lvl2pPr>
              <a:defRPr sz="2550" b="0">
                <a:solidFill>
                  <a:srgbClr val="A83033"/>
                </a:solidFill>
                <a:latin typeface="Calibri"/>
                <a:ea typeface="Calibri"/>
                <a:cs typeface="Calibri"/>
              </a:defRPr>
            </a:lvl2pPr>
            <a:lvl3pPr>
              <a:defRPr sz="2550" b="0">
                <a:solidFill>
                  <a:srgbClr val="A83033"/>
                </a:solidFill>
                <a:latin typeface="Calibri"/>
                <a:ea typeface="Calibri"/>
                <a:cs typeface="Calibri"/>
              </a:defRPr>
            </a:lvl3pPr>
            <a:lvl4pPr>
              <a:defRPr sz="2550" b="0">
                <a:solidFill>
                  <a:srgbClr val="A83033"/>
                </a:solidFill>
                <a:latin typeface="Calibri"/>
                <a:ea typeface="Calibri"/>
                <a:cs typeface="Calibri"/>
              </a:defRPr>
            </a:lvl4pPr>
            <a:lvl5pPr>
              <a:defRPr sz="2550" b="0">
                <a:solidFill>
                  <a:srgbClr val="A83033"/>
                </a:solidFill>
                <a:latin typeface="Calibri"/>
                <a:ea typeface="Calibri"/>
                <a:cs typeface="Calibri"/>
              </a:defRPr>
            </a:lvl5pPr>
            <a:lvl6pPr>
              <a:defRPr sz="2550" b="0">
                <a:solidFill>
                  <a:srgbClr val="A83033"/>
                </a:solidFill>
                <a:latin typeface="Calibri"/>
                <a:ea typeface="Calibri"/>
                <a:cs typeface="Calibri"/>
              </a:defRPr>
            </a:lvl6pPr>
            <a:lvl7pPr>
              <a:defRPr sz="2550" b="0">
                <a:solidFill>
                  <a:srgbClr val="A83033"/>
                </a:solidFill>
                <a:latin typeface="Calibri"/>
                <a:ea typeface="Calibri"/>
                <a:cs typeface="Calibri"/>
              </a:defRPr>
            </a:lvl7pPr>
            <a:lvl8pPr>
              <a:defRPr sz="2550" b="0">
                <a:solidFill>
                  <a:srgbClr val="A83033"/>
                </a:solidFill>
                <a:latin typeface="Calibri"/>
                <a:ea typeface="Calibri"/>
                <a:cs typeface="Calibri"/>
              </a:defRPr>
            </a:lvl8pPr>
            <a:lvl9pPr>
              <a:defRPr sz="2550" b="0">
                <a:solidFill>
                  <a:srgbClr val="A83033"/>
                </a:solidFill>
                <a:latin typeface="Calibri"/>
                <a:ea typeface="Calibri"/>
                <a:cs typeface="Calibri"/>
              </a:defRPr>
            </a:lvl9pPr>
          </a:lstStyle>
          <a:p>
            <a:pPr>
              <a:defRPr sz="2550" b="0">
                <a:solidFill>
                  <a:srgbClr val="A83033"/>
                </a:solidFill>
                <a:latin typeface="Calibri"/>
                <a:ea typeface="Calibri"/>
                <a:cs typeface="Calibri"/>
              </a:defRPr>
            </a:pPr>
            <a:r>
              <a:rPr sz="2550" b="0">
                <a:solidFill>
                  <a:srgbClr val="A83033"/>
                </a:solidFill>
                <a:latin typeface="Calibri"/>
                <a:ea typeface="Calibri"/>
                <a:cs typeface="Calibri"/>
              </a:rPr>
              <a:t>Latency, failures, allocation and CPU come from real execution. Cost and energy use explicit assumptions.</a:t>
            </a:r>
          </a:p>
        </p:txBody>
      </p:sp>
      <p:sp>
        <p:nvSpPr>
          <p:cNvPr id="110" name="Rectangle 109">
            <a:extLst>
              <a:ext uri="{FF2B5EF4-FFF2-40B4-BE49-F238E27FC236}">
                <a16:creationId xmlns:a16="http://schemas.microsoft.com/office/drawing/2014/main" id="{84E4537D-96F6-4CFC-AFB3-47EE100A2DFB}"/>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13 / 24</a:t>
            </a:r>
          </a:p>
        </p:txBody>
      </p:sp>
    </p:spTree>
    <p:extLst>
      <p:ext uri="{BB962C8B-B14F-4D97-AF65-F5344CB8AC3E}">
        <p14:creationId xmlns:p14="http://schemas.microsoft.com/office/powerpoint/2010/main" val="1518820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AF334A87-4CBA-4B56-8E9F-E559FC522E3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Guarded scaling: capacity and latency</a:t>
            </a:r>
          </a:p>
        </p:txBody>
      </p:sp>
      <p:graphicFrame>
        <p:nvGraphicFramePr>
          <p:cNvPr id="108" name="Table 107">
            <a:extLst>
              <a:ext uri="{FF2B5EF4-FFF2-40B4-BE49-F238E27FC236}">
                <a16:creationId xmlns:a16="http://schemas.microsoft.com/office/drawing/2014/main" id="{C4E86F15-D3A3-4730-94E5-80381444CDB9}"/>
              </a:ext>
            </a:extLst>
          </p:cNvPr>
          <p:cNvGraphicFramePr/>
          <p:nvPr/>
        </p:nvGraphicFramePr>
        <p:xfrm>
          <a:off x="2238375" y="2190750"/>
          <a:ext cx="13982700" cy="4667250"/>
        </p:xfrm>
        <a:graphic>
          <a:graphicData uri="http://schemas.openxmlformats.org/drawingml/2006/table">
            <a:tbl>
              <a:tblPr/>
              <a:tblGrid>
                <a:gridCol w="40005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3409950">
                  <a:extLst>
                    <a:ext uri="{9D8B030D-6E8A-4147-A177-3AD203B41FA5}">
                      <a16:colId xmlns:a16="http://schemas.microsoft.com/office/drawing/2014/main" val="20003"/>
                    </a:ext>
                  </a:extLst>
                </a:gridCol>
              </a:tblGrid>
              <a:tr h="666750">
                <a:tc>
                  <a:txBody>
                    <a:bodyPr/>
                    <a:lstStyle/>
                    <a:p>
                      <a:r>
                        <a:rPr sz="2400" b="1">
                          <a:solidFill>
                            <a:srgbClr val="FFFFFF"/>
                          </a:solidFill>
                          <a:latin typeface="Calibri"/>
                          <a:ea typeface="Calibri"/>
                          <a:cs typeface="Calibri"/>
                        </a:rPr>
                        <a:t>Scenario / policy</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Run p95 range, ms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Mean replica-s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SLA windows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666750">
                <a:tc>
                  <a:txBody>
                    <a:bodyPr/>
                    <a:lstStyle/>
                    <a:p>
                      <a:r>
                        <a:rPr sz="2400" b="0">
                          <a:solidFill>
                            <a:srgbClr val="333333"/>
                          </a:solidFill>
                          <a:latin typeface="Calibri"/>
                          <a:ea typeface="Calibri"/>
                          <a:cs typeface="Calibri"/>
                        </a:rPr>
                        <a:t>flash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42.8 to 43.2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720.0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666750">
                <a:tc>
                  <a:txBody>
                    <a:bodyPr/>
                    <a:lstStyle/>
                    <a:p>
                      <a:r>
                        <a:rPr sz="2400" b="0">
                          <a:solidFill>
                            <a:srgbClr val="333333"/>
                          </a:solidFill>
                          <a:latin typeface="Calibri"/>
                          <a:ea typeface="Calibri"/>
                          <a:cs typeface="Calibri"/>
                        </a:rPr>
                        <a:t>flash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44.0 to 46.9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705.3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666750">
                <a:tc>
                  <a:txBody>
                    <a:bodyPr/>
                    <a:lstStyle/>
                    <a:p>
                      <a:r>
                        <a:rPr sz="2400" b="0">
                          <a:solidFill>
                            <a:srgbClr val="333333"/>
                          </a:solidFill>
                          <a:latin typeface="Calibri"/>
                          <a:ea typeface="Calibri"/>
                          <a:cs typeface="Calibri"/>
                        </a:rPr>
                        <a:t>flash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64.1 to 65.8</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561.3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666750">
                <a:tc>
                  <a:txBody>
                    <a:bodyPr/>
                    <a:lstStyle/>
                    <a:p>
                      <a:r>
                        <a:rPr sz="2400" b="0">
                          <a:solidFill>
                            <a:srgbClr val="333333"/>
                          </a:solidFill>
                          <a:latin typeface="Calibri"/>
                          <a:ea typeface="Calibri"/>
                          <a:cs typeface="Calibri"/>
                        </a:rPr>
                        <a:t>periodic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34.6 to 55.3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720.0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r h="666750">
                <a:tc>
                  <a:txBody>
                    <a:bodyPr/>
                    <a:lstStyle/>
                    <a:p>
                      <a:r>
                        <a:rPr sz="2400" b="0">
                          <a:solidFill>
                            <a:srgbClr val="333333"/>
                          </a:solidFill>
                          <a:latin typeface="Calibri"/>
                          <a:ea typeface="Calibri"/>
                          <a:cs typeface="Calibri"/>
                        </a:rPr>
                        <a:t>periodic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49.0 to 56.6</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643.1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5"/>
                  </a:ext>
                </a:extLst>
              </a:tr>
              <a:tr h="666750">
                <a:tc>
                  <a:txBody>
                    <a:bodyPr/>
                    <a:lstStyle/>
                    <a:p>
                      <a:r>
                        <a:rPr sz="2400" b="0">
                          <a:solidFill>
                            <a:srgbClr val="333333"/>
                          </a:solidFill>
                          <a:latin typeface="Calibri"/>
                          <a:ea typeface="Calibri"/>
                          <a:cs typeface="Calibri"/>
                        </a:rPr>
                        <a:t>periodic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71.5 to 503.9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498.8</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5.56%</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9" name="Rectangle 108">
            <a:extLst>
              <a:ext uri="{FF2B5EF4-FFF2-40B4-BE49-F238E27FC236}">
                <a16:creationId xmlns:a16="http://schemas.microsoft.com/office/drawing/2014/main" id="{1610BF29-189E-4744-98D4-1F0AFAF0F029}"/>
              </a:ext>
            </a:extLst>
          </p:cNvPr>
          <p:cNvSpPr>
            <a:spLocks noGrp="1"/>
          </p:cNvSpPr>
          <p:nvPr/>
        </p:nvSpPr>
        <p:spPr>
          <a:xfrm>
            <a:off x="2238375" y="7286625"/>
            <a:ext cx="13982700" cy="1047750"/>
          </a:xfrm>
          <a:prstGeom prst="rect">
            <a:avLst/>
          </a:prstGeom>
          <a:noFill/>
          <a:ln w="0">
            <a:noFill/>
          </a:ln>
        </p:spPr>
        <p:txBody>
          <a:bodyPr lIns="0" tIns="0" rIns="0" bIns="0"/>
          <a:lstStyle>
            <a:defPPr>
              <a:defRPr sz="2775" b="1">
                <a:solidFill>
                  <a:srgbClr val="A83033"/>
                </a:solidFill>
                <a:latin typeface="Calibri"/>
                <a:ea typeface="Calibri"/>
                <a:cs typeface="Calibri"/>
              </a:defRPr>
            </a:defPPr>
            <a:lvl1pPr>
              <a:defRPr sz="2775" b="1">
                <a:solidFill>
                  <a:srgbClr val="A83033"/>
                </a:solidFill>
                <a:latin typeface="Calibri"/>
                <a:ea typeface="Calibri"/>
                <a:cs typeface="Calibri"/>
              </a:defRPr>
            </a:lvl1pPr>
            <a:lvl2pPr>
              <a:defRPr sz="2775" b="1">
                <a:solidFill>
                  <a:srgbClr val="A83033"/>
                </a:solidFill>
                <a:latin typeface="Calibri"/>
                <a:ea typeface="Calibri"/>
                <a:cs typeface="Calibri"/>
              </a:defRPr>
            </a:lvl2pPr>
            <a:lvl3pPr>
              <a:defRPr sz="2775" b="1">
                <a:solidFill>
                  <a:srgbClr val="A83033"/>
                </a:solidFill>
                <a:latin typeface="Calibri"/>
                <a:ea typeface="Calibri"/>
                <a:cs typeface="Calibri"/>
              </a:defRPr>
            </a:lvl3pPr>
            <a:lvl4pPr>
              <a:defRPr sz="2775" b="1">
                <a:solidFill>
                  <a:srgbClr val="A83033"/>
                </a:solidFill>
                <a:latin typeface="Calibri"/>
                <a:ea typeface="Calibri"/>
                <a:cs typeface="Calibri"/>
              </a:defRPr>
            </a:lvl4pPr>
            <a:lvl5pPr>
              <a:defRPr sz="2775" b="1">
                <a:solidFill>
                  <a:srgbClr val="A83033"/>
                </a:solidFill>
                <a:latin typeface="Calibri"/>
                <a:ea typeface="Calibri"/>
                <a:cs typeface="Calibri"/>
              </a:defRPr>
            </a:lvl5pPr>
            <a:lvl6pPr>
              <a:defRPr sz="2775" b="1">
                <a:solidFill>
                  <a:srgbClr val="A83033"/>
                </a:solidFill>
                <a:latin typeface="Calibri"/>
                <a:ea typeface="Calibri"/>
                <a:cs typeface="Calibri"/>
              </a:defRPr>
            </a:lvl6pPr>
            <a:lvl7pPr>
              <a:defRPr sz="2775" b="1">
                <a:solidFill>
                  <a:srgbClr val="A83033"/>
                </a:solidFill>
                <a:latin typeface="Calibri"/>
                <a:ea typeface="Calibri"/>
                <a:cs typeface="Calibri"/>
              </a:defRPr>
            </a:lvl7pPr>
            <a:lvl8pPr>
              <a:defRPr sz="2775" b="1">
                <a:solidFill>
                  <a:srgbClr val="A83033"/>
                </a:solidFill>
                <a:latin typeface="Calibri"/>
                <a:ea typeface="Calibri"/>
                <a:cs typeface="Calibri"/>
              </a:defRPr>
            </a:lvl8pPr>
            <a:lvl9pPr>
              <a:defRPr sz="2775" b="1">
                <a:solidFill>
                  <a:srgbClr val="A83033"/>
                </a:solidFill>
                <a:latin typeface="Calibri"/>
                <a:ea typeface="Calibri"/>
                <a:cs typeface="Calibri"/>
              </a:defRPr>
            </a:lvl9pPr>
          </a:lstStyle>
          <a:p>
            <a:pPr>
              <a:defRPr sz="2775" b="1">
                <a:solidFill>
                  <a:srgbClr val="A83033"/>
                </a:solidFill>
                <a:latin typeface="Calibri"/>
                <a:ea typeface="Calibri"/>
                <a:cs typeface="Calibri"/>
              </a:defRPr>
            </a:pPr>
            <a:r>
              <a:rPr sz="2775" b="1">
                <a:solidFill>
                  <a:srgbClr val="A83033"/>
                </a:solidFill>
                <a:latin typeface="Calibri"/>
                <a:ea typeface="Calibri"/>
                <a:cs typeface="Calibri"/>
              </a:rPr>
              <a:t>Guarded uses 10.7% fewer replica-seconds than fixed in periodic demand and 2.0% fewer in flash demand.</a:t>
            </a:r>
          </a:p>
        </p:txBody>
      </p:sp>
      <p:sp>
        <p:nvSpPr>
          <p:cNvPr id="110" name="Rectangle 109">
            <a:extLst>
              <a:ext uri="{FF2B5EF4-FFF2-40B4-BE49-F238E27FC236}">
                <a16:creationId xmlns:a16="http://schemas.microsoft.com/office/drawing/2014/main" id="{1B70DC49-9943-447C-952B-13D8339F381B}"/>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14 / 24</a:t>
            </a:r>
          </a:p>
        </p:txBody>
      </p:sp>
    </p:spTree>
    <p:extLst>
      <p:ext uri="{BB962C8B-B14F-4D97-AF65-F5344CB8AC3E}">
        <p14:creationId xmlns:p14="http://schemas.microsoft.com/office/powerpoint/2010/main" val="1518820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5C5459ED-EBCC-4559-8EC4-C6F4628EC6A0}"/>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Utilization, cost and energy trade-offs</a:t>
            </a:r>
          </a:p>
        </p:txBody>
      </p:sp>
      <p:graphicFrame>
        <p:nvGraphicFramePr>
          <p:cNvPr id="108" name="Table 107">
            <a:extLst>
              <a:ext uri="{FF2B5EF4-FFF2-40B4-BE49-F238E27FC236}">
                <a16:creationId xmlns:a16="http://schemas.microsoft.com/office/drawing/2014/main" id="{978496E0-F603-49AB-9AED-9AB6CF1D83C5}"/>
              </a:ext>
            </a:extLst>
          </p:cNvPr>
          <p:cNvGraphicFramePr/>
          <p:nvPr/>
        </p:nvGraphicFramePr>
        <p:xfrm>
          <a:off x="2238375" y="2190750"/>
          <a:ext cx="13982700" cy="3143252"/>
        </p:xfrm>
        <a:graphic>
          <a:graphicData uri="http://schemas.openxmlformats.org/drawingml/2006/table">
            <a:tbl>
              <a:tblPr/>
              <a:tblGrid>
                <a:gridCol w="37147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600450">
                  <a:extLst>
                    <a:ext uri="{9D8B030D-6E8A-4147-A177-3AD203B41FA5}">
                      <a16:colId xmlns:a16="http://schemas.microsoft.com/office/drawing/2014/main" val="20003"/>
                    </a:ext>
                  </a:extLst>
                </a:gridCol>
              </a:tblGrid>
              <a:tr h="785813">
                <a:tc>
                  <a:txBody>
                    <a:bodyPr/>
                    <a:lstStyle/>
                    <a:p>
                      <a:r>
                        <a:rPr sz="2700" b="1">
                          <a:solidFill>
                            <a:srgbClr val="FFFFFF"/>
                          </a:solidFill>
                          <a:latin typeface="Calibri"/>
                          <a:ea typeface="Calibri"/>
                          <a:cs typeface="Calibri"/>
                        </a:rPr>
                        <a:t>Periodic policy</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CPU utilization</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Cost proxy</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Energy proxy</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785813">
                <a:tc>
                  <a:txBody>
                    <a:bodyPr/>
                    <a:lstStyle/>
                    <a:p>
                      <a:r>
                        <a:rPr sz="2700" b="0">
                          <a:solidFill>
                            <a:srgbClr val="333333"/>
                          </a:solidFill>
                          <a:latin typeface="Calibri"/>
                          <a:ea typeface="Calibri"/>
                          <a:cs typeface="Calibri"/>
                        </a:rPr>
                        <a:t>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22.2%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0.00400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2.22 Wh</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785813">
                <a:tc>
                  <a:txBody>
                    <a:bodyPr/>
                    <a:lstStyle/>
                    <a:p>
                      <a:r>
                        <a:rPr sz="2700" b="0">
                          <a:solidFill>
                            <a:srgbClr val="333333"/>
                          </a:solidFill>
                          <a:latin typeface="Calibri"/>
                          <a:ea typeface="Calibri"/>
                          <a:cs typeface="Calibri"/>
                        </a:rPr>
                        <a:t>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31.9%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0.00277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1.61 Wh</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785813">
                <a:tc>
                  <a:txBody>
                    <a:bodyPr/>
                    <a:lstStyle/>
                    <a:p>
                      <a:r>
                        <a:rPr sz="2700" b="0">
                          <a:solidFill>
                            <a:srgbClr val="333333"/>
                          </a:solidFill>
                          <a:latin typeface="Calibri"/>
                          <a:ea typeface="Calibri"/>
                          <a:cs typeface="Calibri"/>
                        </a:rPr>
                        <a:t>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25.4%</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0.00357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2.01 Wh</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09" name="Rectangle 108">
            <a:extLst>
              <a:ext uri="{FF2B5EF4-FFF2-40B4-BE49-F238E27FC236}">
                <a16:creationId xmlns:a16="http://schemas.microsoft.com/office/drawing/2014/main" id="{8414EC4C-6C80-4908-A5B3-D689F6E93379}"/>
              </a:ext>
            </a:extLst>
          </p:cNvPr>
          <p:cNvSpPr>
            <a:spLocks noGrp="1"/>
          </p:cNvSpPr>
          <p:nvPr/>
        </p:nvSpPr>
        <p:spPr>
          <a:xfrm>
            <a:off x="2238375" y="6000750"/>
            <a:ext cx="13982700" cy="1285875"/>
          </a:xfrm>
          <a:prstGeom prst="rect">
            <a:avLst/>
          </a:prstGeom>
          <a:noFill/>
          <a:ln w="0">
            <a:noFill/>
          </a:ln>
        </p:spPr>
        <p:txBody>
          <a:bodyPr lIns="0" tIns="0" rIns="0" bIns="0"/>
          <a:lstStyle>
            <a:defPPr>
              <a:defRPr sz="2700" b="0">
                <a:solidFill>
                  <a:srgbClr val="333333"/>
                </a:solidFill>
                <a:latin typeface="Calibri"/>
                <a:ea typeface="Calibri"/>
                <a:cs typeface="Calibri"/>
              </a:defRPr>
            </a:defPPr>
            <a:lvl1pPr>
              <a:defRPr sz="2700" b="0">
                <a:solidFill>
                  <a:srgbClr val="333333"/>
                </a:solidFill>
                <a:latin typeface="Calibri"/>
                <a:ea typeface="Calibri"/>
                <a:cs typeface="Calibri"/>
              </a:defRPr>
            </a:lvl1pPr>
            <a:lvl2pPr>
              <a:defRPr sz="2700" b="0">
                <a:solidFill>
                  <a:srgbClr val="333333"/>
                </a:solidFill>
                <a:latin typeface="Calibri"/>
                <a:ea typeface="Calibri"/>
                <a:cs typeface="Calibri"/>
              </a:defRPr>
            </a:lvl2pPr>
            <a:lvl3pPr>
              <a:defRPr sz="2700" b="0">
                <a:solidFill>
                  <a:srgbClr val="333333"/>
                </a:solidFill>
                <a:latin typeface="Calibri"/>
                <a:ea typeface="Calibri"/>
                <a:cs typeface="Calibri"/>
              </a:defRPr>
            </a:lvl3pPr>
            <a:lvl4pPr>
              <a:defRPr sz="2700" b="0">
                <a:solidFill>
                  <a:srgbClr val="333333"/>
                </a:solidFill>
                <a:latin typeface="Calibri"/>
                <a:ea typeface="Calibri"/>
                <a:cs typeface="Calibri"/>
              </a:defRPr>
            </a:lvl4pPr>
            <a:lvl5pPr>
              <a:defRPr sz="2700" b="0">
                <a:solidFill>
                  <a:srgbClr val="333333"/>
                </a:solidFill>
                <a:latin typeface="Calibri"/>
                <a:ea typeface="Calibri"/>
                <a:cs typeface="Calibri"/>
              </a:defRPr>
            </a:lvl5pPr>
            <a:lvl6pPr>
              <a:defRPr sz="2700" b="0">
                <a:solidFill>
                  <a:srgbClr val="333333"/>
                </a:solidFill>
                <a:latin typeface="Calibri"/>
                <a:ea typeface="Calibri"/>
                <a:cs typeface="Calibri"/>
              </a:defRPr>
            </a:lvl6pPr>
            <a:lvl7pPr>
              <a:defRPr sz="2700" b="0">
                <a:solidFill>
                  <a:srgbClr val="333333"/>
                </a:solidFill>
                <a:latin typeface="Calibri"/>
                <a:ea typeface="Calibri"/>
                <a:cs typeface="Calibri"/>
              </a:defRPr>
            </a:lvl7pPr>
            <a:lvl8pPr>
              <a:defRPr sz="2700" b="0">
                <a:solidFill>
                  <a:srgbClr val="333333"/>
                </a:solidFill>
                <a:latin typeface="Calibri"/>
                <a:ea typeface="Calibri"/>
                <a:cs typeface="Calibri"/>
              </a:defRPr>
            </a:lvl8pPr>
            <a:lvl9pPr>
              <a:defRPr sz="2700" b="0">
                <a:solidFill>
                  <a:srgbClr val="333333"/>
                </a:solidFill>
                <a:latin typeface="Calibri"/>
                <a:ea typeface="Calibri"/>
                <a:cs typeface="Calibri"/>
              </a:defRPr>
            </a:lvl9pPr>
          </a:lstStyle>
          <a:p>
            <a:pPr>
              <a:defRPr sz="2700" b="0">
                <a:solidFill>
                  <a:srgbClr val="333333"/>
                </a:solidFill>
                <a:latin typeface="Calibri"/>
                <a:ea typeface="Calibri"/>
                <a:cs typeface="Calibri"/>
              </a:defRPr>
            </a:pPr>
            <a:r>
              <a:rPr sz="2700" b="0">
                <a:solidFill>
                  <a:srgbClr val="333333"/>
                </a:solidFill>
                <a:latin typeface="Calibri"/>
                <a:ea typeface="Calibri"/>
                <a:cs typeface="Calibri"/>
              </a:rPr>
              <a:t>Cost = replica-hours × 0.02 illustrative units</a:t>
            </a:r>
          </a:p>
          <a:p>
            <a:pPr>
              <a:defRPr sz="2700" b="0">
                <a:solidFill>
                  <a:srgbClr val="333333"/>
                </a:solidFill>
                <a:latin typeface="Calibri"/>
                <a:ea typeface="Calibri"/>
                <a:cs typeface="Calibri"/>
              </a:defRPr>
            </a:pPr>
            <a:r>
              <a:rPr sz="2700" b="0">
                <a:solidFill>
                  <a:srgbClr val="333333"/>
                </a:solidFill>
                <a:latin typeface="Calibri"/>
                <a:ea typeface="Calibri"/>
                <a:cs typeface="Calibri"/>
              </a:rPr>
              <a:t>Energy = 10 W per allocated worker + 20 W per measured CPU core</a:t>
            </a:r>
          </a:p>
        </p:txBody>
      </p:sp>
      <p:sp>
        <p:nvSpPr>
          <p:cNvPr id="110" name="Rectangle 109">
            <a:extLst>
              <a:ext uri="{FF2B5EF4-FFF2-40B4-BE49-F238E27FC236}">
                <a16:creationId xmlns:a16="http://schemas.microsoft.com/office/drawing/2014/main" id="{91D798F3-9576-45FD-ACA4-4789D525159E}"/>
              </a:ext>
            </a:extLst>
          </p:cNvPr>
          <p:cNvSpPr>
            <a:spLocks noGrp="1"/>
          </p:cNvSpPr>
          <p:nvPr/>
        </p:nvSpPr>
        <p:spPr>
          <a:xfrm>
            <a:off x="2238375" y="7524750"/>
            <a:ext cx="13982700" cy="904875"/>
          </a:xfrm>
          <a:prstGeom prst="rect">
            <a:avLst/>
          </a:prstGeom>
          <a:noFill/>
          <a:ln w="0">
            <a:noFill/>
          </a:ln>
        </p:spPr>
        <p:txBody>
          <a:bodyPr lIns="0" tIns="0" rIns="0" bIns="0"/>
          <a:lstStyle>
            <a:defPPr>
              <a:defRPr sz="2400" b="0">
                <a:solidFill>
                  <a:srgbClr val="A83033"/>
                </a:solidFill>
                <a:latin typeface="Calibri"/>
                <a:ea typeface="Calibri"/>
                <a:cs typeface="Calibri"/>
              </a:defRPr>
            </a:defPPr>
            <a:lvl1pPr>
              <a:defRPr sz="2400" b="0">
                <a:solidFill>
                  <a:srgbClr val="A83033"/>
                </a:solidFill>
                <a:latin typeface="Calibri"/>
                <a:ea typeface="Calibri"/>
                <a:cs typeface="Calibri"/>
              </a:defRPr>
            </a:lvl1pPr>
            <a:lvl2pPr>
              <a:defRPr sz="2400" b="0">
                <a:solidFill>
                  <a:srgbClr val="A83033"/>
                </a:solidFill>
                <a:latin typeface="Calibri"/>
                <a:ea typeface="Calibri"/>
                <a:cs typeface="Calibri"/>
              </a:defRPr>
            </a:lvl2pPr>
            <a:lvl3pPr>
              <a:defRPr sz="2400" b="0">
                <a:solidFill>
                  <a:srgbClr val="A83033"/>
                </a:solidFill>
                <a:latin typeface="Calibri"/>
                <a:ea typeface="Calibri"/>
                <a:cs typeface="Calibri"/>
              </a:defRPr>
            </a:lvl3pPr>
            <a:lvl4pPr>
              <a:defRPr sz="2400" b="0">
                <a:solidFill>
                  <a:srgbClr val="A83033"/>
                </a:solidFill>
                <a:latin typeface="Calibri"/>
                <a:ea typeface="Calibri"/>
                <a:cs typeface="Calibri"/>
              </a:defRPr>
            </a:lvl4pPr>
            <a:lvl5pPr>
              <a:defRPr sz="2400" b="0">
                <a:solidFill>
                  <a:srgbClr val="A83033"/>
                </a:solidFill>
                <a:latin typeface="Calibri"/>
                <a:ea typeface="Calibri"/>
                <a:cs typeface="Calibri"/>
              </a:defRPr>
            </a:lvl5pPr>
            <a:lvl6pPr>
              <a:defRPr sz="2400" b="0">
                <a:solidFill>
                  <a:srgbClr val="A83033"/>
                </a:solidFill>
                <a:latin typeface="Calibri"/>
                <a:ea typeface="Calibri"/>
                <a:cs typeface="Calibri"/>
              </a:defRPr>
            </a:lvl6pPr>
            <a:lvl7pPr>
              <a:defRPr sz="2400" b="0">
                <a:solidFill>
                  <a:srgbClr val="A83033"/>
                </a:solidFill>
                <a:latin typeface="Calibri"/>
                <a:ea typeface="Calibri"/>
                <a:cs typeface="Calibri"/>
              </a:defRPr>
            </a:lvl7pPr>
            <a:lvl8pPr>
              <a:defRPr sz="2400" b="0">
                <a:solidFill>
                  <a:srgbClr val="A83033"/>
                </a:solidFill>
                <a:latin typeface="Calibri"/>
                <a:ea typeface="Calibri"/>
                <a:cs typeface="Calibri"/>
              </a:defRPr>
            </a:lvl8pPr>
            <a:lvl9pPr>
              <a:defRPr sz="2400" b="0">
                <a:solidFill>
                  <a:srgbClr val="A83033"/>
                </a:solidFill>
                <a:latin typeface="Calibri"/>
                <a:ea typeface="Calibri"/>
                <a:cs typeface="Calibri"/>
              </a:defRPr>
            </a:lvl9pPr>
          </a:lstStyle>
          <a:p>
            <a:pPr>
              <a:defRPr sz="2400" b="0">
                <a:solidFill>
                  <a:srgbClr val="A83033"/>
                </a:solidFill>
                <a:latin typeface="Calibri"/>
                <a:ea typeface="Calibri"/>
                <a:cs typeface="Calibri"/>
              </a:defRPr>
            </a:pPr>
            <a:r>
              <a:rPr sz="2400" b="0">
                <a:solidFill>
                  <a:srgbClr val="A83033"/>
                </a:solidFill>
                <a:latin typeface="Calibri"/>
                <a:ea typeface="Calibri"/>
                <a:cs typeface="Calibri"/>
              </a:rPr>
              <a:t>CPU utilization is measured against worker CPU allocation. Cost is not a cloud bill. Energy is an assumed power model.</a:t>
            </a:r>
          </a:p>
        </p:txBody>
      </p:sp>
      <p:sp>
        <p:nvSpPr>
          <p:cNvPr id="111" name="Rectangle 110">
            <a:extLst>
              <a:ext uri="{FF2B5EF4-FFF2-40B4-BE49-F238E27FC236}">
                <a16:creationId xmlns:a16="http://schemas.microsoft.com/office/drawing/2014/main" id="{40B272D9-9FAE-4569-904E-3C27FC4A2DA7}"/>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15 / 24</a:t>
            </a:r>
          </a:p>
        </p:txBody>
      </p:sp>
    </p:spTree>
    <p:extLst>
      <p:ext uri="{BB962C8B-B14F-4D97-AF65-F5344CB8AC3E}">
        <p14:creationId xmlns:p14="http://schemas.microsoft.com/office/powerpoint/2010/main" val="1518820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79621402-689B-4BC7-8DD9-F58B06B428EF}"/>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Persistence wins on the recorded replays</a:t>
            </a:r>
          </a:p>
        </p:txBody>
      </p:sp>
      <p:graphicFrame>
        <p:nvGraphicFramePr>
          <p:cNvPr id="108" name="Table 107">
            <a:extLst>
              <a:ext uri="{FF2B5EF4-FFF2-40B4-BE49-F238E27FC236}">
                <a16:creationId xmlns:a16="http://schemas.microsoft.com/office/drawing/2014/main" id="{A04D6255-2374-4A5C-8AE0-9B2341371AAE}"/>
              </a:ext>
            </a:extLst>
          </p:cNvPr>
          <p:cNvGraphicFramePr/>
          <p:nvPr/>
        </p:nvGraphicFramePr>
        <p:xfrm>
          <a:off x="2238375" y="2190750"/>
          <a:ext cx="13982700" cy="3333752"/>
        </p:xfrm>
        <a:graphic>
          <a:graphicData uri="http://schemas.openxmlformats.org/drawingml/2006/table">
            <a:tbl>
              <a:tblPr/>
              <a:tblGrid>
                <a:gridCol w="9906000">
                  <a:extLst>
                    <a:ext uri="{9D8B030D-6E8A-4147-A177-3AD203B41FA5}">
                      <a16:colId xmlns:a16="http://schemas.microsoft.com/office/drawing/2014/main" val="20000"/>
                    </a:ext>
                  </a:extLst>
                </a:gridCol>
                <a:gridCol w="4076700">
                  <a:extLst>
                    <a:ext uri="{9D8B030D-6E8A-4147-A177-3AD203B41FA5}">
                      <a16:colId xmlns:a16="http://schemas.microsoft.com/office/drawing/2014/main" val="20001"/>
                    </a:ext>
                  </a:extLst>
                </a:gridCol>
              </a:tblGrid>
              <a:tr h="833438">
                <a:tc>
                  <a:txBody>
                    <a:bodyPr/>
                    <a:lstStyle/>
                    <a:p>
                      <a:r>
                        <a:rPr sz="2850" b="1">
                          <a:solidFill>
                            <a:srgbClr val="FFFFFF"/>
                          </a:solidFill>
                          <a:latin typeface="Calibri"/>
                          <a:ea typeface="Calibri"/>
                          <a:cs typeface="Calibri"/>
                        </a:rPr>
                        <a:t>64 main-replay forecast targets</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850" b="1">
                          <a:solidFill>
                            <a:srgbClr val="FFFFFF"/>
                          </a:solidFill>
                          <a:latin typeface="Calibri"/>
                          <a:ea typeface="Calibri"/>
                          <a:cs typeface="Calibri"/>
                        </a:rPr>
                        <a:t>MAE,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33438">
                <a:tc>
                  <a:txBody>
                    <a:bodyPr/>
                    <a:lstStyle/>
                    <a:p>
                      <a:r>
                        <a:rPr sz="2850" b="0">
                          <a:solidFill>
                            <a:srgbClr val="333333"/>
                          </a:solidFill>
                          <a:latin typeface="Calibri"/>
                          <a:ea typeface="Calibri"/>
                          <a:cs typeface="Calibri"/>
                        </a:rPr>
                        <a:t>Ridge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850" b="0">
                          <a:solidFill>
                            <a:srgbClr val="333333"/>
                          </a:solidFill>
                          <a:latin typeface="Calibri"/>
                          <a:ea typeface="Calibri"/>
                          <a:cs typeface="Calibri"/>
                        </a:rPr>
                        <a:t>11.24</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33438">
                <a:tc>
                  <a:txBody>
                    <a:bodyPr/>
                    <a:lstStyle/>
                    <a:p>
                      <a:r>
                        <a:rPr sz="2850" b="0">
                          <a:solidFill>
                            <a:srgbClr val="333333"/>
                          </a:solidFill>
                          <a:latin typeface="Calibri"/>
                          <a:ea typeface="Calibri"/>
                          <a:cs typeface="Calibri"/>
                        </a:rPr>
                        <a:t>Persistence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850" b="0">
                          <a:solidFill>
                            <a:srgbClr val="333333"/>
                          </a:solidFill>
                          <a:latin typeface="Calibri"/>
                          <a:ea typeface="Calibri"/>
                          <a:cs typeface="Calibri"/>
                        </a:rPr>
                        <a:t>9.39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33438">
                <a:tc>
                  <a:txBody>
                    <a:bodyPr/>
                    <a:lstStyle/>
                    <a:p>
                      <a:r>
                        <a:rPr sz="2850" b="0">
                          <a:solidFill>
                            <a:srgbClr val="333333"/>
                          </a:solidFill>
                          <a:latin typeface="Calibri"/>
                          <a:ea typeface="Calibri"/>
                          <a:cs typeface="Calibri"/>
                        </a:rPr>
                        <a:t>Trailing five-window mean</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850" b="0">
                          <a:solidFill>
                            <a:srgbClr val="333333"/>
                          </a:solidFill>
                          <a:latin typeface="Calibri"/>
                          <a:ea typeface="Calibri"/>
                          <a:cs typeface="Calibri"/>
                        </a:rPr>
                        <a:t>12.06</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09" name="Rectangle 108">
            <a:extLst>
              <a:ext uri="{FF2B5EF4-FFF2-40B4-BE49-F238E27FC236}">
                <a16:creationId xmlns:a16="http://schemas.microsoft.com/office/drawing/2014/main" id="{9C38A22D-46E7-4090-803D-D3E3FC69665F}"/>
              </a:ext>
            </a:extLst>
          </p:cNvPr>
          <p:cNvSpPr>
            <a:spLocks noGrp="1"/>
          </p:cNvSpPr>
          <p:nvPr/>
        </p:nvSpPr>
        <p:spPr>
          <a:xfrm>
            <a:off x="2238375" y="6191250"/>
            <a:ext cx="13982700" cy="1047750"/>
          </a:xfrm>
          <a:prstGeom prst="rect">
            <a:avLst/>
          </a:prstGeom>
          <a:noFill/>
          <a:ln w="0">
            <a:noFill/>
          </a:ln>
        </p:spPr>
        <p:txBody>
          <a:bodyPr lIns="0" tIns="0" rIns="0" bIns="0"/>
          <a:lstStyle>
            <a:defPPr>
              <a:defRPr sz="3225" b="1">
                <a:solidFill>
                  <a:srgbClr val="A83033"/>
                </a:solidFill>
                <a:latin typeface="Calibri"/>
                <a:ea typeface="Calibri"/>
                <a:cs typeface="Calibri"/>
              </a:defRPr>
            </a:defPPr>
            <a:lvl1pPr>
              <a:defRPr sz="3225" b="1">
                <a:solidFill>
                  <a:srgbClr val="A83033"/>
                </a:solidFill>
                <a:latin typeface="Calibri"/>
                <a:ea typeface="Calibri"/>
                <a:cs typeface="Calibri"/>
              </a:defRPr>
            </a:lvl1pPr>
            <a:lvl2pPr>
              <a:defRPr sz="3225" b="1">
                <a:solidFill>
                  <a:srgbClr val="A83033"/>
                </a:solidFill>
                <a:latin typeface="Calibri"/>
                <a:ea typeface="Calibri"/>
                <a:cs typeface="Calibri"/>
              </a:defRPr>
            </a:lvl2pPr>
            <a:lvl3pPr>
              <a:defRPr sz="3225" b="1">
                <a:solidFill>
                  <a:srgbClr val="A83033"/>
                </a:solidFill>
                <a:latin typeface="Calibri"/>
                <a:ea typeface="Calibri"/>
                <a:cs typeface="Calibri"/>
              </a:defRPr>
            </a:lvl3pPr>
            <a:lvl4pPr>
              <a:defRPr sz="3225" b="1">
                <a:solidFill>
                  <a:srgbClr val="A83033"/>
                </a:solidFill>
                <a:latin typeface="Calibri"/>
                <a:ea typeface="Calibri"/>
                <a:cs typeface="Calibri"/>
              </a:defRPr>
            </a:lvl4pPr>
            <a:lvl5pPr>
              <a:defRPr sz="3225" b="1">
                <a:solidFill>
                  <a:srgbClr val="A83033"/>
                </a:solidFill>
                <a:latin typeface="Calibri"/>
                <a:ea typeface="Calibri"/>
                <a:cs typeface="Calibri"/>
              </a:defRPr>
            </a:lvl5pPr>
            <a:lvl6pPr>
              <a:defRPr sz="3225" b="1">
                <a:solidFill>
                  <a:srgbClr val="A83033"/>
                </a:solidFill>
                <a:latin typeface="Calibri"/>
                <a:ea typeface="Calibri"/>
                <a:cs typeface="Calibri"/>
              </a:defRPr>
            </a:lvl6pPr>
            <a:lvl7pPr>
              <a:defRPr sz="3225" b="1">
                <a:solidFill>
                  <a:srgbClr val="A83033"/>
                </a:solidFill>
                <a:latin typeface="Calibri"/>
                <a:ea typeface="Calibri"/>
                <a:cs typeface="Calibri"/>
              </a:defRPr>
            </a:lvl7pPr>
            <a:lvl8pPr>
              <a:defRPr sz="3225" b="1">
                <a:solidFill>
                  <a:srgbClr val="A83033"/>
                </a:solidFill>
                <a:latin typeface="Calibri"/>
                <a:ea typeface="Calibri"/>
                <a:cs typeface="Calibri"/>
              </a:defRPr>
            </a:lvl8pPr>
            <a:lvl9pPr>
              <a:defRPr sz="3225" b="1">
                <a:solidFill>
                  <a:srgbClr val="A83033"/>
                </a:solidFill>
                <a:latin typeface="Calibri"/>
                <a:ea typeface="Calibri"/>
                <a:cs typeface="Calibri"/>
              </a:defRPr>
            </a:lvl9pPr>
          </a:lstStyle>
          <a:p>
            <a:pPr>
              <a:defRPr sz="3225" b="1">
                <a:solidFill>
                  <a:srgbClr val="A83033"/>
                </a:solidFill>
                <a:latin typeface="Calibri"/>
                <a:ea typeface="Calibri"/>
                <a:cs typeface="Calibri"/>
              </a:defRPr>
            </a:pPr>
            <a:r>
              <a:rPr sz="3225" b="1">
                <a:solidFill>
                  <a:srgbClr val="A83033"/>
                </a:solidFill>
                <a:latin typeface="Calibri"/>
                <a:ea typeface="Calibri"/>
                <a:cs typeface="Calibri"/>
              </a:rPr>
              <a:t>Persistence wins overall on these replays. Ridge does better during falling demand.</a:t>
            </a:r>
          </a:p>
        </p:txBody>
      </p:sp>
      <p:sp>
        <p:nvSpPr>
          <p:cNvPr id="110" name="Rectangle 109">
            <a:extLst>
              <a:ext uri="{FF2B5EF4-FFF2-40B4-BE49-F238E27FC236}">
                <a16:creationId xmlns:a16="http://schemas.microsoft.com/office/drawing/2014/main" id="{C04D927D-2A52-46FC-AB26-560A12D59115}"/>
              </a:ext>
            </a:extLst>
          </p:cNvPr>
          <p:cNvSpPr>
            <a:spLocks noGrp="1"/>
          </p:cNvSpPr>
          <p:nvPr/>
        </p:nvSpPr>
        <p:spPr>
          <a:xfrm>
            <a:off x="2238375" y="7572375"/>
            <a:ext cx="13982700" cy="714375"/>
          </a:xfrm>
          <a:prstGeom prst="rect">
            <a:avLst/>
          </a:prstGeom>
          <a:noFill/>
          <a:ln w="0">
            <a:noFill/>
          </a:ln>
        </p:spPr>
        <p:txBody>
          <a:bodyPr lIns="0" tIns="0" rIns="0" bIns="0"/>
          <a:lstStyle>
            <a:defPPr>
              <a:defRPr sz="2775" b="0">
                <a:solidFill>
                  <a:srgbClr val="333333"/>
                </a:solidFill>
                <a:latin typeface="Calibri"/>
                <a:ea typeface="Calibri"/>
                <a:cs typeface="Calibri"/>
              </a:defRPr>
            </a:defPPr>
            <a:lvl1pPr>
              <a:defRPr sz="2775" b="0">
                <a:solidFill>
                  <a:srgbClr val="333333"/>
                </a:solidFill>
                <a:latin typeface="Calibri"/>
                <a:ea typeface="Calibri"/>
                <a:cs typeface="Calibri"/>
              </a:defRPr>
            </a:lvl1pPr>
            <a:lvl2pPr>
              <a:defRPr sz="2775" b="0">
                <a:solidFill>
                  <a:srgbClr val="333333"/>
                </a:solidFill>
                <a:latin typeface="Calibri"/>
                <a:ea typeface="Calibri"/>
                <a:cs typeface="Calibri"/>
              </a:defRPr>
            </a:lvl2pPr>
            <a:lvl3pPr>
              <a:defRPr sz="2775" b="0">
                <a:solidFill>
                  <a:srgbClr val="333333"/>
                </a:solidFill>
                <a:latin typeface="Calibri"/>
                <a:ea typeface="Calibri"/>
                <a:cs typeface="Calibri"/>
              </a:defRPr>
            </a:lvl3pPr>
            <a:lvl4pPr>
              <a:defRPr sz="2775" b="0">
                <a:solidFill>
                  <a:srgbClr val="333333"/>
                </a:solidFill>
                <a:latin typeface="Calibri"/>
                <a:ea typeface="Calibri"/>
                <a:cs typeface="Calibri"/>
              </a:defRPr>
            </a:lvl4pPr>
            <a:lvl5pPr>
              <a:defRPr sz="2775" b="0">
                <a:solidFill>
                  <a:srgbClr val="333333"/>
                </a:solidFill>
                <a:latin typeface="Calibri"/>
                <a:ea typeface="Calibri"/>
                <a:cs typeface="Calibri"/>
              </a:defRPr>
            </a:lvl5pPr>
            <a:lvl6pPr>
              <a:defRPr sz="2775" b="0">
                <a:solidFill>
                  <a:srgbClr val="333333"/>
                </a:solidFill>
                <a:latin typeface="Calibri"/>
                <a:ea typeface="Calibri"/>
                <a:cs typeface="Calibri"/>
              </a:defRPr>
            </a:lvl6pPr>
            <a:lvl7pPr>
              <a:defRPr sz="2775" b="0">
                <a:solidFill>
                  <a:srgbClr val="333333"/>
                </a:solidFill>
                <a:latin typeface="Calibri"/>
                <a:ea typeface="Calibri"/>
                <a:cs typeface="Calibri"/>
              </a:defRPr>
            </a:lvl7pPr>
            <a:lvl8pPr>
              <a:defRPr sz="2775" b="0">
                <a:solidFill>
                  <a:srgbClr val="333333"/>
                </a:solidFill>
                <a:latin typeface="Calibri"/>
                <a:ea typeface="Calibri"/>
                <a:cs typeface="Calibri"/>
              </a:defRPr>
            </a:lvl8pPr>
            <a:lvl9pPr>
              <a:defRPr sz="2775" b="0">
                <a:solidFill>
                  <a:srgbClr val="333333"/>
                </a:solidFill>
                <a:latin typeface="Calibri"/>
                <a:ea typeface="Calibri"/>
                <a:cs typeface="Calibri"/>
              </a:defRPr>
            </a:lvl9pPr>
          </a:lstStyle>
          <a:p>
            <a:pPr>
              <a:defRPr sz="2775" b="0">
                <a:solidFill>
                  <a:srgbClr val="333333"/>
                </a:solidFill>
                <a:latin typeface="Calibri"/>
                <a:ea typeface="Calibri"/>
                <a:cs typeface="Calibri"/>
              </a:defRPr>
            </a:pPr>
            <a:r>
              <a:rPr sz="2775" b="0">
                <a:solidFill>
                  <a:srgbClr val="333333"/>
                </a:solidFill>
                <a:latin typeface="Calibri"/>
                <a:ea typeface="Calibri"/>
                <a:cs typeface="Calibri"/>
              </a:rPr>
              <a:t>The measured controller result depends on its guardrails as well as its forecast.</a:t>
            </a:r>
          </a:p>
        </p:txBody>
      </p:sp>
      <p:sp>
        <p:nvSpPr>
          <p:cNvPr id="111" name="Rectangle 110">
            <a:extLst>
              <a:ext uri="{FF2B5EF4-FFF2-40B4-BE49-F238E27FC236}">
                <a16:creationId xmlns:a16="http://schemas.microsoft.com/office/drawing/2014/main" id="{51EB615F-41C7-4823-BA8B-8C3E3126E312}"/>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16 / 24</a:t>
            </a:r>
          </a:p>
        </p:txBody>
      </p:sp>
    </p:spTree>
    <p:extLst>
      <p:ext uri="{BB962C8B-B14F-4D97-AF65-F5344CB8AC3E}">
        <p14:creationId xmlns:p14="http://schemas.microsoft.com/office/powerpoint/2010/main" val="151882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3E903A84-9025-457D-B247-1ADAA714129E}"/>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Fault test: plain prediction under zero forecasts</a:t>
            </a:r>
          </a:p>
        </p:txBody>
      </p:sp>
      <p:pic>
        <p:nvPicPr>
          <p:cNvPr id="108" name="Picture 107">
            <a:extLst>
              <a:ext uri="{FF2B5EF4-FFF2-40B4-BE49-F238E27FC236}">
                <a16:creationId xmlns:a16="http://schemas.microsoft.com/office/drawing/2014/main" id="{AD4C9653-81F0-4CB1-948E-6E49E9AAFBE3}"/>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E40A9792-AB54-4139-A71C-A3AAAC9EAAE4}"/>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13.35% failures</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1,547.7 ms run p95</a:t>
            </a:r>
          </a:p>
        </p:txBody>
      </p:sp>
      <p:sp>
        <p:nvSpPr>
          <p:cNvPr id="110" name="Rectangle 109">
            <a:extLst>
              <a:ext uri="{FF2B5EF4-FFF2-40B4-BE49-F238E27FC236}">
                <a16:creationId xmlns:a16="http://schemas.microsoft.com/office/drawing/2014/main" id="{0DDFFF39-8687-4CE8-8C1A-03E514B7958C}"/>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The predictor deliberately returns zero.</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Plain prediction removes capacity despite rising demand.</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The screenshot shows one overloaded window.</a:t>
            </a:r>
          </a:p>
        </p:txBody>
      </p:sp>
      <p:sp>
        <p:nvSpPr>
          <p:cNvPr id="111" name="Rectangle 110">
            <a:extLst>
              <a:ext uri="{FF2B5EF4-FFF2-40B4-BE49-F238E27FC236}">
                <a16:creationId xmlns:a16="http://schemas.microsoft.com/office/drawing/2014/main" id="{F68DDB5A-28B5-45BE-9ECF-BE14AF58D1E8}"/>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17 / 24</a:t>
            </a:r>
          </a:p>
        </p:txBody>
      </p:sp>
    </p:spTree>
    <p:extLst>
      <p:ext uri="{BB962C8B-B14F-4D97-AF65-F5344CB8AC3E}">
        <p14:creationId xmlns:p14="http://schemas.microsoft.com/office/powerpoint/2010/main" val="1518820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E6ADCB40-6DEE-4187-8812-B4DE85576717}"/>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Fault test: recovery despite a zero forecast</a:t>
            </a:r>
          </a:p>
        </p:txBody>
      </p:sp>
      <p:pic>
        <p:nvPicPr>
          <p:cNvPr id="108" name="Picture 107">
            <a:extLst>
              <a:ext uri="{FF2B5EF4-FFF2-40B4-BE49-F238E27FC236}">
                <a16:creationId xmlns:a16="http://schemas.microsoft.com/office/drawing/2014/main" id="{7F174581-1626-4C41-AE7C-CC1B2B686200}"/>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82E18F63-1BBE-4486-87B7-0E4227C886B1}"/>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0% failures</a:t>
            </a:r>
          </a:p>
          <a:p>
            <a:pPr>
              <a:defRPr sz="2700" b="1">
                <a:solidFill>
                  <a:srgbClr val="A83033"/>
                </a:solidFill>
                <a:latin typeface="Calibri"/>
                <a:ea typeface="Calibri"/>
                <a:cs typeface="Calibri"/>
              </a:defRPr>
            </a:pPr>
            <a:r>
              <a:rPr sz="2700" b="1">
                <a:solidFill>
                  <a:srgbClr val="A83033"/>
                </a:solidFill>
                <a:latin typeface="Calibri"/>
                <a:ea typeface="Calibri"/>
                <a:cs typeface="Calibri"/>
              </a:rPr>
              <a:t>215.1 ms run p95</a:t>
            </a:r>
          </a:p>
        </p:txBody>
      </p:sp>
      <p:sp>
        <p:nvSpPr>
          <p:cNvPr id="110" name="Rectangle 109">
            <a:extLst>
              <a:ext uri="{FF2B5EF4-FFF2-40B4-BE49-F238E27FC236}">
                <a16:creationId xmlns:a16="http://schemas.microsoft.com/office/drawing/2014/main" id="{F6D54A83-0EDC-40CF-B927-731168F68573}"/>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defRPr sz="2475" b="0">
                <a:solidFill>
                  <a:srgbClr val="333333"/>
                </a:solidFill>
                <a:latin typeface="Calibri"/>
                <a:ea typeface="Calibri"/>
                <a:cs typeface="Calibri"/>
              </a:defRPr>
            </a:lvl1pPr>
            <a:lvl2pPr>
              <a:defRPr sz="2475" b="0">
                <a:solidFill>
                  <a:srgbClr val="333333"/>
                </a:solidFill>
                <a:latin typeface="Calibri"/>
                <a:ea typeface="Calibri"/>
                <a:cs typeface="Calibri"/>
              </a:defRPr>
            </a:lvl2pPr>
            <a:lvl3pPr>
              <a:defRPr sz="2475" b="0">
                <a:solidFill>
                  <a:srgbClr val="333333"/>
                </a:solidFill>
                <a:latin typeface="Calibri"/>
                <a:ea typeface="Calibri"/>
                <a:cs typeface="Calibri"/>
              </a:defRPr>
            </a:lvl3pPr>
            <a:lvl4pPr>
              <a:defRPr sz="2475" b="0">
                <a:solidFill>
                  <a:srgbClr val="333333"/>
                </a:solidFill>
                <a:latin typeface="Calibri"/>
                <a:ea typeface="Calibri"/>
                <a:cs typeface="Calibri"/>
              </a:defRPr>
            </a:lvl4pPr>
            <a:lvl5pPr>
              <a:defRPr sz="2475" b="0">
                <a:solidFill>
                  <a:srgbClr val="333333"/>
                </a:solidFill>
                <a:latin typeface="Calibri"/>
                <a:ea typeface="Calibri"/>
                <a:cs typeface="Calibri"/>
              </a:defRPr>
            </a:lvl5pPr>
            <a:lvl6pPr>
              <a:defRPr sz="2475" b="0">
                <a:solidFill>
                  <a:srgbClr val="333333"/>
                </a:solidFill>
                <a:latin typeface="Calibri"/>
                <a:ea typeface="Calibri"/>
                <a:cs typeface="Calibri"/>
              </a:defRPr>
            </a:lvl6pPr>
            <a:lvl7pPr>
              <a:defRPr sz="2475" b="0">
                <a:solidFill>
                  <a:srgbClr val="333333"/>
                </a:solidFill>
                <a:latin typeface="Calibri"/>
                <a:ea typeface="Calibri"/>
                <a:cs typeface="Calibri"/>
              </a:defRPr>
            </a:lvl7pPr>
            <a:lvl8pPr>
              <a:defRPr sz="2475" b="0">
                <a:solidFill>
                  <a:srgbClr val="333333"/>
                </a:solidFill>
                <a:latin typeface="Calibri"/>
                <a:ea typeface="Calibri"/>
                <a:cs typeface="Calibri"/>
              </a:defRPr>
            </a:lvl8pPr>
            <a:lvl9pPr>
              <a:defRPr sz="2475" b="0">
                <a:solidFill>
                  <a:srgbClr val="333333"/>
                </a:solidFill>
                <a:latin typeface="Calibri"/>
                <a:ea typeface="Calibri"/>
                <a:cs typeface="Calibri"/>
              </a:defRPr>
            </a:lvl9pPr>
          </a:lstStyle>
          <a:p>
            <a:pPr>
              <a:defRPr sz="2475" b="0">
                <a:solidFill>
                  <a:srgbClr val="333333"/>
                </a:solidFill>
                <a:latin typeface="Calibri"/>
                <a:ea typeface="Calibri"/>
                <a:cs typeface="Calibri"/>
              </a:defRPr>
            </a:pPr>
            <a:r>
              <a:rPr sz="2475" b="0">
                <a:solidFill>
                  <a:srgbClr val="333333"/>
                </a:solidFill>
                <a:latin typeface="Calibri"/>
                <a:ea typeface="Calibri"/>
                <a:cs typeface="Calibri"/>
              </a:rPr>
              <a:t>Same planned workload and zero forecast.</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Guarded scaling adds capacity using observed demand and SLA signals.</a:t>
            </a:r>
          </a:p>
          <a:p>
            <a:endParaRPr sz="2475" b="0">
              <a:solidFill>
                <a:srgbClr val="333333"/>
              </a:solidFill>
              <a:latin typeface="Calibri"/>
              <a:ea typeface="Calibri"/>
              <a:cs typeface="Calibri"/>
            </a:endParaRPr>
          </a:p>
          <a:p>
            <a:pPr>
              <a:defRPr sz="2475" b="0">
                <a:solidFill>
                  <a:srgbClr val="333333"/>
                </a:solidFill>
                <a:latin typeface="Calibri"/>
                <a:ea typeface="Calibri"/>
                <a:cs typeface="Calibri"/>
              </a:defRPr>
            </a:pPr>
            <a:r>
              <a:rPr sz="2475" b="0">
                <a:solidFill>
                  <a:srgbClr val="333333"/>
                </a:solidFill>
                <a:latin typeface="Calibri"/>
                <a:ea typeface="Calibri"/>
                <a:cs typeface="Calibri"/>
              </a:rPr>
              <a:t>One scored window still violates the target.</a:t>
            </a:r>
          </a:p>
        </p:txBody>
      </p:sp>
      <p:sp>
        <p:nvSpPr>
          <p:cNvPr id="111" name="Rectangle 110">
            <a:extLst>
              <a:ext uri="{FF2B5EF4-FFF2-40B4-BE49-F238E27FC236}">
                <a16:creationId xmlns:a16="http://schemas.microsoft.com/office/drawing/2014/main" id="{6BB083F3-937E-41C2-A41E-BE596188B205}"/>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18 / 24</a:t>
            </a:r>
          </a:p>
        </p:txBody>
      </p:sp>
    </p:spTree>
    <p:extLst>
      <p:ext uri="{BB962C8B-B14F-4D97-AF65-F5344CB8AC3E}">
        <p14:creationId xmlns:p14="http://schemas.microsoft.com/office/powerpoint/2010/main" val="1518820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4518FFDF-AB78-425E-8D23-799CF04584E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A hard budget can prevent SLA recovery</a:t>
            </a:r>
          </a:p>
        </p:txBody>
      </p:sp>
      <p:graphicFrame>
        <p:nvGraphicFramePr>
          <p:cNvPr id="108" name="Table 107">
            <a:extLst>
              <a:ext uri="{FF2B5EF4-FFF2-40B4-BE49-F238E27FC236}">
                <a16:creationId xmlns:a16="http://schemas.microsoft.com/office/drawing/2014/main" id="{FCFD9032-779B-4A85-82DD-D1B395BC4ED2}"/>
              </a:ext>
            </a:extLst>
          </p:cNvPr>
          <p:cNvGraphicFramePr/>
          <p:nvPr/>
        </p:nvGraphicFramePr>
        <p:xfrm>
          <a:off x="2238375" y="2190750"/>
          <a:ext cx="13982700" cy="4191000"/>
        </p:xfrm>
        <a:graphic>
          <a:graphicData uri="http://schemas.openxmlformats.org/drawingml/2006/table">
            <a:tbl>
              <a:tblPr/>
              <a:tblGrid>
                <a:gridCol w="9620250">
                  <a:extLst>
                    <a:ext uri="{9D8B030D-6E8A-4147-A177-3AD203B41FA5}">
                      <a16:colId xmlns:a16="http://schemas.microsoft.com/office/drawing/2014/main" val="20000"/>
                    </a:ext>
                  </a:extLst>
                </a:gridCol>
                <a:gridCol w="4362450">
                  <a:extLst>
                    <a:ext uri="{9D8B030D-6E8A-4147-A177-3AD203B41FA5}">
                      <a16:colId xmlns:a16="http://schemas.microsoft.com/office/drawing/2014/main" val="20001"/>
                    </a:ext>
                  </a:extLst>
                </a:gridCol>
              </a:tblGrid>
              <a:tr h="838200">
                <a:tc>
                  <a:txBody>
                    <a:bodyPr/>
                    <a:lstStyle/>
                    <a:p>
                      <a:r>
                        <a:rPr sz="2775" b="1">
                          <a:solidFill>
                            <a:srgbClr val="FFFFFF"/>
                          </a:solidFill>
                          <a:latin typeface="Calibri"/>
                          <a:ea typeface="Calibri"/>
                          <a:cs typeface="Calibri"/>
                        </a:rPr>
                        <a:t>One-replica budget stress</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75" b="1">
                          <a:solidFill>
                            <a:srgbClr val="FFFFFF"/>
                          </a:solidFill>
                          <a:latin typeface="Calibri"/>
                          <a:ea typeface="Calibri"/>
                          <a:cs typeface="Calibri"/>
                        </a:rPr>
                        <a:t>Measured outcome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38200">
                <a:tc>
                  <a:txBody>
                    <a:bodyPr/>
                    <a:lstStyle/>
                    <a:p>
                      <a:r>
                        <a:rPr sz="2775" b="0">
                          <a:solidFill>
                            <a:srgbClr val="333333"/>
                          </a:solidFill>
                          <a:latin typeface="Calibri"/>
                          <a:ea typeface="Calibri"/>
                          <a:cs typeface="Calibri"/>
                        </a:rPr>
                        <a:t>Maximum allowed replicas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75" b="0">
                          <a:solidFill>
                            <a:srgbClr val="333333"/>
                          </a:solidFill>
                          <a:latin typeface="Calibri"/>
                          <a:ea typeface="Calibri"/>
                          <a:cs typeface="Calibri"/>
                        </a:rPr>
                        <a:t>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38200">
                <a:tc>
                  <a:txBody>
                    <a:bodyPr/>
                    <a:lstStyle/>
                    <a:p>
                      <a:r>
                        <a:rPr sz="2775" b="0">
                          <a:solidFill>
                            <a:srgbClr val="333333"/>
                          </a:solidFill>
                          <a:latin typeface="Calibri"/>
                          <a:ea typeface="Calibri"/>
                          <a:cs typeface="Calibri"/>
                        </a:rPr>
                        <a:t>Failed requests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75" b="0">
                          <a:solidFill>
                            <a:srgbClr val="333333"/>
                          </a:solidFill>
                          <a:latin typeface="Calibri"/>
                          <a:ea typeface="Calibri"/>
                          <a:cs typeface="Calibri"/>
                        </a:rPr>
                        <a:t>17.73%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38200">
                <a:tc>
                  <a:txBody>
                    <a:bodyPr/>
                    <a:lstStyle/>
                    <a:p>
                      <a:r>
                        <a:rPr sz="2775" b="0">
                          <a:solidFill>
                            <a:srgbClr val="333333"/>
                          </a:solidFill>
                          <a:latin typeface="Calibri"/>
                          <a:ea typeface="Calibri"/>
                          <a:cs typeface="Calibri"/>
                        </a:rPr>
                        <a:t>Run p95 latency</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75" b="0">
                          <a:solidFill>
                            <a:srgbClr val="333333"/>
                          </a:solidFill>
                          <a:latin typeface="Calibri"/>
                          <a:ea typeface="Calibri"/>
                          <a:cs typeface="Calibri"/>
                        </a:rPr>
                        <a:t>1,563.2 ms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838200">
                <a:tc>
                  <a:txBody>
                    <a:bodyPr/>
                    <a:lstStyle/>
                    <a:p>
                      <a:r>
                        <a:rPr sz="2775" b="0">
                          <a:solidFill>
                            <a:srgbClr val="333333"/>
                          </a:solidFill>
                          <a:latin typeface="Calibri"/>
                          <a:ea typeface="Calibri"/>
                          <a:cs typeface="Calibri"/>
                        </a:rPr>
                        <a:t>Violating scored windows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75" b="0">
                          <a:solidFill>
                            <a:srgbClr val="333333"/>
                          </a:solidFill>
                          <a:latin typeface="Calibri"/>
                          <a:ea typeface="Calibri"/>
                          <a:cs typeface="Calibri"/>
                        </a:rPr>
                        <a:t>66.7%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9" name="Rectangle 108">
            <a:extLst>
              <a:ext uri="{FF2B5EF4-FFF2-40B4-BE49-F238E27FC236}">
                <a16:creationId xmlns:a16="http://schemas.microsoft.com/office/drawing/2014/main" id="{C0246F59-6AE0-4BFB-BDB2-65C198917878}"/>
              </a:ext>
            </a:extLst>
          </p:cNvPr>
          <p:cNvSpPr>
            <a:spLocks noGrp="1"/>
          </p:cNvSpPr>
          <p:nvPr/>
        </p:nvSpPr>
        <p:spPr>
          <a:xfrm>
            <a:off x="2238375" y="7048500"/>
            <a:ext cx="13982700" cy="1285875"/>
          </a:xfrm>
          <a:prstGeom prst="rect">
            <a:avLst/>
          </a:prstGeom>
          <a:noFill/>
          <a:ln w="0">
            <a:noFill/>
          </a:ln>
        </p:spPr>
        <p:txBody>
          <a:bodyPr lIns="0" tIns="0" rIns="0" bIns="0"/>
          <a:lstStyle>
            <a:defPPr>
              <a:defRPr sz="2925" b="1">
                <a:solidFill>
                  <a:srgbClr val="A83033"/>
                </a:solidFill>
                <a:latin typeface="Calibri"/>
                <a:ea typeface="Calibri"/>
                <a:cs typeface="Calibri"/>
              </a:defRPr>
            </a:defPPr>
            <a:lvl1pPr>
              <a:defRPr sz="2925" b="1">
                <a:solidFill>
                  <a:srgbClr val="A83033"/>
                </a:solidFill>
                <a:latin typeface="Calibri"/>
                <a:ea typeface="Calibri"/>
                <a:cs typeface="Calibri"/>
              </a:defRPr>
            </a:lvl1pPr>
            <a:lvl2pPr>
              <a:defRPr sz="2925" b="1">
                <a:solidFill>
                  <a:srgbClr val="A83033"/>
                </a:solidFill>
                <a:latin typeface="Calibri"/>
                <a:ea typeface="Calibri"/>
                <a:cs typeface="Calibri"/>
              </a:defRPr>
            </a:lvl2pPr>
            <a:lvl3pPr>
              <a:defRPr sz="2925" b="1">
                <a:solidFill>
                  <a:srgbClr val="A83033"/>
                </a:solidFill>
                <a:latin typeface="Calibri"/>
                <a:ea typeface="Calibri"/>
                <a:cs typeface="Calibri"/>
              </a:defRPr>
            </a:lvl3pPr>
            <a:lvl4pPr>
              <a:defRPr sz="2925" b="1">
                <a:solidFill>
                  <a:srgbClr val="A83033"/>
                </a:solidFill>
                <a:latin typeface="Calibri"/>
                <a:ea typeface="Calibri"/>
                <a:cs typeface="Calibri"/>
              </a:defRPr>
            </a:lvl4pPr>
            <a:lvl5pPr>
              <a:defRPr sz="2925" b="1">
                <a:solidFill>
                  <a:srgbClr val="A83033"/>
                </a:solidFill>
                <a:latin typeface="Calibri"/>
                <a:ea typeface="Calibri"/>
                <a:cs typeface="Calibri"/>
              </a:defRPr>
            </a:lvl5pPr>
            <a:lvl6pPr>
              <a:defRPr sz="2925" b="1">
                <a:solidFill>
                  <a:srgbClr val="A83033"/>
                </a:solidFill>
                <a:latin typeface="Calibri"/>
                <a:ea typeface="Calibri"/>
                <a:cs typeface="Calibri"/>
              </a:defRPr>
            </a:lvl6pPr>
            <a:lvl7pPr>
              <a:defRPr sz="2925" b="1">
                <a:solidFill>
                  <a:srgbClr val="A83033"/>
                </a:solidFill>
                <a:latin typeface="Calibri"/>
                <a:ea typeface="Calibri"/>
                <a:cs typeface="Calibri"/>
              </a:defRPr>
            </a:lvl7pPr>
            <a:lvl8pPr>
              <a:defRPr sz="2925" b="1">
                <a:solidFill>
                  <a:srgbClr val="A83033"/>
                </a:solidFill>
                <a:latin typeface="Calibri"/>
                <a:ea typeface="Calibri"/>
                <a:cs typeface="Calibri"/>
              </a:defRPr>
            </a:lvl8pPr>
            <a:lvl9pPr>
              <a:defRPr sz="2925" b="1">
                <a:solidFill>
                  <a:srgbClr val="A83033"/>
                </a:solidFill>
                <a:latin typeface="Calibri"/>
                <a:ea typeface="Calibri"/>
                <a:cs typeface="Calibri"/>
              </a:defRPr>
            </a:lvl9pPr>
          </a:lstStyle>
          <a:p>
            <a:pPr>
              <a:defRPr sz="2925" b="1">
                <a:solidFill>
                  <a:srgbClr val="A83033"/>
                </a:solidFill>
                <a:latin typeface="Calibri"/>
                <a:ea typeface="Calibri"/>
                <a:cs typeface="Calibri"/>
              </a:defRPr>
            </a:pPr>
            <a:r>
              <a:rPr sz="2925" b="1">
                <a:solidFill>
                  <a:srgbClr val="A83033"/>
                </a:solidFill>
                <a:latin typeface="Calibri"/>
                <a:ea typeface="Calibri"/>
                <a:cs typeface="Calibri"/>
              </a:rPr>
              <a:t>The controller respects the budget and records insufficient capacity. More forecasting accuracy cannot create unavailable resources.</a:t>
            </a:r>
          </a:p>
        </p:txBody>
      </p:sp>
      <p:sp>
        <p:nvSpPr>
          <p:cNvPr id="110" name="Rectangle 109">
            <a:extLst>
              <a:ext uri="{FF2B5EF4-FFF2-40B4-BE49-F238E27FC236}">
                <a16:creationId xmlns:a16="http://schemas.microsoft.com/office/drawing/2014/main" id="{1DAB14F7-650C-4D76-BED4-26914BE0D24F}"/>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19 / 24</a:t>
            </a:r>
          </a:p>
        </p:txBody>
      </p:sp>
    </p:spTree>
    <p:extLst>
      <p:ext uri="{BB962C8B-B14F-4D97-AF65-F5344CB8AC3E}">
        <p14:creationId xmlns:p14="http://schemas.microsoft.com/office/powerpoint/2010/main" val="151882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6D6196D-C95D-42B9-A4E0-0627658F761D}"/>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Shadow mode and failure handling</a:t>
            </a:r>
          </a:p>
        </p:txBody>
      </p:sp>
      <p:graphicFrame>
        <p:nvGraphicFramePr>
          <p:cNvPr id="108" name="Table 107">
            <a:extLst>
              <a:ext uri="{FF2B5EF4-FFF2-40B4-BE49-F238E27FC236}">
                <a16:creationId xmlns:a16="http://schemas.microsoft.com/office/drawing/2014/main" id="{CAE721B3-3ED8-44AF-8F05-50463E3FDEBC}"/>
              </a:ext>
            </a:extLst>
          </p:cNvPr>
          <p:cNvGraphicFramePr/>
          <p:nvPr/>
        </p:nvGraphicFramePr>
        <p:xfrm>
          <a:off x="2238375" y="2190750"/>
          <a:ext cx="13982700" cy="4714878"/>
        </p:xfrm>
        <a:graphic>
          <a:graphicData uri="http://schemas.openxmlformats.org/drawingml/2006/table">
            <a:tbl>
              <a:tblPr/>
              <a:tblGrid>
                <a:gridCol w="4572000">
                  <a:extLst>
                    <a:ext uri="{9D8B030D-6E8A-4147-A177-3AD203B41FA5}">
                      <a16:colId xmlns:a16="http://schemas.microsoft.com/office/drawing/2014/main" val="20000"/>
                    </a:ext>
                  </a:extLst>
                </a:gridCol>
                <a:gridCol w="9410700">
                  <a:extLst>
                    <a:ext uri="{9D8B030D-6E8A-4147-A177-3AD203B41FA5}">
                      <a16:colId xmlns:a16="http://schemas.microsoft.com/office/drawing/2014/main" val="20001"/>
                    </a:ext>
                  </a:extLst>
                </a:gridCol>
              </a:tblGrid>
              <a:tr h="785813">
                <a:tc>
                  <a:txBody>
                    <a:bodyPr/>
                    <a:lstStyle/>
                    <a:p>
                      <a:r>
                        <a:rPr sz="2550" b="1">
                          <a:solidFill>
                            <a:srgbClr val="FFFFFF"/>
                          </a:solidFill>
                          <a:latin typeface="Calibri"/>
                          <a:ea typeface="Calibri"/>
                          <a:cs typeface="Calibri"/>
                        </a:rPr>
                        <a:t>Check</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Verified behaviour</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785813">
                <a:tc>
                  <a:txBody>
                    <a:bodyPr/>
                    <a:lstStyle/>
                    <a:p>
                      <a:r>
                        <a:rPr sz="2550" b="0">
                          <a:solidFill>
                            <a:srgbClr val="333333"/>
                          </a:solidFill>
                          <a:latin typeface="Calibri"/>
                          <a:ea typeface="Calibri"/>
                          <a:cs typeface="Calibri"/>
                        </a:rPr>
                        <a:t>Read-only shadow run</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7 recommendations, 0 scaling actions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785813">
                <a:tc>
                  <a:txBody>
                    <a:bodyPr/>
                    <a:lstStyle/>
                    <a:p>
                      <a:r>
                        <a:rPr sz="2550" b="0">
                          <a:solidFill>
                            <a:srgbClr val="333333"/>
                          </a:solidFill>
                          <a:latin typeface="Calibri"/>
                          <a:ea typeface="Calibri"/>
                          <a:cs typeface="Calibri"/>
                        </a:rPr>
                        <a:t>Deployment before and after</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1 replica, unchanged generation 81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785813">
                <a:tc>
                  <a:txBody>
                    <a:bodyPr/>
                    <a:lstStyle/>
                    <a:p>
                      <a:r>
                        <a:rPr sz="2550" b="0">
                          <a:solidFill>
                            <a:srgbClr val="333333"/>
                          </a:solidFill>
                          <a:latin typeface="Calibri"/>
                          <a:ea typeface="Calibri"/>
                          <a:cs typeface="Calibri"/>
                        </a:rPr>
                        <a:t>Broken model output</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Use observed demand and prevent model-failure downscale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785813">
                <a:tc>
                  <a:txBody>
                    <a:bodyPr/>
                    <a:lstStyle/>
                    <a:p>
                      <a:r>
                        <a:rPr sz="2550" b="0">
                          <a:solidFill>
                            <a:srgbClr val="333333"/>
                          </a:solidFill>
                          <a:latin typeface="Calibri"/>
                          <a:ea typeface="Calibri"/>
                          <a:cs typeface="Calibri"/>
                        </a:rPr>
                        <a:t>Stale or invalid demand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Hold current capacity</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r h="785813">
                <a:tc>
                  <a:txBody>
                    <a:bodyPr/>
                    <a:lstStyle/>
                    <a:p>
                      <a:r>
                        <a:rPr sz="2550" b="0">
                          <a:solidFill>
                            <a:srgbClr val="333333"/>
                          </a:solidFill>
                          <a:latin typeface="Calibri"/>
                          <a:ea typeface="Calibri"/>
                          <a:cs typeface="Calibri"/>
                        </a:rPr>
                        <a:t>Project test suite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17 tests pass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5"/>
                  </a:ext>
                </a:extLst>
              </a:tr>
            </a:tbl>
          </a:graphicData>
        </a:graphic>
      </p:graphicFrame>
      <p:sp>
        <p:nvSpPr>
          <p:cNvPr id="109" name="Rectangle 108">
            <a:extLst>
              <a:ext uri="{FF2B5EF4-FFF2-40B4-BE49-F238E27FC236}">
                <a16:creationId xmlns:a16="http://schemas.microsoft.com/office/drawing/2014/main" id="{D4E5A96B-1203-4AA5-AC7C-6E71BEB9455B}"/>
              </a:ext>
            </a:extLst>
          </p:cNvPr>
          <p:cNvSpPr>
            <a:spLocks noGrp="1"/>
          </p:cNvSpPr>
          <p:nvPr/>
        </p:nvSpPr>
        <p:spPr>
          <a:xfrm>
            <a:off x="2238375" y="7524750"/>
            <a:ext cx="13982700" cy="809625"/>
          </a:xfrm>
          <a:prstGeom prst="rect">
            <a:avLst/>
          </a:prstGeom>
          <a:noFill/>
          <a:ln w="0">
            <a:noFill/>
          </a:ln>
        </p:spPr>
        <p:txBody>
          <a:bodyPr lIns="0" tIns="0" rIns="0" bIns="0"/>
          <a:lstStyle>
            <a:defPPr>
              <a:defRPr sz="2625" b="0">
                <a:solidFill>
                  <a:srgbClr val="A83033"/>
                </a:solidFill>
                <a:latin typeface="Calibri"/>
                <a:ea typeface="Calibri"/>
                <a:cs typeface="Calibri"/>
              </a:defRPr>
            </a:defPPr>
            <a:lvl1pPr>
              <a:defRPr sz="2625" b="0">
                <a:solidFill>
                  <a:srgbClr val="A83033"/>
                </a:solidFill>
                <a:latin typeface="Calibri"/>
                <a:ea typeface="Calibri"/>
                <a:cs typeface="Calibri"/>
              </a:defRPr>
            </a:lvl1pPr>
            <a:lvl2pPr>
              <a:defRPr sz="2625" b="0">
                <a:solidFill>
                  <a:srgbClr val="A83033"/>
                </a:solidFill>
                <a:latin typeface="Calibri"/>
                <a:ea typeface="Calibri"/>
                <a:cs typeface="Calibri"/>
              </a:defRPr>
            </a:lvl2pPr>
            <a:lvl3pPr>
              <a:defRPr sz="2625" b="0">
                <a:solidFill>
                  <a:srgbClr val="A83033"/>
                </a:solidFill>
                <a:latin typeface="Calibri"/>
                <a:ea typeface="Calibri"/>
                <a:cs typeface="Calibri"/>
              </a:defRPr>
            </a:lvl3pPr>
            <a:lvl4pPr>
              <a:defRPr sz="2625" b="0">
                <a:solidFill>
                  <a:srgbClr val="A83033"/>
                </a:solidFill>
                <a:latin typeface="Calibri"/>
                <a:ea typeface="Calibri"/>
                <a:cs typeface="Calibri"/>
              </a:defRPr>
            </a:lvl4pPr>
            <a:lvl5pPr>
              <a:defRPr sz="2625" b="0">
                <a:solidFill>
                  <a:srgbClr val="A83033"/>
                </a:solidFill>
                <a:latin typeface="Calibri"/>
                <a:ea typeface="Calibri"/>
                <a:cs typeface="Calibri"/>
              </a:defRPr>
            </a:lvl5pPr>
            <a:lvl6pPr>
              <a:defRPr sz="2625" b="0">
                <a:solidFill>
                  <a:srgbClr val="A83033"/>
                </a:solidFill>
                <a:latin typeface="Calibri"/>
                <a:ea typeface="Calibri"/>
                <a:cs typeface="Calibri"/>
              </a:defRPr>
            </a:lvl6pPr>
            <a:lvl7pPr>
              <a:defRPr sz="2625" b="0">
                <a:solidFill>
                  <a:srgbClr val="A83033"/>
                </a:solidFill>
                <a:latin typeface="Calibri"/>
                <a:ea typeface="Calibri"/>
                <a:cs typeface="Calibri"/>
              </a:defRPr>
            </a:lvl7pPr>
            <a:lvl8pPr>
              <a:defRPr sz="2625" b="0">
                <a:solidFill>
                  <a:srgbClr val="A83033"/>
                </a:solidFill>
                <a:latin typeface="Calibri"/>
                <a:ea typeface="Calibri"/>
                <a:cs typeface="Calibri"/>
              </a:defRPr>
            </a:lvl8pPr>
            <a:lvl9pPr>
              <a:defRPr sz="2625" b="0">
                <a:solidFill>
                  <a:srgbClr val="A83033"/>
                </a:solidFill>
                <a:latin typeface="Calibri"/>
                <a:ea typeface="Calibri"/>
                <a:cs typeface="Calibri"/>
              </a:defRPr>
            </a:lvl9pPr>
          </a:lstStyle>
          <a:p>
            <a:pPr>
              <a:defRPr sz="2625" b="0">
                <a:solidFill>
                  <a:srgbClr val="A83033"/>
                </a:solidFill>
                <a:latin typeface="Calibri"/>
                <a:ea typeface="Calibri"/>
                <a:cs typeface="Calibri"/>
              </a:defRPr>
            </a:pPr>
            <a:r>
              <a:rPr sz="2625" b="0">
                <a:solidFill>
                  <a:srgbClr val="A83033"/>
                </a:solidFill>
                <a:latin typeface="Calibri"/>
                <a:ea typeface="Calibri"/>
                <a:cs typeface="Calibri"/>
              </a:rPr>
              <a:t>Shadow mode also avoids startup and cleanup scaling. It still sends real test traffic.</a:t>
            </a:r>
          </a:p>
        </p:txBody>
      </p:sp>
      <p:sp>
        <p:nvSpPr>
          <p:cNvPr id="110" name="Rectangle 109">
            <a:extLst>
              <a:ext uri="{FF2B5EF4-FFF2-40B4-BE49-F238E27FC236}">
                <a16:creationId xmlns:a16="http://schemas.microsoft.com/office/drawing/2014/main" id="{086166E1-B444-4AE3-8268-9ED47DB41063}"/>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20 / 24</a:t>
            </a:r>
          </a:p>
        </p:txBody>
      </p:sp>
    </p:spTree>
    <p:extLst>
      <p:ext uri="{BB962C8B-B14F-4D97-AF65-F5344CB8AC3E}">
        <p14:creationId xmlns:p14="http://schemas.microsoft.com/office/powerpoint/2010/main" val="1518820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50BAC565-AAC2-42DE-9D40-EA25559EEAF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The repository preserves the evidence</a:t>
            </a:r>
          </a:p>
        </p:txBody>
      </p:sp>
      <p:sp>
        <p:nvSpPr>
          <p:cNvPr id="108" name="Rectangle 107">
            <a:extLst>
              <a:ext uri="{FF2B5EF4-FFF2-40B4-BE49-F238E27FC236}">
                <a16:creationId xmlns:a16="http://schemas.microsoft.com/office/drawing/2014/main" id="{4F1FB237-629A-40D1-BAA3-7EAA7535FE19}"/>
              </a:ext>
            </a:extLst>
          </p:cNvPr>
          <p:cNvSpPr>
            <a:spLocks noGrp="1"/>
          </p:cNvSpPr>
          <p:nvPr/>
        </p:nvSpPr>
        <p:spPr>
          <a:xfrm>
            <a:off x="2238375" y="2143125"/>
            <a:ext cx="13982700" cy="762000"/>
          </a:xfrm>
          <a:prstGeom prst="rect">
            <a:avLst/>
          </a:prstGeom>
          <a:noFill/>
          <a:ln w="0">
            <a:noFill/>
          </a:ln>
        </p:spPr>
        <p:txBody>
          <a:bodyPr lIns="0" tIns="0" rIns="0" bIns="0"/>
          <a:lstStyle>
            <a:defPPr>
              <a:defRPr sz="3375" b="1">
                <a:solidFill>
                  <a:srgbClr val="A83033"/>
                </a:solidFill>
                <a:latin typeface="Calibri"/>
                <a:ea typeface="Calibri"/>
                <a:cs typeface="Calibri"/>
              </a:defRPr>
            </a:defPPr>
            <a:lvl1pPr>
              <a:defRPr sz="3375" b="1">
                <a:solidFill>
                  <a:srgbClr val="A83033"/>
                </a:solidFill>
                <a:latin typeface="Calibri"/>
                <a:ea typeface="Calibri"/>
                <a:cs typeface="Calibri"/>
              </a:defRPr>
            </a:lvl1pPr>
            <a:lvl2pPr>
              <a:defRPr sz="3375" b="1">
                <a:solidFill>
                  <a:srgbClr val="A83033"/>
                </a:solidFill>
                <a:latin typeface="Calibri"/>
                <a:ea typeface="Calibri"/>
                <a:cs typeface="Calibri"/>
              </a:defRPr>
            </a:lvl2pPr>
            <a:lvl3pPr>
              <a:defRPr sz="3375" b="1">
                <a:solidFill>
                  <a:srgbClr val="A83033"/>
                </a:solidFill>
                <a:latin typeface="Calibri"/>
                <a:ea typeface="Calibri"/>
                <a:cs typeface="Calibri"/>
              </a:defRPr>
            </a:lvl3pPr>
            <a:lvl4pPr>
              <a:defRPr sz="3375" b="1">
                <a:solidFill>
                  <a:srgbClr val="A83033"/>
                </a:solidFill>
                <a:latin typeface="Calibri"/>
                <a:ea typeface="Calibri"/>
                <a:cs typeface="Calibri"/>
              </a:defRPr>
            </a:lvl4pPr>
            <a:lvl5pPr>
              <a:defRPr sz="3375" b="1">
                <a:solidFill>
                  <a:srgbClr val="A83033"/>
                </a:solidFill>
                <a:latin typeface="Calibri"/>
                <a:ea typeface="Calibri"/>
                <a:cs typeface="Calibri"/>
              </a:defRPr>
            </a:lvl5pPr>
            <a:lvl6pPr>
              <a:defRPr sz="3375" b="1">
                <a:solidFill>
                  <a:srgbClr val="A83033"/>
                </a:solidFill>
                <a:latin typeface="Calibri"/>
                <a:ea typeface="Calibri"/>
                <a:cs typeface="Calibri"/>
              </a:defRPr>
            </a:lvl6pPr>
            <a:lvl7pPr>
              <a:defRPr sz="3375" b="1">
                <a:solidFill>
                  <a:srgbClr val="A83033"/>
                </a:solidFill>
                <a:latin typeface="Calibri"/>
                <a:ea typeface="Calibri"/>
                <a:cs typeface="Calibri"/>
              </a:defRPr>
            </a:lvl7pPr>
            <a:lvl8pPr>
              <a:defRPr sz="3375" b="1">
                <a:solidFill>
                  <a:srgbClr val="A83033"/>
                </a:solidFill>
                <a:latin typeface="Calibri"/>
                <a:ea typeface="Calibri"/>
                <a:cs typeface="Calibri"/>
              </a:defRPr>
            </a:lvl8pPr>
            <a:lvl9pPr>
              <a:defRPr sz="3375" b="1">
                <a:solidFill>
                  <a:srgbClr val="A83033"/>
                </a:solidFill>
                <a:latin typeface="Calibri"/>
                <a:ea typeface="Calibri"/>
                <a:cs typeface="Calibri"/>
              </a:defRPr>
            </a:lvl9pPr>
          </a:lstStyle>
          <a:p>
            <a:pPr>
              <a:defRPr sz="3375" b="1">
                <a:solidFill>
                  <a:srgbClr val="A83033"/>
                </a:solidFill>
                <a:latin typeface="Calibri"/>
                <a:ea typeface="Calibri"/>
                <a:cs typeface="Calibri"/>
              </a:defRPr>
            </a:pPr>
            <a:r>
              <a:rPr sz="3375" b="1">
                <a:solidFill>
                  <a:srgbClr val="A83033"/>
                </a:solidFill>
                <a:latin typeface="Calibri"/>
                <a:ea typeface="Calibri"/>
                <a:cs typeface="Calibri"/>
              </a:rPr>
              <a:t>https://github.com/parth1056/accml</a:t>
            </a:r>
          </a:p>
        </p:txBody>
      </p:sp>
      <p:graphicFrame>
        <p:nvGraphicFramePr>
          <p:cNvPr id="109" name="Table 108">
            <a:extLst>
              <a:ext uri="{FF2B5EF4-FFF2-40B4-BE49-F238E27FC236}">
                <a16:creationId xmlns:a16="http://schemas.microsoft.com/office/drawing/2014/main" id="{4AFF3E06-A18C-417B-8F4A-37DDDA32F60E}"/>
              </a:ext>
            </a:extLst>
          </p:cNvPr>
          <p:cNvGraphicFramePr/>
          <p:nvPr/>
        </p:nvGraphicFramePr>
        <p:xfrm>
          <a:off x="2238375" y="3333750"/>
          <a:ext cx="13982700" cy="3429000"/>
        </p:xfrm>
        <a:graphic>
          <a:graphicData uri="http://schemas.openxmlformats.org/drawingml/2006/table">
            <a:tbl>
              <a:tblPr/>
              <a:tblGrid>
                <a:gridCol w="4762500">
                  <a:extLst>
                    <a:ext uri="{9D8B030D-6E8A-4147-A177-3AD203B41FA5}">
                      <a16:colId xmlns:a16="http://schemas.microsoft.com/office/drawing/2014/main" val="20000"/>
                    </a:ext>
                  </a:extLst>
                </a:gridCol>
                <a:gridCol w="9220200">
                  <a:extLst>
                    <a:ext uri="{9D8B030D-6E8A-4147-A177-3AD203B41FA5}">
                      <a16:colId xmlns:a16="http://schemas.microsoft.com/office/drawing/2014/main" val="20001"/>
                    </a:ext>
                  </a:extLst>
                </a:gridCol>
              </a:tblGrid>
              <a:tr h="685800">
                <a:tc>
                  <a:txBody>
                    <a:bodyPr/>
                    <a:lstStyle/>
                    <a:p>
                      <a:r>
                        <a:rPr sz="2550" b="1">
                          <a:solidFill>
                            <a:srgbClr val="FFFFFF"/>
                          </a:solidFill>
                          <a:latin typeface="Calibri"/>
                          <a:ea typeface="Calibri"/>
                          <a:cs typeface="Calibri"/>
                        </a:rPr>
                        <a:t>Evidence</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Where to find it</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685800">
                <a:tc>
                  <a:txBody>
                    <a:bodyPr/>
                    <a:lstStyle/>
                    <a:p>
                      <a:r>
                        <a:rPr sz="2550" b="0">
                          <a:solidFill>
                            <a:srgbClr val="333333"/>
                          </a:solidFill>
                          <a:latin typeface="Calibri"/>
                          <a:ea typeface="Calibri"/>
                          <a:cs typeface="Calibri"/>
                        </a:rPr>
                        <a:t>Implementation</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scaler/ and k8s/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685800">
                <a:tc>
                  <a:txBody>
                    <a:bodyPr/>
                    <a:lstStyle/>
                    <a:p>
                      <a:r>
                        <a:rPr sz="2550" b="0">
                          <a:solidFill>
                            <a:srgbClr val="333333"/>
                          </a:solidFill>
                          <a:latin typeface="Calibri"/>
                          <a:ea typeface="Calibri"/>
                          <a:cs typeface="Calibri"/>
                        </a:rPr>
                        <a:t>Every experiment</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output/live/: arrivals, requests, decisions, resources and model</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685800">
                <a:tc>
                  <a:txBody>
                    <a:bodyPr/>
                    <a:lstStyle/>
                    <a:p>
                      <a:r>
                        <a:rPr sz="2550" b="0">
                          <a:solidFill>
                            <a:srgbClr val="333333"/>
                          </a:solidFill>
                          <a:latin typeface="Calibri"/>
                          <a:ea typeface="Calibri"/>
                          <a:cs typeface="Calibri"/>
                        </a:rPr>
                        <a:t>Matched results and fault checks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output/evaluation/</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685800">
                <a:tc>
                  <a:txBody>
                    <a:bodyPr/>
                    <a:lstStyle/>
                    <a:p>
                      <a:r>
                        <a:rPr sz="2550" b="0">
                          <a:solidFill>
                            <a:srgbClr val="333333"/>
                          </a:solidFill>
                          <a:latin typeface="Calibri"/>
                          <a:ea typeface="Calibri"/>
                          <a:cs typeface="Calibri"/>
                        </a:rPr>
                        <a:t>Report and screenshots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output/ and output/evidence/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0" name="Rectangle 109">
            <a:extLst>
              <a:ext uri="{FF2B5EF4-FFF2-40B4-BE49-F238E27FC236}">
                <a16:creationId xmlns:a16="http://schemas.microsoft.com/office/drawing/2014/main" id="{EC7D53E7-9ED6-4688-856D-02A2E34AD414}"/>
              </a:ext>
            </a:extLst>
          </p:cNvPr>
          <p:cNvSpPr>
            <a:spLocks noGrp="1"/>
          </p:cNvSpPr>
          <p:nvPr/>
        </p:nvSpPr>
        <p:spPr>
          <a:xfrm>
            <a:off x="2238375" y="7334250"/>
            <a:ext cx="13982700" cy="1047750"/>
          </a:xfrm>
          <a:prstGeom prst="rect">
            <a:avLst/>
          </a:prstGeom>
          <a:noFill/>
          <a:ln w="0">
            <a:noFill/>
          </a:ln>
        </p:spPr>
        <p:txBody>
          <a:bodyPr lIns="0" tIns="0" rIns="0" bIns="0"/>
          <a:lstStyle>
            <a:defPPr>
              <a:defRPr sz="2925" b="1">
                <a:solidFill>
                  <a:srgbClr val="A83033"/>
                </a:solidFill>
                <a:latin typeface="Calibri"/>
                <a:ea typeface="Calibri"/>
                <a:cs typeface="Calibri"/>
              </a:defRPr>
            </a:defPPr>
            <a:lvl1pPr>
              <a:defRPr sz="2925" b="1">
                <a:solidFill>
                  <a:srgbClr val="A83033"/>
                </a:solidFill>
                <a:latin typeface="Calibri"/>
                <a:ea typeface="Calibri"/>
                <a:cs typeface="Calibri"/>
              </a:defRPr>
            </a:lvl1pPr>
            <a:lvl2pPr>
              <a:defRPr sz="2925" b="1">
                <a:solidFill>
                  <a:srgbClr val="A83033"/>
                </a:solidFill>
                <a:latin typeface="Calibri"/>
                <a:ea typeface="Calibri"/>
                <a:cs typeface="Calibri"/>
              </a:defRPr>
            </a:lvl2pPr>
            <a:lvl3pPr>
              <a:defRPr sz="2925" b="1">
                <a:solidFill>
                  <a:srgbClr val="A83033"/>
                </a:solidFill>
                <a:latin typeface="Calibri"/>
                <a:ea typeface="Calibri"/>
                <a:cs typeface="Calibri"/>
              </a:defRPr>
            </a:lvl3pPr>
            <a:lvl4pPr>
              <a:defRPr sz="2925" b="1">
                <a:solidFill>
                  <a:srgbClr val="A83033"/>
                </a:solidFill>
                <a:latin typeface="Calibri"/>
                <a:ea typeface="Calibri"/>
                <a:cs typeface="Calibri"/>
              </a:defRPr>
            </a:lvl4pPr>
            <a:lvl5pPr>
              <a:defRPr sz="2925" b="1">
                <a:solidFill>
                  <a:srgbClr val="A83033"/>
                </a:solidFill>
                <a:latin typeface="Calibri"/>
                <a:ea typeface="Calibri"/>
                <a:cs typeface="Calibri"/>
              </a:defRPr>
            </a:lvl5pPr>
            <a:lvl6pPr>
              <a:defRPr sz="2925" b="1">
                <a:solidFill>
                  <a:srgbClr val="A83033"/>
                </a:solidFill>
                <a:latin typeface="Calibri"/>
                <a:ea typeface="Calibri"/>
                <a:cs typeface="Calibri"/>
              </a:defRPr>
            </a:lvl6pPr>
            <a:lvl7pPr>
              <a:defRPr sz="2925" b="1">
                <a:solidFill>
                  <a:srgbClr val="A83033"/>
                </a:solidFill>
                <a:latin typeface="Calibri"/>
                <a:ea typeface="Calibri"/>
                <a:cs typeface="Calibri"/>
              </a:defRPr>
            </a:lvl7pPr>
            <a:lvl8pPr>
              <a:defRPr sz="2925" b="1">
                <a:solidFill>
                  <a:srgbClr val="A83033"/>
                </a:solidFill>
                <a:latin typeface="Calibri"/>
                <a:ea typeface="Calibri"/>
                <a:cs typeface="Calibri"/>
              </a:defRPr>
            </a:lvl8pPr>
            <a:lvl9pPr>
              <a:defRPr sz="2925" b="1">
                <a:solidFill>
                  <a:srgbClr val="A83033"/>
                </a:solidFill>
                <a:latin typeface="Calibri"/>
                <a:ea typeface="Calibri"/>
                <a:cs typeface="Calibri"/>
              </a:defRPr>
            </a:lvl9pPr>
          </a:lstStyle>
          <a:p>
            <a:pPr>
              <a:defRPr sz="2925" b="1">
                <a:solidFill>
                  <a:srgbClr val="A83033"/>
                </a:solidFill>
                <a:latin typeface="Calibri"/>
                <a:ea typeface="Calibri"/>
                <a:cs typeface="Calibri"/>
              </a:defRPr>
            </a:pPr>
            <a:r>
              <a:rPr sz="2925" b="1">
                <a:solidFill>
                  <a:srgbClr val="A83033"/>
                </a:solidFill>
                <a:latin typeface="Calibri"/>
                <a:ea typeface="Calibri"/>
                <a:cs typeface="Calibri"/>
              </a:rPr>
              <a:t>We demonstrated real replica control, measured service quality, and explicit behaviour when predictions or budgets fail.</a:t>
            </a:r>
          </a:p>
        </p:txBody>
      </p:sp>
      <p:sp>
        <p:nvSpPr>
          <p:cNvPr id="111" name="Rectangle 110">
            <a:extLst>
              <a:ext uri="{FF2B5EF4-FFF2-40B4-BE49-F238E27FC236}">
                <a16:creationId xmlns:a16="http://schemas.microsoft.com/office/drawing/2014/main" id="{050D3C07-C2C9-40C4-A569-52A81E3E3960}"/>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21 / 24</a:t>
            </a:r>
          </a:p>
        </p:txBody>
      </p:sp>
    </p:spTree>
    <p:extLst>
      <p:ext uri="{BB962C8B-B14F-4D97-AF65-F5344CB8AC3E}">
        <p14:creationId xmlns:p14="http://schemas.microsoft.com/office/powerpoint/2010/main" val="151882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87968F1C-4DB8-4CC9-96AA-785EBB41CC96}"/>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Appendix: mean results across repeats</a:t>
            </a:r>
          </a:p>
        </p:txBody>
      </p:sp>
      <p:graphicFrame>
        <p:nvGraphicFramePr>
          <p:cNvPr id="108" name="Table 107">
            <a:extLst>
              <a:ext uri="{FF2B5EF4-FFF2-40B4-BE49-F238E27FC236}">
                <a16:creationId xmlns:a16="http://schemas.microsoft.com/office/drawing/2014/main" id="{BF3A053C-1DB8-4350-AB3F-6A2017E85C95}"/>
              </a:ext>
            </a:extLst>
          </p:cNvPr>
          <p:cNvGraphicFramePr/>
          <p:nvPr/>
        </p:nvGraphicFramePr>
        <p:xfrm>
          <a:off x="2238375" y="2190750"/>
          <a:ext cx="13982700" cy="4762499"/>
        </p:xfrm>
        <a:graphic>
          <a:graphicData uri="http://schemas.openxmlformats.org/drawingml/2006/table">
            <a:tbl>
              <a:tblPr/>
              <a:tblGrid>
                <a:gridCol w="4381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gridCol w="2647950">
                  <a:extLst>
                    <a:ext uri="{9D8B030D-6E8A-4147-A177-3AD203B41FA5}">
                      <a16:colId xmlns:a16="http://schemas.microsoft.com/office/drawing/2014/main" val="20004"/>
                    </a:ext>
                  </a:extLst>
                </a:gridCol>
              </a:tblGrid>
              <a:tr h="680357">
                <a:tc>
                  <a:txBody>
                    <a:bodyPr/>
                    <a:lstStyle/>
                    <a:p>
                      <a:r>
                        <a:rPr sz="2325" b="1">
                          <a:solidFill>
                            <a:srgbClr val="FFFFFF"/>
                          </a:solidFill>
                          <a:latin typeface="Calibri"/>
                          <a:ea typeface="Calibri"/>
                          <a:cs typeface="Calibri"/>
                        </a:rPr>
                        <a:t>Scenario / policy</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p95 ms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CPU %</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Cost proxy</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Energy Wh</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680357">
                <a:tc>
                  <a:txBody>
                    <a:bodyPr/>
                    <a:lstStyle/>
                    <a:p>
                      <a:r>
                        <a:rPr sz="2325" b="0">
                          <a:solidFill>
                            <a:srgbClr val="333333"/>
                          </a:solidFill>
                          <a:latin typeface="Calibri"/>
                          <a:ea typeface="Calibri"/>
                          <a:cs typeface="Calibri"/>
                        </a:rPr>
                        <a:t>flash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43.0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27.2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0.00400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2.27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680357">
                <a:tc>
                  <a:txBody>
                    <a:bodyPr/>
                    <a:lstStyle/>
                    <a:p>
                      <a:r>
                        <a:rPr sz="2325" b="0">
                          <a:solidFill>
                            <a:srgbClr val="333333"/>
                          </a:solidFill>
                          <a:latin typeface="Calibri"/>
                          <a:ea typeface="Calibri"/>
                          <a:cs typeface="Calibri"/>
                        </a:rPr>
                        <a:t>flash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45.5</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28.1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0.00392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2.23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680357">
                <a:tc>
                  <a:txBody>
                    <a:bodyPr/>
                    <a:lstStyle/>
                    <a:p>
                      <a:r>
                        <a:rPr sz="2325" b="0">
                          <a:solidFill>
                            <a:srgbClr val="333333"/>
                          </a:solidFill>
                          <a:latin typeface="Calibri"/>
                          <a:ea typeface="Calibri"/>
                          <a:cs typeface="Calibri"/>
                        </a:rPr>
                        <a:t>flash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65.0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35.0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0.00312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1.83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680357">
                <a:tc>
                  <a:txBody>
                    <a:bodyPr/>
                    <a:lstStyle/>
                    <a:p>
                      <a:r>
                        <a:rPr sz="2325" b="0">
                          <a:solidFill>
                            <a:srgbClr val="333333"/>
                          </a:solidFill>
                          <a:latin typeface="Calibri"/>
                          <a:ea typeface="Calibri"/>
                          <a:cs typeface="Calibri"/>
                        </a:rPr>
                        <a:t>periodic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45.0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22.2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0.00400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2.22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r h="680357">
                <a:tc>
                  <a:txBody>
                    <a:bodyPr/>
                    <a:lstStyle/>
                    <a:p>
                      <a:r>
                        <a:rPr sz="2325" b="0">
                          <a:solidFill>
                            <a:srgbClr val="333333"/>
                          </a:solidFill>
                          <a:latin typeface="Calibri"/>
                          <a:ea typeface="Calibri"/>
                          <a:cs typeface="Calibri"/>
                        </a:rPr>
                        <a:t>periodic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52.8</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25.4</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0.00357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2.01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5"/>
                  </a:ext>
                </a:extLst>
              </a:tr>
              <a:tr h="680357">
                <a:tc>
                  <a:txBody>
                    <a:bodyPr/>
                    <a:lstStyle/>
                    <a:p>
                      <a:r>
                        <a:rPr sz="2325" b="0">
                          <a:solidFill>
                            <a:srgbClr val="333333"/>
                          </a:solidFill>
                          <a:latin typeface="Calibri"/>
                          <a:ea typeface="Calibri"/>
                          <a:cs typeface="Calibri"/>
                        </a:rPr>
                        <a:t>periodic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287.7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31.9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0.00277</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1.61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9" name="Rectangle 108">
            <a:extLst>
              <a:ext uri="{FF2B5EF4-FFF2-40B4-BE49-F238E27FC236}">
                <a16:creationId xmlns:a16="http://schemas.microsoft.com/office/drawing/2014/main" id="{0145319B-60D7-4926-B263-545D8EC3AE4D}"/>
              </a:ext>
            </a:extLst>
          </p:cNvPr>
          <p:cNvSpPr>
            <a:spLocks noGrp="1"/>
          </p:cNvSpPr>
          <p:nvPr/>
        </p:nvSpPr>
        <p:spPr>
          <a:xfrm>
            <a:off x="2238375" y="7524750"/>
            <a:ext cx="13982700" cy="952500"/>
          </a:xfrm>
          <a:prstGeom prst="rect">
            <a:avLst/>
          </a:prstGeom>
          <a:noFill/>
          <a:ln w="0">
            <a:noFill/>
          </a:ln>
        </p:spPr>
        <p:txBody>
          <a:bodyPr lIns="0" tIns="0" rIns="0" bIns="0"/>
          <a:lstStyle>
            <a:defPPr>
              <a:defRPr sz="2550" b="0">
                <a:solidFill>
                  <a:srgbClr val="A83033"/>
                </a:solidFill>
                <a:latin typeface="Calibri"/>
                <a:ea typeface="Calibri"/>
                <a:cs typeface="Calibri"/>
              </a:defRPr>
            </a:defPPr>
            <a:lvl1pPr>
              <a:defRPr sz="2550" b="0">
                <a:solidFill>
                  <a:srgbClr val="A83033"/>
                </a:solidFill>
                <a:latin typeface="Calibri"/>
                <a:ea typeface="Calibri"/>
                <a:cs typeface="Calibri"/>
              </a:defRPr>
            </a:lvl1pPr>
            <a:lvl2pPr>
              <a:defRPr sz="2550" b="0">
                <a:solidFill>
                  <a:srgbClr val="A83033"/>
                </a:solidFill>
                <a:latin typeface="Calibri"/>
                <a:ea typeface="Calibri"/>
                <a:cs typeface="Calibri"/>
              </a:defRPr>
            </a:lvl2pPr>
            <a:lvl3pPr>
              <a:defRPr sz="2550" b="0">
                <a:solidFill>
                  <a:srgbClr val="A83033"/>
                </a:solidFill>
                <a:latin typeface="Calibri"/>
                <a:ea typeface="Calibri"/>
                <a:cs typeface="Calibri"/>
              </a:defRPr>
            </a:lvl3pPr>
            <a:lvl4pPr>
              <a:defRPr sz="2550" b="0">
                <a:solidFill>
                  <a:srgbClr val="A83033"/>
                </a:solidFill>
                <a:latin typeface="Calibri"/>
                <a:ea typeface="Calibri"/>
                <a:cs typeface="Calibri"/>
              </a:defRPr>
            </a:lvl4pPr>
            <a:lvl5pPr>
              <a:defRPr sz="2550" b="0">
                <a:solidFill>
                  <a:srgbClr val="A83033"/>
                </a:solidFill>
                <a:latin typeface="Calibri"/>
                <a:ea typeface="Calibri"/>
                <a:cs typeface="Calibri"/>
              </a:defRPr>
            </a:lvl5pPr>
            <a:lvl6pPr>
              <a:defRPr sz="2550" b="0">
                <a:solidFill>
                  <a:srgbClr val="A83033"/>
                </a:solidFill>
                <a:latin typeface="Calibri"/>
                <a:ea typeface="Calibri"/>
                <a:cs typeface="Calibri"/>
              </a:defRPr>
            </a:lvl6pPr>
            <a:lvl7pPr>
              <a:defRPr sz="2550" b="0">
                <a:solidFill>
                  <a:srgbClr val="A83033"/>
                </a:solidFill>
                <a:latin typeface="Calibri"/>
                <a:ea typeface="Calibri"/>
                <a:cs typeface="Calibri"/>
              </a:defRPr>
            </a:lvl7pPr>
            <a:lvl8pPr>
              <a:defRPr sz="2550" b="0">
                <a:solidFill>
                  <a:srgbClr val="A83033"/>
                </a:solidFill>
                <a:latin typeface="Calibri"/>
                <a:ea typeface="Calibri"/>
                <a:cs typeface="Calibri"/>
              </a:defRPr>
            </a:lvl8pPr>
            <a:lvl9pPr>
              <a:defRPr sz="2550" b="0">
                <a:solidFill>
                  <a:srgbClr val="A83033"/>
                </a:solidFill>
                <a:latin typeface="Calibri"/>
                <a:ea typeface="Calibri"/>
                <a:cs typeface="Calibri"/>
              </a:defRPr>
            </a:lvl9pPr>
          </a:lstStyle>
          <a:p>
            <a:pPr>
              <a:defRPr sz="2550" b="0">
                <a:solidFill>
                  <a:srgbClr val="A83033"/>
                </a:solidFill>
                <a:latin typeface="Calibri"/>
                <a:ea typeface="Calibri"/>
                <a:cs typeface="Calibri"/>
              </a:defRPr>
            </a:pPr>
            <a:r>
              <a:rPr sz="2550" b="0">
                <a:solidFill>
                  <a:srgbClr val="A83033"/>
                </a:solidFill>
                <a:latin typeface="Calibri"/>
                <a:ea typeface="Calibri"/>
                <a:cs typeface="Calibri"/>
              </a:rPr>
              <a:t>Two repeats per row. Mean of run p95 values, not pooled p95. All main-suite runs have zero request failures.</a:t>
            </a:r>
          </a:p>
        </p:txBody>
      </p:sp>
      <p:sp>
        <p:nvSpPr>
          <p:cNvPr id="110" name="Rectangle 109">
            <a:extLst>
              <a:ext uri="{FF2B5EF4-FFF2-40B4-BE49-F238E27FC236}">
                <a16:creationId xmlns:a16="http://schemas.microsoft.com/office/drawing/2014/main" id="{68C75913-C1D3-45B6-A111-02E2811ED62F}"/>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22 / 24</a:t>
            </a:r>
          </a:p>
        </p:txBody>
      </p:sp>
    </p:spTree>
    <p:extLst>
      <p:ext uri="{BB962C8B-B14F-4D97-AF65-F5344CB8AC3E}">
        <p14:creationId xmlns:p14="http://schemas.microsoft.com/office/powerpoint/2010/main" val="1518820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C934F796-BC3A-4190-AF34-EC8CD0003096}"/>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Appendix: reproduction and settings</a:t>
            </a:r>
          </a:p>
        </p:txBody>
      </p:sp>
      <p:sp>
        <p:nvSpPr>
          <p:cNvPr id="108" name="Rectangle 107">
            <a:extLst>
              <a:ext uri="{FF2B5EF4-FFF2-40B4-BE49-F238E27FC236}">
                <a16:creationId xmlns:a16="http://schemas.microsoft.com/office/drawing/2014/main" id="{A0F7EB59-1CF4-4968-89AA-04591A7C2A03}"/>
              </a:ext>
            </a:extLst>
          </p:cNvPr>
          <p:cNvSpPr>
            <a:spLocks noGrp="1"/>
          </p:cNvSpPr>
          <p:nvPr/>
        </p:nvSpPr>
        <p:spPr>
          <a:xfrm>
            <a:off x="2238375" y="2095500"/>
            <a:ext cx="7429500" cy="619125"/>
          </a:xfrm>
          <a:prstGeom prst="rect">
            <a:avLst/>
          </a:prstGeom>
          <a:noFill/>
          <a:ln w="0">
            <a:noFill/>
          </a:ln>
        </p:spPr>
        <p:txBody>
          <a:bodyPr lIns="0" tIns="0" rIns="0" bIns="0"/>
          <a:lstStyle>
            <a:defPPr>
              <a:defRPr sz="3150" b="1">
                <a:solidFill>
                  <a:srgbClr val="A83033"/>
                </a:solidFill>
                <a:latin typeface="Calibri"/>
                <a:ea typeface="Calibri"/>
                <a:cs typeface="Calibri"/>
              </a:defRPr>
            </a:defPPr>
            <a:lvl1pPr>
              <a:defRPr sz="3150" b="1">
                <a:solidFill>
                  <a:srgbClr val="A83033"/>
                </a:solidFill>
                <a:latin typeface="Calibri"/>
                <a:ea typeface="Calibri"/>
                <a:cs typeface="Calibri"/>
              </a:defRPr>
            </a:lvl1pPr>
            <a:lvl2pPr>
              <a:defRPr sz="3150" b="1">
                <a:solidFill>
                  <a:srgbClr val="A83033"/>
                </a:solidFill>
                <a:latin typeface="Calibri"/>
                <a:ea typeface="Calibri"/>
                <a:cs typeface="Calibri"/>
              </a:defRPr>
            </a:lvl2pPr>
            <a:lvl3pPr>
              <a:defRPr sz="3150" b="1">
                <a:solidFill>
                  <a:srgbClr val="A83033"/>
                </a:solidFill>
                <a:latin typeface="Calibri"/>
                <a:ea typeface="Calibri"/>
                <a:cs typeface="Calibri"/>
              </a:defRPr>
            </a:lvl3pPr>
            <a:lvl4pPr>
              <a:defRPr sz="3150" b="1">
                <a:solidFill>
                  <a:srgbClr val="A83033"/>
                </a:solidFill>
                <a:latin typeface="Calibri"/>
                <a:ea typeface="Calibri"/>
                <a:cs typeface="Calibri"/>
              </a:defRPr>
            </a:lvl4pPr>
            <a:lvl5pPr>
              <a:defRPr sz="3150" b="1">
                <a:solidFill>
                  <a:srgbClr val="A83033"/>
                </a:solidFill>
                <a:latin typeface="Calibri"/>
                <a:ea typeface="Calibri"/>
                <a:cs typeface="Calibri"/>
              </a:defRPr>
            </a:lvl5pPr>
            <a:lvl6pPr>
              <a:defRPr sz="3150" b="1">
                <a:solidFill>
                  <a:srgbClr val="A83033"/>
                </a:solidFill>
                <a:latin typeface="Calibri"/>
                <a:ea typeface="Calibri"/>
                <a:cs typeface="Calibri"/>
              </a:defRPr>
            </a:lvl6pPr>
            <a:lvl7pPr>
              <a:defRPr sz="3150" b="1">
                <a:solidFill>
                  <a:srgbClr val="A83033"/>
                </a:solidFill>
                <a:latin typeface="Calibri"/>
                <a:ea typeface="Calibri"/>
                <a:cs typeface="Calibri"/>
              </a:defRPr>
            </a:lvl7pPr>
            <a:lvl8pPr>
              <a:defRPr sz="3150" b="1">
                <a:solidFill>
                  <a:srgbClr val="A83033"/>
                </a:solidFill>
                <a:latin typeface="Calibri"/>
                <a:ea typeface="Calibri"/>
                <a:cs typeface="Calibri"/>
              </a:defRPr>
            </a:lvl8pPr>
            <a:lvl9pPr>
              <a:defRPr sz="3150" b="1">
                <a:solidFill>
                  <a:srgbClr val="A83033"/>
                </a:solidFill>
                <a:latin typeface="Calibri"/>
                <a:ea typeface="Calibri"/>
                <a:cs typeface="Calibri"/>
              </a:defRPr>
            </a:lvl9pPr>
          </a:lstStyle>
          <a:p>
            <a:pPr>
              <a:defRPr sz="3150" b="1">
                <a:solidFill>
                  <a:srgbClr val="A83033"/>
                </a:solidFill>
                <a:latin typeface="Calibri"/>
                <a:ea typeface="Calibri"/>
                <a:cs typeface="Calibri"/>
              </a:defRPr>
            </a:pPr>
            <a:r>
              <a:rPr sz="3150" b="1">
                <a:solidFill>
                  <a:srgbClr val="A83033"/>
                </a:solidFill>
                <a:latin typeface="Calibri"/>
                <a:ea typeface="Calibri"/>
                <a:cs typeface="Calibri"/>
              </a:rPr>
              <a:t>Reproduction sequence</a:t>
            </a:r>
          </a:p>
        </p:txBody>
      </p:sp>
      <p:sp>
        <p:nvSpPr>
          <p:cNvPr id="109" name="Rectangle 108">
            <a:extLst>
              <a:ext uri="{FF2B5EF4-FFF2-40B4-BE49-F238E27FC236}">
                <a16:creationId xmlns:a16="http://schemas.microsoft.com/office/drawing/2014/main" id="{8EC30507-C304-4F71-AFF4-6A79EA882410}"/>
              </a:ext>
            </a:extLst>
          </p:cNvPr>
          <p:cNvSpPr>
            <a:spLocks noGrp="1"/>
          </p:cNvSpPr>
          <p:nvPr/>
        </p:nvSpPr>
        <p:spPr>
          <a:xfrm>
            <a:off x="2238375" y="3048000"/>
            <a:ext cx="7429500" cy="4143375"/>
          </a:xfrm>
          <a:prstGeom prst="rect">
            <a:avLst/>
          </a:prstGeom>
          <a:noFill/>
          <a:ln w="0">
            <a:noFill/>
          </a:ln>
        </p:spPr>
        <p:txBody>
          <a:bodyPr lIns="0" tIns="0" rIns="0" bIns="0"/>
          <a:lstStyle>
            <a:defPPr>
              <a:defRPr sz="2775" b="0">
                <a:solidFill>
                  <a:srgbClr val="333333"/>
                </a:solidFill>
                <a:latin typeface="Calibri"/>
                <a:ea typeface="Calibri"/>
                <a:cs typeface="Calibri"/>
              </a:defRPr>
            </a:defPPr>
            <a:lvl1pPr>
              <a:defRPr sz="2775" b="0">
                <a:solidFill>
                  <a:srgbClr val="333333"/>
                </a:solidFill>
                <a:latin typeface="Calibri"/>
                <a:ea typeface="Calibri"/>
                <a:cs typeface="Calibri"/>
              </a:defRPr>
            </a:lvl1pPr>
            <a:lvl2pPr>
              <a:defRPr sz="2775" b="0">
                <a:solidFill>
                  <a:srgbClr val="333333"/>
                </a:solidFill>
                <a:latin typeface="Calibri"/>
                <a:ea typeface="Calibri"/>
                <a:cs typeface="Calibri"/>
              </a:defRPr>
            </a:lvl2pPr>
            <a:lvl3pPr>
              <a:defRPr sz="2775" b="0">
                <a:solidFill>
                  <a:srgbClr val="333333"/>
                </a:solidFill>
                <a:latin typeface="Calibri"/>
                <a:ea typeface="Calibri"/>
                <a:cs typeface="Calibri"/>
              </a:defRPr>
            </a:lvl3pPr>
            <a:lvl4pPr>
              <a:defRPr sz="2775" b="0">
                <a:solidFill>
                  <a:srgbClr val="333333"/>
                </a:solidFill>
                <a:latin typeface="Calibri"/>
                <a:ea typeface="Calibri"/>
                <a:cs typeface="Calibri"/>
              </a:defRPr>
            </a:lvl4pPr>
            <a:lvl5pPr>
              <a:defRPr sz="2775" b="0">
                <a:solidFill>
                  <a:srgbClr val="333333"/>
                </a:solidFill>
                <a:latin typeface="Calibri"/>
                <a:ea typeface="Calibri"/>
                <a:cs typeface="Calibri"/>
              </a:defRPr>
            </a:lvl5pPr>
            <a:lvl6pPr>
              <a:defRPr sz="2775" b="0">
                <a:solidFill>
                  <a:srgbClr val="333333"/>
                </a:solidFill>
                <a:latin typeface="Calibri"/>
                <a:ea typeface="Calibri"/>
                <a:cs typeface="Calibri"/>
              </a:defRPr>
            </a:lvl6pPr>
            <a:lvl7pPr>
              <a:defRPr sz="2775" b="0">
                <a:solidFill>
                  <a:srgbClr val="333333"/>
                </a:solidFill>
                <a:latin typeface="Calibri"/>
                <a:ea typeface="Calibri"/>
                <a:cs typeface="Calibri"/>
              </a:defRPr>
            </a:lvl7pPr>
            <a:lvl8pPr>
              <a:defRPr sz="2775" b="0">
                <a:solidFill>
                  <a:srgbClr val="333333"/>
                </a:solidFill>
                <a:latin typeface="Calibri"/>
                <a:ea typeface="Calibri"/>
                <a:cs typeface="Calibri"/>
              </a:defRPr>
            </a:lvl8pPr>
            <a:lvl9pPr>
              <a:defRPr sz="2775" b="0">
                <a:solidFill>
                  <a:srgbClr val="333333"/>
                </a:solidFill>
                <a:latin typeface="Calibri"/>
                <a:ea typeface="Calibri"/>
                <a:cs typeface="Calibri"/>
              </a:defRPr>
            </a:lvl9pPr>
          </a:lstStyle>
          <a:p>
            <a:pPr>
              <a:defRPr sz="2775" b="0">
                <a:solidFill>
                  <a:srgbClr val="333333"/>
                </a:solidFill>
                <a:latin typeface="Calibri"/>
                <a:ea typeface="Calibri"/>
                <a:cs typeface="Calibri"/>
              </a:defRPr>
            </a:pPr>
            <a:r>
              <a:rPr sz="2775" b="0">
                <a:solidFill>
                  <a:srgbClr val="333333"/>
                </a:solidFill>
                <a:latin typeface="Calibri"/>
                <a:ea typeface="Calibri"/>
                <a:cs typeface="Calibri"/>
              </a:rPr>
              <a:t>1. SetupLab.ps1</a:t>
            </a:r>
          </a:p>
          <a:p>
            <a:pPr>
              <a:defRPr sz="2775" b="0">
                <a:solidFill>
                  <a:srgbClr val="333333"/>
                </a:solidFill>
                <a:latin typeface="Calibri"/>
                <a:ea typeface="Calibri"/>
                <a:cs typeface="Calibri"/>
              </a:defRPr>
            </a:pPr>
            <a:r>
              <a:rPr sz="2775" b="0">
                <a:solidFill>
                  <a:srgbClr val="333333"/>
                </a:solidFill>
                <a:latin typeface="Calibri"/>
                <a:ea typeface="Calibri"/>
                <a:cs typeface="Calibri"/>
              </a:rPr>
              <a:t>2. Capacity calibration</a:t>
            </a:r>
          </a:p>
          <a:p>
            <a:pPr>
              <a:defRPr sz="2775" b="0">
                <a:solidFill>
                  <a:srgbClr val="333333"/>
                </a:solidFill>
                <a:latin typeface="Calibri"/>
                <a:ea typeface="Calibri"/>
                <a:cs typeface="Calibri"/>
              </a:defRPr>
            </a:pPr>
            <a:r>
              <a:rPr sz="2775" b="0">
                <a:solidFill>
                  <a:srgbClr val="333333"/>
                </a:solidFill>
                <a:latin typeface="Calibri"/>
                <a:ea typeface="Calibri"/>
                <a:cs typeface="Calibri"/>
              </a:rPr>
              <a:t>3. Model training</a:t>
            </a:r>
          </a:p>
          <a:p>
            <a:pPr>
              <a:defRPr sz="2775" b="0">
                <a:solidFill>
                  <a:srgbClr val="333333"/>
                </a:solidFill>
                <a:latin typeface="Calibri"/>
                <a:ea typeface="Calibri"/>
                <a:cs typeface="Calibri"/>
              </a:defRPr>
            </a:pPr>
            <a:r>
              <a:rPr sz="2775" b="0">
                <a:solidFill>
                  <a:srgbClr val="333333"/>
                </a:solidFill>
                <a:latin typeface="Calibri"/>
                <a:ea typeface="Calibri"/>
                <a:cs typeface="Calibri"/>
              </a:rPr>
              <a:t>4. RunDemo.ps1</a:t>
            </a:r>
          </a:p>
          <a:p>
            <a:pPr>
              <a:defRPr sz="2775" b="0">
                <a:solidFill>
                  <a:srgbClr val="333333"/>
                </a:solidFill>
                <a:latin typeface="Calibri"/>
                <a:ea typeface="Calibri"/>
                <a:cs typeface="Calibri"/>
              </a:defRPr>
            </a:pPr>
            <a:r>
              <a:rPr sz="2775" b="0">
                <a:solidFill>
                  <a:srgbClr val="333333"/>
                </a:solidFill>
                <a:latin typeface="Calibri"/>
                <a:ea typeface="Calibri"/>
                <a:cs typeface="Calibri"/>
              </a:rPr>
              <a:t>5. Matrix and fault checks</a:t>
            </a:r>
          </a:p>
          <a:p>
            <a:pPr>
              <a:defRPr sz="2775" b="0">
                <a:solidFill>
                  <a:srgbClr val="333333"/>
                </a:solidFill>
                <a:latin typeface="Calibri"/>
                <a:ea typeface="Calibri"/>
                <a:cs typeface="Calibri"/>
              </a:defRPr>
            </a:pPr>
            <a:r>
              <a:rPr sz="2775" b="0">
                <a:solidFill>
                  <a:srgbClr val="333333"/>
                </a:solidFill>
                <a:latin typeface="Calibri"/>
                <a:ea typeface="Calibri"/>
                <a:cs typeface="Calibri"/>
              </a:rPr>
              <a:t>6. Analysis and report export</a:t>
            </a:r>
          </a:p>
        </p:txBody>
      </p:sp>
      <p:sp>
        <p:nvSpPr>
          <p:cNvPr id="110" name="Rectangle 109">
            <a:extLst>
              <a:ext uri="{FF2B5EF4-FFF2-40B4-BE49-F238E27FC236}">
                <a16:creationId xmlns:a16="http://schemas.microsoft.com/office/drawing/2014/main" id="{F9A99B36-E2ED-4E4E-ABD1-5191C52B2FCB}"/>
              </a:ext>
            </a:extLst>
          </p:cNvPr>
          <p:cNvSpPr>
            <a:spLocks noGrp="1"/>
          </p:cNvSpPr>
          <p:nvPr/>
        </p:nvSpPr>
        <p:spPr>
          <a:xfrm>
            <a:off x="10477500" y="2095500"/>
            <a:ext cx="5743575" cy="619125"/>
          </a:xfrm>
          <a:prstGeom prst="rect">
            <a:avLst/>
          </a:prstGeom>
          <a:noFill/>
          <a:ln w="0">
            <a:noFill/>
          </a:ln>
        </p:spPr>
        <p:txBody>
          <a:bodyPr lIns="0" tIns="0" rIns="0" bIns="0"/>
          <a:lstStyle>
            <a:defPPr>
              <a:defRPr sz="3150" b="1">
                <a:solidFill>
                  <a:srgbClr val="A83033"/>
                </a:solidFill>
                <a:latin typeface="Calibri"/>
                <a:ea typeface="Calibri"/>
                <a:cs typeface="Calibri"/>
              </a:defRPr>
            </a:defPPr>
            <a:lvl1pPr>
              <a:defRPr sz="3150" b="1">
                <a:solidFill>
                  <a:srgbClr val="A83033"/>
                </a:solidFill>
                <a:latin typeface="Calibri"/>
                <a:ea typeface="Calibri"/>
                <a:cs typeface="Calibri"/>
              </a:defRPr>
            </a:lvl1pPr>
            <a:lvl2pPr>
              <a:defRPr sz="3150" b="1">
                <a:solidFill>
                  <a:srgbClr val="A83033"/>
                </a:solidFill>
                <a:latin typeface="Calibri"/>
                <a:ea typeface="Calibri"/>
                <a:cs typeface="Calibri"/>
              </a:defRPr>
            </a:lvl2pPr>
            <a:lvl3pPr>
              <a:defRPr sz="3150" b="1">
                <a:solidFill>
                  <a:srgbClr val="A83033"/>
                </a:solidFill>
                <a:latin typeface="Calibri"/>
                <a:ea typeface="Calibri"/>
                <a:cs typeface="Calibri"/>
              </a:defRPr>
            </a:lvl3pPr>
            <a:lvl4pPr>
              <a:defRPr sz="3150" b="1">
                <a:solidFill>
                  <a:srgbClr val="A83033"/>
                </a:solidFill>
                <a:latin typeface="Calibri"/>
                <a:ea typeface="Calibri"/>
                <a:cs typeface="Calibri"/>
              </a:defRPr>
            </a:lvl4pPr>
            <a:lvl5pPr>
              <a:defRPr sz="3150" b="1">
                <a:solidFill>
                  <a:srgbClr val="A83033"/>
                </a:solidFill>
                <a:latin typeface="Calibri"/>
                <a:ea typeface="Calibri"/>
                <a:cs typeface="Calibri"/>
              </a:defRPr>
            </a:lvl5pPr>
            <a:lvl6pPr>
              <a:defRPr sz="3150" b="1">
                <a:solidFill>
                  <a:srgbClr val="A83033"/>
                </a:solidFill>
                <a:latin typeface="Calibri"/>
                <a:ea typeface="Calibri"/>
                <a:cs typeface="Calibri"/>
              </a:defRPr>
            </a:lvl6pPr>
            <a:lvl7pPr>
              <a:defRPr sz="3150" b="1">
                <a:solidFill>
                  <a:srgbClr val="A83033"/>
                </a:solidFill>
                <a:latin typeface="Calibri"/>
                <a:ea typeface="Calibri"/>
                <a:cs typeface="Calibri"/>
              </a:defRPr>
            </a:lvl7pPr>
            <a:lvl8pPr>
              <a:defRPr sz="3150" b="1">
                <a:solidFill>
                  <a:srgbClr val="A83033"/>
                </a:solidFill>
                <a:latin typeface="Calibri"/>
                <a:ea typeface="Calibri"/>
                <a:cs typeface="Calibri"/>
              </a:defRPr>
            </a:lvl8pPr>
            <a:lvl9pPr>
              <a:defRPr sz="3150" b="1">
                <a:solidFill>
                  <a:srgbClr val="A83033"/>
                </a:solidFill>
                <a:latin typeface="Calibri"/>
                <a:ea typeface="Calibri"/>
                <a:cs typeface="Calibri"/>
              </a:defRPr>
            </a:lvl9pPr>
          </a:lstStyle>
          <a:p>
            <a:pPr>
              <a:defRPr sz="3150" b="1">
                <a:solidFill>
                  <a:srgbClr val="A83033"/>
                </a:solidFill>
                <a:latin typeface="Calibri"/>
                <a:ea typeface="Calibri"/>
                <a:cs typeface="Calibri"/>
              </a:defRPr>
            </a:pPr>
            <a:r>
              <a:rPr sz="3150" b="1">
                <a:solidFill>
                  <a:srgbClr val="A83033"/>
                </a:solidFill>
                <a:latin typeface="Calibri"/>
                <a:ea typeface="Calibri"/>
                <a:cs typeface="Calibri"/>
              </a:rPr>
              <a:t>Runtime settings</a:t>
            </a:r>
          </a:p>
        </p:txBody>
      </p:sp>
      <p:sp>
        <p:nvSpPr>
          <p:cNvPr id="111" name="Rectangle 110">
            <a:extLst>
              <a:ext uri="{FF2B5EF4-FFF2-40B4-BE49-F238E27FC236}">
                <a16:creationId xmlns:a16="http://schemas.microsoft.com/office/drawing/2014/main" id="{451E6B68-DCDA-4BBB-989B-C98ABF5DECDE}"/>
              </a:ext>
            </a:extLst>
          </p:cNvPr>
          <p:cNvSpPr>
            <a:spLocks noGrp="1"/>
          </p:cNvSpPr>
          <p:nvPr/>
        </p:nvSpPr>
        <p:spPr>
          <a:xfrm>
            <a:off x="10477500" y="3048000"/>
            <a:ext cx="5743575" cy="4143375"/>
          </a:xfrm>
          <a:prstGeom prst="rect">
            <a:avLst/>
          </a:prstGeom>
          <a:noFill/>
          <a:ln w="0">
            <a:noFill/>
          </a:ln>
        </p:spPr>
        <p:txBody>
          <a:bodyPr lIns="0" tIns="0" rIns="0" bIns="0"/>
          <a:lstStyle>
            <a:defPPr>
              <a:defRPr sz="2625" b="0">
                <a:solidFill>
                  <a:srgbClr val="333333"/>
                </a:solidFill>
                <a:latin typeface="Calibri"/>
                <a:ea typeface="Calibri"/>
                <a:cs typeface="Calibri"/>
              </a:defRPr>
            </a:defPPr>
            <a:lvl1pPr>
              <a:defRPr sz="2625" b="0">
                <a:solidFill>
                  <a:srgbClr val="333333"/>
                </a:solidFill>
                <a:latin typeface="Calibri"/>
                <a:ea typeface="Calibri"/>
                <a:cs typeface="Calibri"/>
              </a:defRPr>
            </a:lvl1pPr>
            <a:lvl2pPr>
              <a:defRPr sz="2625" b="0">
                <a:solidFill>
                  <a:srgbClr val="333333"/>
                </a:solidFill>
                <a:latin typeface="Calibri"/>
                <a:ea typeface="Calibri"/>
                <a:cs typeface="Calibri"/>
              </a:defRPr>
            </a:lvl2pPr>
            <a:lvl3pPr>
              <a:defRPr sz="2625" b="0">
                <a:solidFill>
                  <a:srgbClr val="333333"/>
                </a:solidFill>
                <a:latin typeface="Calibri"/>
                <a:ea typeface="Calibri"/>
                <a:cs typeface="Calibri"/>
              </a:defRPr>
            </a:lvl3pPr>
            <a:lvl4pPr>
              <a:defRPr sz="2625" b="0">
                <a:solidFill>
                  <a:srgbClr val="333333"/>
                </a:solidFill>
                <a:latin typeface="Calibri"/>
                <a:ea typeface="Calibri"/>
                <a:cs typeface="Calibri"/>
              </a:defRPr>
            </a:lvl4pPr>
            <a:lvl5pPr>
              <a:defRPr sz="2625" b="0">
                <a:solidFill>
                  <a:srgbClr val="333333"/>
                </a:solidFill>
                <a:latin typeface="Calibri"/>
                <a:ea typeface="Calibri"/>
                <a:cs typeface="Calibri"/>
              </a:defRPr>
            </a:lvl5pPr>
            <a:lvl6pPr>
              <a:defRPr sz="2625" b="0">
                <a:solidFill>
                  <a:srgbClr val="333333"/>
                </a:solidFill>
                <a:latin typeface="Calibri"/>
                <a:ea typeface="Calibri"/>
                <a:cs typeface="Calibri"/>
              </a:defRPr>
            </a:lvl6pPr>
            <a:lvl7pPr>
              <a:defRPr sz="2625" b="0">
                <a:solidFill>
                  <a:srgbClr val="333333"/>
                </a:solidFill>
                <a:latin typeface="Calibri"/>
                <a:ea typeface="Calibri"/>
                <a:cs typeface="Calibri"/>
              </a:defRPr>
            </a:lvl7pPr>
            <a:lvl8pPr>
              <a:defRPr sz="2625" b="0">
                <a:solidFill>
                  <a:srgbClr val="333333"/>
                </a:solidFill>
                <a:latin typeface="Calibri"/>
                <a:ea typeface="Calibri"/>
                <a:cs typeface="Calibri"/>
              </a:defRPr>
            </a:lvl8pPr>
            <a:lvl9pPr>
              <a:defRPr sz="2625" b="0">
                <a:solidFill>
                  <a:srgbClr val="333333"/>
                </a:solidFill>
                <a:latin typeface="Calibri"/>
                <a:ea typeface="Calibri"/>
                <a:cs typeface="Calibri"/>
              </a:defRPr>
            </a:lvl9pPr>
          </a:lstStyle>
          <a:p>
            <a:pPr>
              <a:defRPr sz="2625" b="0">
                <a:solidFill>
                  <a:srgbClr val="333333"/>
                </a:solidFill>
                <a:latin typeface="Calibri"/>
                <a:ea typeface="Calibri"/>
                <a:cs typeface="Calibri"/>
              </a:defRPr>
            </a:pPr>
            <a:r>
              <a:rPr sz="2625" b="0">
                <a:solidFill>
                  <a:srgbClr val="333333"/>
                </a:solidFill>
                <a:latin typeface="Calibri"/>
                <a:ea typeface="Calibri"/>
                <a:cs typeface="Calibri"/>
              </a:rPr>
              <a:t>Kubernetes v1.34.0</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2 CPUs, 2,300 MB Minikube</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250m CPU per worker</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60,000 PBKDF2 iterations</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5-second readiness delay</a:t>
            </a:r>
          </a:p>
          <a:p>
            <a:pPr>
              <a:defRPr sz="2625" b="0">
                <a:solidFill>
                  <a:srgbClr val="333333"/>
                </a:solidFill>
                <a:latin typeface="Calibri"/>
                <a:ea typeface="Calibri"/>
                <a:cs typeface="Calibri"/>
              </a:defRPr>
            </a:pPr>
            <a:r>
              <a:rPr sz="2625" b="0">
                <a:solidFill>
                  <a:srgbClr val="333333"/>
                </a:solidFill>
                <a:latin typeface="Calibri"/>
                <a:ea typeface="Calibri"/>
                <a:cs typeface="Calibri"/>
              </a:rPr>
              <a:t>30-second downscale stabilization</a:t>
            </a:r>
          </a:p>
        </p:txBody>
      </p:sp>
      <p:sp>
        <p:nvSpPr>
          <p:cNvPr id="112" name="Rectangle 111">
            <a:extLst>
              <a:ext uri="{FF2B5EF4-FFF2-40B4-BE49-F238E27FC236}">
                <a16:creationId xmlns:a16="http://schemas.microsoft.com/office/drawing/2014/main" id="{F9C6365A-C8F9-416E-9686-6444D6098954}"/>
              </a:ext>
            </a:extLst>
          </p:cNvPr>
          <p:cNvSpPr>
            <a:spLocks noGrp="1"/>
          </p:cNvSpPr>
          <p:nvPr/>
        </p:nvSpPr>
        <p:spPr>
          <a:xfrm>
            <a:off x="2238375" y="7620000"/>
            <a:ext cx="13982700" cy="714375"/>
          </a:xfrm>
          <a:prstGeom prst="rect">
            <a:avLst/>
          </a:prstGeom>
          <a:noFill/>
          <a:ln w="0">
            <a:noFill/>
          </a:ln>
        </p:spPr>
        <p:txBody>
          <a:bodyPr lIns="0" tIns="0" rIns="0" bIns="0"/>
          <a:lstStyle>
            <a:defPPr>
              <a:defRPr sz="2625" b="0">
                <a:solidFill>
                  <a:srgbClr val="A83033"/>
                </a:solidFill>
                <a:latin typeface="Calibri"/>
                <a:ea typeface="Calibri"/>
                <a:cs typeface="Calibri"/>
              </a:defRPr>
            </a:defPPr>
            <a:lvl1pPr>
              <a:defRPr sz="2625" b="0">
                <a:solidFill>
                  <a:srgbClr val="A83033"/>
                </a:solidFill>
                <a:latin typeface="Calibri"/>
                <a:ea typeface="Calibri"/>
                <a:cs typeface="Calibri"/>
              </a:defRPr>
            </a:lvl1pPr>
            <a:lvl2pPr>
              <a:defRPr sz="2625" b="0">
                <a:solidFill>
                  <a:srgbClr val="A83033"/>
                </a:solidFill>
                <a:latin typeface="Calibri"/>
                <a:ea typeface="Calibri"/>
                <a:cs typeface="Calibri"/>
              </a:defRPr>
            </a:lvl2pPr>
            <a:lvl3pPr>
              <a:defRPr sz="2625" b="0">
                <a:solidFill>
                  <a:srgbClr val="A83033"/>
                </a:solidFill>
                <a:latin typeface="Calibri"/>
                <a:ea typeface="Calibri"/>
                <a:cs typeface="Calibri"/>
              </a:defRPr>
            </a:lvl3pPr>
            <a:lvl4pPr>
              <a:defRPr sz="2625" b="0">
                <a:solidFill>
                  <a:srgbClr val="A83033"/>
                </a:solidFill>
                <a:latin typeface="Calibri"/>
                <a:ea typeface="Calibri"/>
                <a:cs typeface="Calibri"/>
              </a:defRPr>
            </a:lvl4pPr>
            <a:lvl5pPr>
              <a:defRPr sz="2625" b="0">
                <a:solidFill>
                  <a:srgbClr val="A83033"/>
                </a:solidFill>
                <a:latin typeface="Calibri"/>
                <a:ea typeface="Calibri"/>
                <a:cs typeface="Calibri"/>
              </a:defRPr>
            </a:lvl5pPr>
            <a:lvl6pPr>
              <a:defRPr sz="2625" b="0">
                <a:solidFill>
                  <a:srgbClr val="A83033"/>
                </a:solidFill>
                <a:latin typeface="Calibri"/>
                <a:ea typeface="Calibri"/>
                <a:cs typeface="Calibri"/>
              </a:defRPr>
            </a:lvl6pPr>
            <a:lvl7pPr>
              <a:defRPr sz="2625" b="0">
                <a:solidFill>
                  <a:srgbClr val="A83033"/>
                </a:solidFill>
                <a:latin typeface="Calibri"/>
                <a:ea typeface="Calibri"/>
                <a:cs typeface="Calibri"/>
              </a:defRPr>
            </a:lvl7pPr>
            <a:lvl8pPr>
              <a:defRPr sz="2625" b="0">
                <a:solidFill>
                  <a:srgbClr val="A83033"/>
                </a:solidFill>
                <a:latin typeface="Calibri"/>
                <a:ea typeface="Calibri"/>
                <a:cs typeface="Calibri"/>
              </a:defRPr>
            </a:lvl8pPr>
            <a:lvl9pPr>
              <a:defRPr sz="2625" b="0">
                <a:solidFill>
                  <a:srgbClr val="A83033"/>
                </a:solidFill>
                <a:latin typeface="Calibri"/>
                <a:ea typeface="Calibri"/>
                <a:cs typeface="Calibri"/>
              </a:defRPr>
            </a:lvl9pPr>
          </a:lstStyle>
          <a:p>
            <a:pPr>
              <a:defRPr sz="2625" b="0">
                <a:solidFill>
                  <a:srgbClr val="A83033"/>
                </a:solidFill>
                <a:latin typeface="Calibri"/>
                <a:ea typeface="Calibri"/>
                <a:cs typeface="Calibri"/>
              </a:defRPr>
            </a:pPr>
            <a:r>
              <a:rPr sz="2625" b="0">
                <a:solidFill>
                  <a:srgbClr val="A83033"/>
                </a:solidFill>
                <a:latin typeface="Calibri"/>
                <a:ea typeface="Calibri"/>
                <a:cs typeface="Calibri"/>
              </a:rPr>
              <a:t>One local node limits total capacity. Four application replicas do not mean four cloud VMs.</a:t>
            </a:r>
          </a:p>
        </p:txBody>
      </p:sp>
      <p:sp>
        <p:nvSpPr>
          <p:cNvPr id="113" name="Rectangle 112">
            <a:extLst>
              <a:ext uri="{FF2B5EF4-FFF2-40B4-BE49-F238E27FC236}">
                <a16:creationId xmlns:a16="http://schemas.microsoft.com/office/drawing/2014/main" id="{37045DEA-03F2-4EF0-82C9-71038781A426}"/>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23 / 24</a:t>
            </a:r>
          </a:p>
        </p:txBody>
      </p:sp>
    </p:spTree>
    <p:extLst>
      <p:ext uri="{BB962C8B-B14F-4D97-AF65-F5344CB8AC3E}">
        <p14:creationId xmlns:p14="http://schemas.microsoft.com/office/powerpoint/2010/main" val="1518820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F36CD705-723D-4FDC-AB3A-E847EB340FF5}"/>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Appendix: the unpromoted model candidate</a:t>
            </a:r>
          </a:p>
        </p:txBody>
      </p:sp>
      <p:graphicFrame>
        <p:nvGraphicFramePr>
          <p:cNvPr id="108" name="Table 107">
            <a:extLst>
              <a:ext uri="{FF2B5EF4-FFF2-40B4-BE49-F238E27FC236}">
                <a16:creationId xmlns:a16="http://schemas.microsoft.com/office/drawing/2014/main" id="{4BC464AD-AF0C-4A38-A6DE-BFF58BF000D1}"/>
              </a:ext>
            </a:extLst>
          </p:cNvPr>
          <p:cNvGraphicFramePr/>
          <p:nvPr/>
        </p:nvGraphicFramePr>
        <p:xfrm>
          <a:off x="2238375" y="2190750"/>
          <a:ext cx="13982700" cy="4095750"/>
        </p:xfrm>
        <a:graphic>
          <a:graphicData uri="http://schemas.openxmlformats.org/drawingml/2006/table">
            <a:tbl>
              <a:tblPr/>
              <a:tblGrid>
                <a:gridCol w="6191250">
                  <a:extLst>
                    <a:ext uri="{9D8B030D-6E8A-4147-A177-3AD203B41FA5}">
                      <a16:colId xmlns:a16="http://schemas.microsoft.com/office/drawing/2014/main" val="20000"/>
                    </a:ext>
                  </a:extLst>
                </a:gridCol>
                <a:gridCol w="7791450">
                  <a:extLst>
                    <a:ext uri="{9D8B030D-6E8A-4147-A177-3AD203B41FA5}">
                      <a16:colId xmlns:a16="http://schemas.microsoft.com/office/drawing/2014/main" val="20001"/>
                    </a:ext>
                  </a:extLst>
                </a:gridCol>
              </a:tblGrid>
              <a:tr h="819150">
                <a:tc>
                  <a:txBody>
                    <a:bodyPr/>
                    <a:lstStyle/>
                    <a:p>
                      <a:r>
                        <a:rPr sz="2550" b="1">
                          <a:solidFill>
                            <a:srgbClr val="FFFFFF"/>
                          </a:solidFill>
                          <a:latin typeface="Calibri"/>
                          <a:ea typeface="Calibri"/>
                          <a:cs typeface="Calibri"/>
                        </a:rPr>
                        <a:t>Recorded-data candidate</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Current status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19150">
                <a:tc>
                  <a:txBody>
                    <a:bodyPr/>
                    <a:lstStyle/>
                    <a:p>
                      <a:r>
                        <a:rPr sz="2550" b="0">
                          <a:solidFill>
                            <a:srgbClr val="333333"/>
                          </a:solidFill>
                          <a:latin typeface="Calibri"/>
                          <a:ea typeface="Calibri"/>
                          <a:cs typeface="Calibri"/>
                        </a:rPr>
                        <a:t>Train / validation / test rows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32 / 16 / 16, separate replay seeds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19150">
                <a:tc>
                  <a:txBody>
                    <a:bodyPr/>
                    <a:lstStyle/>
                    <a:p>
                      <a:r>
                        <a:rPr sz="2550" b="0">
                          <a:solidFill>
                            <a:srgbClr val="333333"/>
                          </a:solidFill>
                          <a:latin typeface="Calibri"/>
                          <a:ea typeface="Calibri"/>
                          <a:cs typeface="Calibri"/>
                        </a:rPr>
                        <a:t>Candidate test MAE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4.96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819150">
                <a:tc>
                  <a:txBody>
                    <a:bodyPr/>
                    <a:lstStyle/>
                    <a:p>
                      <a:r>
                        <a:rPr sz="2550" b="0">
                          <a:solidFill>
                            <a:srgbClr val="333333"/>
                          </a:solidFill>
                          <a:latin typeface="Calibri"/>
                          <a:ea typeface="Calibri"/>
                          <a:cs typeface="Calibri"/>
                        </a:rPr>
                        <a:t>Primary model / persistence MAE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11.06 / 10.65 RPS on that small holdout</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819150">
                <a:tc>
                  <a:txBody>
                    <a:bodyPr/>
                    <a:lstStyle/>
                    <a:p>
                      <a:r>
                        <a:rPr sz="2550" b="0">
                          <a:solidFill>
                            <a:srgbClr val="333333"/>
                          </a:solidFill>
                          <a:latin typeface="Calibri"/>
                          <a:ea typeface="Calibri"/>
                          <a:cs typeface="Calibri"/>
                        </a:rPr>
                        <a:t>Promotion decision</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Exploratory only, default model unchanged</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9" name="Rectangle 108">
            <a:extLst>
              <a:ext uri="{FF2B5EF4-FFF2-40B4-BE49-F238E27FC236}">
                <a16:creationId xmlns:a16="http://schemas.microsoft.com/office/drawing/2014/main" id="{B3E5E2AE-C88E-448F-9969-9F2096EE7423}"/>
              </a:ext>
            </a:extLst>
          </p:cNvPr>
          <p:cNvSpPr>
            <a:spLocks noGrp="1"/>
          </p:cNvSpPr>
          <p:nvPr/>
        </p:nvSpPr>
        <p:spPr>
          <a:xfrm>
            <a:off x="2238375" y="6953250"/>
            <a:ext cx="13982700" cy="1285875"/>
          </a:xfrm>
          <a:prstGeom prst="rect">
            <a:avLst/>
          </a:prstGeom>
          <a:noFill/>
          <a:ln w="0">
            <a:noFill/>
          </a:ln>
        </p:spPr>
        <p:txBody>
          <a:bodyPr lIns="0" tIns="0" rIns="0" bIns="0"/>
          <a:lstStyle>
            <a:defPPr>
              <a:defRPr sz="2925" b="1">
                <a:solidFill>
                  <a:srgbClr val="A83033"/>
                </a:solidFill>
                <a:latin typeface="Calibri"/>
                <a:ea typeface="Calibri"/>
                <a:cs typeface="Calibri"/>
              </a:defRPr>
            </a:defPPr>
            <a:lvl1pPr>
              <a:defRPr sz="2925" b="1">
                <a:solidFill>
                  <a:srgbClr val="A83033"/>
                </a:solidFill>
                <a:latin typeface="Calibri"/>
                <a:ea typeface="Calibri"/>
                <a:cs typeface="Calibri"/>
              </a:defRPr>
            </a:lvl1pPr>
            <a:lvl2pPr>
              <a:defRPr sz="2925" b="1">
                <a:solidFill>
                  <a:srgbClr val="A83033"/>
                </a:solidFill>
                <a:latin typeface="Calibri"/>
                <a:ea typeface="Calibri"/>
                <a:cs typeface="Calibri"/>
              </a:defRPr>
            </a:lvl2pPr>
            <a:lvl3pPr>
              <a:defRPr sz="2925" b="1">
                <a:solidFill>
                  <a:srgbClr val="A83033"/>
                </a:solidFill>
                <a:latin typeface="Calibri"/>
                <a:ea typeface="Calibri"/>
                <a:cs typeface="Calibri"/>
              </a:defRPr>
            </a:lvl3pPr>
            <a:lvl4pPr>
              <a:defRPr sz="2925" b="1">
                <a:solidFill>
                  <a:srgbClr val="A83033"/>
                </a:solidFill>
                <a:latin typeface="Calibri"/>
                <a:ea typeface="Calibri"/>
                <a:cs typeface="Calibri"/>
              </a:defRPr>
            </a:lvl4pPr>
            <a:lvl5pPr>
              <a:defRPr sz="2925" b="1">
                <a:solidFill>
                  <a:srgbClr val="A83033"/>
                </a:solidFill>
                <a:latin typeface="Calibri"/>
                <a:ea typeface="Calibri"/>
                <a:cs typeface="Calibri"/>
              </a:defRPr>
            </a:lvl5pPr>
            <a:lvl6pPr>
              <a:defRPr sz="2925" b="1">
                <a:solidFill>
                  <a:srgbClr val="A83033"/>
                </a:solidFill>
                <a:latin typeface="Calibri"/>
                <a:ea typeface="Calibri"/>
                <a:cs typeface="Calibri"/>
              </a:defRPr>
            </a:lvl6pPr>
            <a:lvl7pPr>
              <a:defRPr sz="2925" b="1">
                <a:solidFill>
                  <a:srgbClr val="A83033"/>
                </a:solidFill>
                <a:latin typeface="Calibri"/>
                <a:ea typeface="Calibri"/>
                <a:cs typeface="Calibri"/>
              </a:defRPr>
            </a:lvl7pPr>
            <a:lvl8pPr>
              <a:defRPr sz="2925" b="1">
                <a:solidFill>
                  <a:srgbClr val="A83033"/>
                </a:solidFill>
                <a:latin typeface="Calibri"/>
                <a:ea typeface="Calibri"/>
                <a:cs typeface="Calibri"/>
              </a:defRPr>
            </a:lvl8pPr>
            <a:lvl9pPr>
              <a:defRPr sz="2925" b="1">
                <a:solidFill>
                  <a:srgbClr val="A83033"/>
                </a:solidFill>
                <a:latin typeface="Calibri"/>
                <a:ea typeface="Calibri"/>
                <a:cs typeface="Calibri"/>
              </a:defRPr>
            </a:lvl9pPr>
          </a:lstStyle>
          <a:p>
            <a:pPr>
              <a:defRPr sz="2925" b="1">
                <a:solidFill>
                  <a:srgbClr val="A83033"/>
                </a:solidFill>
                <a:latin typeface="Calibri"/>
                <a:ea typeface="Calibri"/>
                <a:cs typeface="Calibri"/>
              </a:defRPr>
            </a:pPr>
            <a:r>
              <a:rPr sz="2925" b="1">
                <a:solidFill>
                  <a:srgbClr val="A83033"/>
                </a:solidFill>
                <a:latin typeface="Calibri"/>
                <a:ea typeface="Calibri"/>
                <a:cs typeface="Calibri"/>
              </a:rPr>
              <a:t>The small replay holdout is not production validation. A model change requires a fresh matched controller suite.</a:t>
            </a:r>
          </a:p>
        </p:txBody>
      </p:sp>
      <p:sp>
        <p:nvSpPr>
          <p:cNvPr id="110" name="Rectangle 109">
            <a:extLst>
              <a:ext uri="{FF2B5EF4-FFF2-40B4-BE49-F238E27FC236}">
                <a16:creationId xmlns:a16="http://schemas.microsoft.com/office/drawing/2014/main" id="{94A147FE-EF3A-4E49-B409-0F960E8EC7A9}"/>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24 / 24</a:t>
            </a:r>
          </a:p>
        </p:txBody>
      </p:sp>
    </p:spTree>
    <p:extLst>
      <p:ext uri="{BB962C8B-B14F-4D97-AF65-F5344CB8AC3E}">
        <p14:creationId xmlns:p14="http://schemas.microsoft.com/office/powerpoint/2010/main" val="15188204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4116</Words>
  <Application>Microsoft Office PowerPoint</Application>
  <DocSecurity>0</DocSecurity>
  <PresentationFormat>Custom</PresentationFormat>
  <Paragraphs>625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Marcellus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parth d</cp:lastModifiedBy>
  <cp:revision>1</cp:revision>
  <dcterms:created xsi:type="dcterms:W3CDTF">2026-10-24T23:35:29Z</dcterms:created>
  <dcterms:modified xsi:type="dcterms:W3CDTF">2026-10-24T23:38:15Z</dcterms:modified>
</cp:coreProperties>
</file>